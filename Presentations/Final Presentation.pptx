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83" r:id="rId3"/>
    <p:sldId id="295" r:id="rId4"/>
    <p:sldId id="284" r:id="rId5"/>
    <p:sldId id="288" r:id="rId6"/>
    <p:sldId id="275" r:id="rId7"/>
    <p:sldId id="294" r:id="rId8"/>
    <p:sldId id="297" r:id="rId9"/>
    <p:sldId id="271" r:id="rId10"/>
    <p:sldId id="296" r:id="rId11"/>
    <p:sldId id="282" r:id="rId12"/>
    <p:sldId id="289" r:id="rId13"/>
    <p:sldId id="298" r:id="rId14"/>
    <p:sldId id="286" r:id="rId15"/>
    <p:sldId id="293" r:id="rId16"/>
    <p:sldId id="278" r:id="rId17"/>
    <p:sldId id="285" r:id="rId18"/>
    <p:sldId id="280" r:id="rId19"/>
    <p:sldId id="290" r:id="rId20"/>
    <p:sldId id="291" r:id="rId21"/>
    <p:sldId id="292" r:id="rId22"/>
    <p:sldId id="29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00"/>
    <a:srgbClr val="81751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190"/>
    <p:restoredTop sz="90241"/>
  </p:normalViewPr>
  <p:slideViewPr>
    <p:cSldViewPr snapToGrid="0">
      <p:cViewPr>
        <p:scale>
          <a:sx n="95" d="100"/>
          <a:sy n="95" d="100"/>
        </p:scale>
        <p:origin x="776" y="5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F8A4D1-3F5A-5547-B719-C9D6F7C8EE95}" type="datetimeFigureOut">
              <a:rPr lang="en-US" smtClean="0"/>
              <a:t>7/12/26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669065-5DB5-C948-B206-D99551BEB1E8}" type="slidenum">
              <a:rPr lang="en-US" smtClean="0"/>
              <a:t>‹#›</a:t>
            </a:fld>
            <a:endParaRPr lang="en-US"/>
          </a:p>
        </p:txBody>
      </p:sp>
    </p:spTree>
    <p:extLst>
      <p:ext uri="{BB962C8B-B14F-4D97-AF65-F5344CB8AC3E}">
        <p14:creationId xmlns:p14="http://schemas.microsoft.com/office/powerpoint/2010/main" val="1759695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TFs – act on promoter region -- motifs  within promoted region </a:t>
            </a:r>
          </a:p>
        </p:txBody>
      </p:sp>
      <p:sp>
        <p:nvSpPr>
          <p:cNvPr id="4" name="Slide Number Placeholder 3"/>
          <p:cNvSpPr>
            <a:spLocks noGrp="1"/>
          </p:cNvSpPr>
          <p:nvPr>
            <p:ph type="sldNum" sz="quarter" idx="5"/>
          </p:nvPr>
        </p:nvSpPr>
        <p:spPr/>
        <p:txBody>
          <a:bodyPr/>
          <a:lstStyle/>
          <a:p>
            <a:fld id="{4D669065-5DB5-C948-B206-D99551BEB1E8}" type="slidenum">
              <a:rPr lang="en-US" smtClean="0"/>
              <a:t>2</a:t>
            </a:fld>
            <a:endParaRPr lang="en-US"/>
          </a:p>
        </p:txBody>
      </p:sp>
    </p:spTree>
    <p:extLst>
      <p:ext uri="{BB962C8B-B14F-4D97-AF65-F5344CB8AC3E}">
        <p14:creationId xmlns:p14="http://schemas.microsoft.com/office/powerpoint/2010/main" val="32422582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669065-5DB5-C948-B206-D99551BEB1E8}" type="slidenum">
              <a:rPr lang="en-US" smtClean="0"/>
              <a:t>5</a:t>
            </a:fld>
            <a:endParaRPr lang="en-US"/>
          </a:p>
        </p:txBody>
      </p:sp>
    </p:spTree>
    <p:extLst>
      <p:ext uri="{BB962C8B-B14F-4D97-AF65-F5344CB8AC3E}">
        <p14:creationId xmlns:p14="http://schemas.microsoft.com/office/powerpoint/2010/main" val="1259079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br>
              <a:rPr lang="en-US" dirty="0"/>
            </a:br>
            <a:r>
              <a:rPr lang="en-US" dirty="0"/>
              <a:t>BIOLOGISTS IDENTIFY MOTIFS BY JUST EYEBALLING SEQUENCE LOGOS </a:t>
            </a:r>
          </a:p>
          <a:p>
            <a:endParaRPr lang="en-US" dirty="0"/>
          </a:p>
          <a:p>
            <a:r>
              <a:rPr lang="en-US" dirty="0"/>
              <a:t>https://</a:t>
            </a:r>
            <a:r>
              <a:rPr lang="en-US" dirty="0" err="1"/>
              <a:t>www.researchgate.net</a:t>
            </a:r>
            <a:r>
              <a:rPr lang="en-US" dirty="0"/>
              <a:t>/publication/376599076_The_multifarious_MerR_family_of_transcriptional_regulators</a:t>
            </a:r>
            <a:br>
              <a:rPr lang="en-US" dirty="0"/>
            </a:br>
            <a:r>
              <a:rPr lang="en-US" dirty="0"/>
              <a:t>https://</a:t>
            </a:r>
            <a:r>
              <a:rPr lang="en-US" dirty="0" err="1"/>
              <a:t>www.researchgate.net</a:t>
            </a:r>
            <a:r>
              <a:rPr lang="en-US" dirty="0"/>
              <a:t>/figure/Mechanism-of-transcription-activation-by-typical-MerR-regulators-In-the-apo-form-the_fig1_376599076</a:t>
            </a:r>
          </a:p>
        </p:txBody>
      </p:sp>
      <p:sp>
        <p:nvSpPr>
          <p:cNvPr id="4" name="Slide Number Placeholder 3"/>
          <p:cNvSpPr>
            <a:spLocks noGrp="1"/>
          </p:cNvSpPr>
          <p:nvPr>
            <p:ph type="sldNum" sz="quarter" idx="5"/>
          </p:nvPr>
        </p:nvSpPr>
        <p:spPr/>
        <p:txBody>
          <a:bodyPr/>
          <a:lstStyle/>
          <a:p>
            <a:fld id="{4D669065-5DB5-C948-B206-D99551BEB1E8}" type="slidenum">
              <a:rPr lang="en-US" smtClean="0"/>
              <a:t>6</a:t>
            </a:fld>
            <a:endParaRPr lang="en-US"/>
          </a:p>
        </p:txBody>
      </p:sp>
    </p:spTree>
    <p:extLst>
      <p:ext uri="{BB962C8B-B14F-4D97-AF65-F5344CB8AC3E}">
        <p14:creationId xmlns:p14="http://schemas.microsoft.com/office/powerpoint/2010/main" val="3499599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https://</a:t>
            </a:r>
            <a:r>
              <a:rPr lang="en-US" dirty="0" err="1"/>
              <a:t>www.microbiologyresearch.org</a:t>
            </a:r>
            <a:r>
              <a:rPr lang="en-US" dirty="0"/>
              <a:t>/content/journal/micro/10.1099/mic.0.27315-0</a:t>
            </a:r>
          </a:p>
        </p:txBody>
      </p:sp>
      <p:sp>
        <p:nvSpPr>
          <p:cNvPr id="4" name="Slide Number Placeholder 3"/>
          <p:cNvSpPr>
            <a:spLocks noGrp="1"/>
          </p:cNvSpPr>
          <p:nvPr>
            <p:ph type="sldNum" sz="quarter" idx="5"/>
          </p:nvPr>
        </p:nvSpPr>
        <p:spPr/>
        <p:txBody>
          <a:bodyPr/>
          <a:lstStyle/>
          <a:p>
            <a:fld id="{4D669065-5DB5-C948-B206-D99551BEB1E8}" type="slidenum">
              <a:rPr lang="en-US" smtClean="0"/>
              <a:t>7</a:t>
            </a:fld>
            <a:endParaRPr lang="en-US"/>
          </a:p>
        </p:txBody>
      </p:sp>
    </p:spTree>
    <p:extLst>
      <p:ext uri="{BB962C8B-B14F-4D97-AF65-F5344CB8AC3E}">
        <p14:creationId xmlns:p14="http://schemas.microsoft.com/office/powerpoint/2010/main" val="2076035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669065-5DB5-C948-B206-D99551BEB1E8}" type="slidenum">
              <a:rPr lang="en-US" smtClean="0"/>
              <a:t>12</a:t>
            </a:fld>
            <a:endParaRPr lang="en-US"/>
          </a:p>
        </p:txBody>
      </p:sp>
    </p:spTree>
    <p:extLst>
      <p:ext uri="{BB962C8B-B14F-4D97-AF65-F5344CB8AC3E}">
        <p14:creationId xmlns:p14="http://schemas.microsoft.com/office/powerpoint/2010/main" val="2245646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Franklin Gothic Medium" panose="020B0603020102020204" pitchFamily="34" charset="0"/>
              </a:rPr>
              <a:t>Youden’s J: Sensitivity + Specificity - 1 = TPR  + TNR – 1</a:t>
            </a:r>
          </a:p>
          <a:p>
            <a:r>
              <a:rPr lang="en-US" sz="1200" dirty="0">
                <a:latin typeface="Franklin Gothic Medium" panose="020B0603020102020204" pitchFamily="34" charset="0"/>
              </a:rPr>
              <a:t>F1 – harmonic mean of precision and recall.</a:t>
            </a:r>
          </a:p>
          <a:p>
            <a:endParaRPr lang="en-US" dirty="0"/>
          </a:p>
        </p:txBody>
      </p:sp>
      <p:sp>
        <p:nvSpPr>
          <p:cNvPr id="4" name="Slide Number Placeholder 3"/>
          <p:cNvSpPr>
            <a:spLocks noGrp="1"/>
          </p:cNvSpPr>
          <p:nvPr>
            <p:ph type="sldNum" sz="quarter" idx="5"/>
          </p:nvPr>
        </p:nvSpPr>
        <p:spPr/>
        <p:txBody>
          <a:bodyPr/>
          <a:lstStyle/>
          <a:p>
            <a:fld id="{4D669065-5DB5-C948-B206-D99551BEB1E8}" type="slidenum">
              <a:rPr lang="en-US" smtClean="0"/>
              <a:t>14</a:t>
            </a:fld>
            <a:endParaRPr lang="en-US"/>
          </a:p>
        </p:txBody>
      </p:sp>
    </p:spTree>
    <p:extLst>
      <p:ext uri="{BB962C8B-B14F-4D97-AF65-F5344CB8AC3E}">
        <p14:creationId xmlns:p14="http://schemas.microsoft.com/office/powerpoint/2010/main" val="7244428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search keeps iterating and expanding diagonals, lower threshold means more accepted candidates</a:t>
            </a:r>
          </a:p>
          <a:p>
            <a:r>
              <a:rPr lang="en-US" dirty="0"/>
              <a:t>Lower threshold also means fuzzier or ambiguous candidates are likelier to be accepted, leading to imperfect DR IR patterns – biological reality </a:t>
            </a:r>
          </a:p>
        </p:txBody>
      </p:sp>
      <p:sp>
        <p:nvSpPr>
          <p:cNvPr id="4" name="Slide Number Placeholder 3"/>
          <p:cNvSpPr>
            <a:spLocks noGrp="1"/>
          </p:cNvSpPr>
          <p:nvPr>
            <p:ph type="sldNum" sz="quarter" idx="5"/>
          </p:nvPr>
        </p:nvSpPr>
        <p:spPr/>
        <p:txBody>
          <a:bodyPr/>
          <a:lstStyle/>
          <a:p>
            <a:fld id="{4D669065-5DB5-C948-B206-D99551BEB1E8}" type="slidenum">
              <a:rPr lang="en-US" smtClean="0"/>
              <a:t>15</a:t>
            </a:fld>
            <a:endParaRPr lang="en-US"/>
          </a:p>
        </p:txBody>
      </p:sp>
    </p:spTree>
    <p:extLst>
      <p:ext uri="{BB962C8B-B14F-4D97-AF65-F5344CB8AC3E}">
        <p14:creationId xmlns:p14="http://schemas.microsoft.com/office/powerpoint/2010/main" val="98774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dirty="0">
                <a:latin typeface="Forma DJR Banner" pitchFamily="2" charset="77"/>
              </a:rPr>
              <a:t>Score: 1– bootstrap p-value</a:t>
            </a:r>
          </a:p>
          <a:p>
            <a:r>
              <a:rPr lang="en-US" sz="1200" u="sng" dirty="0">
                <a:latin typeface="Forma DJR Banner" pitchFamily="2" charset="77"/>
              </a:rPr>
              <a:t>ROC:</a:t>
            </a:r>
            <a:r>
              <a:rPr lang="en-US" sz="1200" dirty="0">
                <a:latin typeface="Forma DJR Banner" pitchFamily="2" charset="77"/>
              </a:rPr>
              <a:t> true positive  &amp; true negatives</a:t>
            </a:r>
          </a:p>
          <a:p>
            <a:r>
              <a:rPr lang="en-US" sz="1200" u="sng" dirty="0">
                <a:latin typeface="Forma DJR Banner" pitchFamily="2" charset="77"/>
              </a:rPr>
              <a:t>PR:</a:t>
            </a:r>
            <a:r>
              <a:rPr lang="en-US" sz="1200" dirty="0">
                <a:latin typeface="Forma DJR Banner" pitchFamily="2" charset="77"/>
              </a:rPr>
              <a:t> reward true positives but not true negatives, IR better </a:t>
            </a:r>
          </a:p>
          <a:p>
            <a:r>
              <a:rPr lang="en-US" sz="1200" dirty="0">
                <a:latin typeface="Forma DJR Banner" pitchFamily="2" charset="77"/>
              </a:rPr>
              <a:t>Why: Imbalanced classes</a:t>
            </a:r>
          </a:p>
          <a:p>
            <a:endParaRPr lang="en-US" dirty="0"/>
          </a:p>
        </p:txBody>
      </p:sp>
      <p:sp>
        <p:nvSpPr>
          <p:cNvPr id="4" name="Slide Number Placeholder 3"/>
          <p:cNvSpPr>
            <a:spLocks noGrp="1"/>
          </p:cNvSpPr>
          <p:nvPr>
            <p:ph type="sldNum" sz="quarter" idx="5"/>
          </p:nvPr>
        </p:nvSpPr>
        <p:spPr/>
        <p:txBody>
          <a:bodyPr/>
          <a:lstStyle/>
          <a:p>
            <a:fld id="{4D669065-5DB5-C948-B206-D99551BEB1E8}" type="slidenum">
              <a:rPr lang="en-US" smtClean="0"/>
              <a:t>16</a:t>
            </a:fld>
            <a:endParaRPr lang="en-US"/>
          </a:p>
        </p:txBody>
      </p:sp>
    </p:spTree>
    <p:extLst>
      <p:ext uri="{BB962C8B-B14F-4D97-AF65-F5344CB8AC3E}">
        <p14:creationId xmlns:p14="http://schemas.microsoft.com/office/powerpoint/2010/main" val="27188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Across both data sets -- </a:t>
            </a:r>
          </a:p>
        </p:txBody>
      </p:sp>
      <p:sp>
        <p:nvSpPr>
          <p:cNvPr id="4" name="Slide Number Placeholder 3"/>
          <p:cNvSpPr>
            <a:spLocks noGrp="1"/>
          </p:cNvSpPr>
          <p:nvPr>
            <p:ph type="sldNum" sz="quarter" idx="5"/>
          </p:nvPr>
        </p:nvSpPr>
        <p:spPr/>
        <p:txBody>
          <a:bodyPr/>
          <a:lstStyle/>
          <a:p>
            <a:fld id="{4D669065-5DB5-C948-B206-D99551BEB1E8}" type="slidenum">
              <a:rPr lang="en-US" smtClean="0"/>
              <a:t>18</a:t>
            </a:fld>
            <a:endParaRPr lang="en-US"/>
          </a:p>
        </p:txBody>
      </p:sp>
    </p:spTree>
    <p:extLst>
      <p:ext uri="{BB962C8B-B14F-4D97-AF65-F5344CB8AC3E}">
        <p14:creationId xmlns:p14="http://schemas.microsoft.com/office/powerpoint/2010/main" val="1508490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With a single sequence.  For this specific species, not clear what is signal vs noise as there’s only one sequence, can’t filter out flukes. The reliability and robustness is dubious as it’s not clear if  this signal is a fluke or has legitimate noise across many sequences. </a:t>
            </a:r>
          </a:p>
          <a:p>
            <a:endParaRPr lang="en-US" dirty="0"/>
          </a:p>
          <a:p>
            <a:r>
              <a:rPr lang="en-US" dirty="0"/>
              <a:t>Poly- N --- winnowing out what’s a real vs fake pattern. </a:t>
            </a:r>
          </a:p>
        </p:txBody>
      </p:sp>
      <p:sp>
        <p:nvSpPr>
          <p:cNvPr id="4" name="Slide Number Placeholder 3"/>
          <p:cNvSpPr>
            <a:spLocks noGrp="1"/>
          </p:cNvSpPr>
          <p:nvPr>
            <p:ph type="sldNum" sz="quarter" idx="5"/>
          </p:nvPr>
        </p:nvSpPr>
        <p:spPr/>
        <p:txBody>
          <a:bodyPr/>
          <a:lstStyle/>
          <a:p>
            <a:fld id="{4D669065-5DB5-C948-B206-D99551BEB1E8}" type="slidenum">
              <a:rPr lang="en-US" smtClean="0"/>
              <a:t>20</a:t>
            </a:fld>
            <a:endParaRPr lang="en-US"/>
          </a:p>
        </p:txBody>
      </p:sp>
    </p:spTree>
    <p:extLst>
      <p:ext uri="{BB962C8B-B14F-4D97-AF65-F5344CB8AC3E}">
        <p14:creationId xmlns:p14="http://schemas.microsoft.com/office/powerpoint/2010/main" val="901626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TF_LexA_P0A7C2 -</a:t>
            </a:r>
            <a:r>
              <a:rPr lang="en-US" sz="1200" b="1" i="0" kern="1200" dirty="0">
                <a:solidFill>
                  <a:schemeClr val="tx1"/>
                </a:solidFill>
                <a:effectLst/>
                <a:latin typeface="+mn-lt"/>
                <a:ea typeface="+mn-ea"/>
                <a:cs typeface="+mn-cs"/>
              </a:rPr>
              <a:t>Escherichia_coli_str__K-12_substr__MG1655</a:t>
            </a:r>
            <a:endParaRPr lang="en-US" sz="1200" b="0" i="0" kern="1200" dirty="0">
              <a:solidFill>
                <a:schemeClr val="tx1"/>
              </a:solidFill>
              <a:effectLst/>
              <a:latin typeface="+mn-lt"/>
              <a:ea typeface="+mn-ea"/>
              <a:cs typeface="+mn-cs"/>
            </a:endParaRPr>
          </a:p>
          <a:p>
            <a:br>
              <a:rPr lang="en-US" dirty="0"/>
            </a:br>
            <a:endParaRPr lang="en-US" dirty="0"/>
          </a:p>
        </p:txBody>
      </p:sp>
      <p:sp>
        <p:nvSpPr>
          <p:cNvPr id="4" name="Slide Number Placeholder 3"/>
          <p:cNvSpPr>
            <a:spLocks noGrp="1"/>
          </p:cNvSpPr>
          <p:nvPr>
            <p:ph type="sldNum" sz="quarter" idx="5"/>
          </p:nvPr>
        </p:nvSpPr>
        <p:spPr/>
        <p:txBody>
          <a:bodyPr/>
          <a:lstStyle/>
          <a:p>
            <a:fld id="{4D669065-5DB5-C948-B206-D99551BEB1E8}" type="slidenum">
              <a:rPr lang="en-US" smtClean="0"/>
              <a:t>21</a:t>
            </a:fld>
            <a:endParaRPr lang="en-US"/>
          </a:p>
        </p:txBody>
      </p:sp>
    </p:spTree>
    <p:extLst>
      <p:ext uri="{BB962C8B-B14F-4D97-AF65-F5344CB8AC3E}">
        <p14:creationId xmlns:p14="http://schemas.microsoft.com/office/powerpoint/2010/main" val="22051596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481DD-47CB-2E52-D8AD-FE345A52D3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98FF6-0325-0507-2C13-8DBF0C216D7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D7285D0-4A8E-3896-82F0-CDA8703C1F3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28F200-A7DE-DC5D-F6CB-22401CFE3120}"/>
              </a:ext>
            </a:extLst>
          </p:cNvPr>
          <p:cNvSpPr>
            <a:spLocks noGrp="1"/>
          </p:cNvSpPr>
          <p:nvPr>
            <p:ph type="sldNum" sz="quarter" idx="5"/>
          </p:nvPr>
        </p:nvSpPr>
        <p:spPr/>
        <p:txBody>
          <a:bodyPr/>
          <a:lstStyle/>
          <a:p>
            <a:fld id="{4D669065-5DB5-C948-B206-D99551BEB1E8}" type="slidenum">
              <a:rPr lang="en-US" smtClean="0"/>
              <a:t>22</a:t>
            </a:fld>
            <a:endParaRPr lang="en-US"/>
          </a:p>
        </p:txBody>
      </p:sp>
    </p:spTree>
    <p:extLst>
      <p:ext uri="{BB962C8B-B14F-4D97-AF65-F5344CB8AC3E}">
        <p14:creationId xmlns:p14="http://schemas.microsoft.com/office/powerpoint/2010/main" val="2533969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F6053-8A4C-111F-1C0B-E75F7E025DC9}"/>
              </a:ext>
            </a:extLst>
          </p:cNvPr>
          <p:cNvSpPr>
            <a:spLocks noGrp="1"/>
          </p:cNvSpPr>
          <p:nvPr>
            <p:ph type="ctrTitle"/>
          </p:nvPr>
        </p:nvSpPr>
        <p:spPr>
          <a:xfrm>
            <a:off x="1524000" y="1122364"/>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4A96FD-7E76-5AD2-ED46-C85CDA7AC2F6}"/>
              </a:ext>
            </a:extLst>
          </p:cNvPr>
          <p:cNvSpPr>
            <a:spLocks noGrp="1"/>
          </p:cNvSpPr>
          <p:nvPr>
            <p:ph type="subTitle" idx="1"/>
          </p:nvPr>
        </p:nvSpPr>
        <p:spPr>
          <a:xfrm>
            <a:off x="1524000" y="3602038"/>
            <a:ext cx="9144000" cy="1655762"/>
          </a:xfrm>
        </p:spPr>
        <p:txBody>
          <a:bodyPr/>
          <a:lstStyle>
            <a:lvl1pPr marL="0" indent="0" algn="ctr">
              <a:buNone/>
              <a:defRPr sz="2400"/>
            </a:lvl1pPr>
            <a:lvl2pPr marL="457198" indent="0" algn="ctr">
              <a:buNone/>
              <a:defRPr sz="2000"/>
            </a:lvl2pPr>
            <a:lvl3pPr marL="914396" indent="0" algn="ctr">
              <a:buNone/>
              <a:defRPr sz="1800"/>
            </a:lvl3pPr>
            <a:lvl4pPr marL="1371595" indent="0" algn="ctr">
              <a:buNone/>
              <a:defRPr sz="1600"/>
            </a:lvl4pPr>
            <a:lvl5pPr marL="1828793" indent="0" algn="ctr">
              <a:buNone/>
              <a:defRPr sz="1600"/>
            </a:lvl5pPr>
            <a:lvl6pPr marL="2285991" indent="0" algn="ctr">
              <a:buNone/>
              <a:defRPr sz="1600"/>
            </a:lvl6pPr>
            <a:lvl7pPr marL="2743189" indent="0" algn="ctr">
              <a:buNone/>
              <a:defRPr sz="1600"/>
            </a:lvl7pPr>
            <a:lvl8pPr marL="3200388" indent="0" algn="ctr">
              <a:buNone/>
              <a:defRPr sz="1600"/>
            </a:lvl8pPr>
            <a:lvl9pPr marL="3657586"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4A1221-07C3-B9D1-2302-395991753BF5}"/>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790B4DBD-113E-7CE2-DA59-11AD1021C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EF698-BE3E-11F6-028F-7278BDD0E3E3}"/>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362826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B59D7-AB58-A968-28C7-BE8F93B4B2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50C5-440F-800A-CEDF-4DF678F1DC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B14AA-DD99-67DF-4F8D-ED81B6B056AE}"/>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EF86C026-E7D7-D85E-723E-65C4E4E95A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7E73D-4ECB-F828-8D0F-9102BD3C6458}"/>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3210584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76675-D93F-E4A6-5A1B-AE1C5E229C94}"/>
              </a:ext>
            </a:extLst>
          </p:cNvPr>
          <p:cNvSpPr>
            <a:spLocks noGrp="1"/>
          </p:cNvSpPr>
          <p:nvPr>
            <p:ph type="title"/>
          </p:nvPr>
        </p:nvSpPr>
        <p:spPr>
          <a:xfrm>
            <a:off x="831850" y="1709739"/>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19D225E-E36D-BC9D-6CED-CB9D32C1833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198" indent="0">
              <a:buNone/>
              <a:defRPr sz="2000">
                <a:solidFill>
                  <a:schemeClr val="tx1">
                    <a:tint val="82000"/>
                  </a:schemeClr>
                </a:solidFill>
              </a:defRPr>
            </a:lvl2pPr>
            <a:lvl3pPr marL="914396" indent="0">
              <a:buNone/>
              <a:defRPr sz="1800">
                <a:solidFill>
                  <a:schemeClr val="tx1">
                    <a:tint val="82000"/>
                  </a:schemeClr>
                </a:solidFill>
              </a:defRPr>
            </a:lvl3pPr>
            <a:lvl4pPr marL="1371595" indent="0">
              <a:buNone/>
              <a:defRPr sz="1600">
                <a:solidFill>
                  <a:schemeClr val="tx1">
                    <a:tint val="82000"/>
                  </a:schemeClr>
                </a:solidFill>
              </a:defRPr>
            </a:lvl4pPr>
            <a:lvl5pPr marL="1828793" indent="0">
              <a:buNone/>
              <a:defRPr sz="1600">
                <a:solidFill>
                  <a:schemeClr val="tx1">
                    <a:tint val="82000"/>
                  </a:schemeClr>
                </a:solidFill>
              </a:defRPr>
            </a:lvl5pPr>
            <a:lvl6pPr marL="2285991" indent="0">
              <a:buNone/>
              <a:defRPr sz="1600">
                <a:solidFill>
                  <a:schemeClr val="tx1">
                    <a:tint val="82000"/>
                  </a:schemeClr>
                </a:solidFill>
              </a:defRPr>
            </a:lvl6pPr>
            <a:lvl7pPr marL="2743189" indent="0">
              <a:buNone/>
              <a:defRPr sz="1600">
                <a:solidFill>
                  <a:schemeClr val="tx1">
                    <a:tint val="82000"/>
                  </a:schemeClr>
                </a:solidFill>
              </a:defRPr>
            </a:lvl7pPr>
            <a:lvl8pPr marL="3200388" indent="0">
              <a:buNone/>
              <a:defRPr sz="1600">
                <a:solidFill>
                  <a:schemeClr val="tx1">
                    <a:tint val="82000"/>
                  </a:schemeClr>
                </a:solidFill>
              </a:defRPr>
            </a:lvl8pPr>
            <a:lvl9pPr marL="3657586"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F620D6-8B47-6C02-3C52-89DD2716FAB3}"/>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A189F14C-47AE-D7E9-ACE6-061A8C5284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ED85C1-F399-C4A5-D7E2-C834F39BB1EE}"/>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1915445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86E5-58F4-CD0E-A23A-C8345DC03C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B2DD56-DE82-08A6-B4D7-31771D09713C}"/>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4CDFE6-A24A-F264-7C30-C1618D6F254E}"/>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9ECC2A-BD70-D8D2-D930-747711408873}"/>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6" name="Footer Placeholder 5">
            <a:extLst>
              <a:ext uri="{FF2B5EF4-FFF2-40B4-BE49-F238E27FC236}">
                <a16:creationId xmlns:a16="http://schemas.microsoft.com/office/drawing/2014/main" id="{48E608A2-A7D1-B65C-0E92-91EAAF75E1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31F695-172C-5C4F-8BBF-56394ADF4925}"/>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196149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D010-8493-B451-1BEF-B1056E5B4A40}"/>
              </a:ext>
            </a:extLst>
          </p:cNvPr>
          <p:cNvSpPr>
            <a:spLocks noGrp="1"/>
          </p:cNvSpPr>
          <p:nvPr>
            <p:ph type="title"/>
          </p:nvPr>
        </p:nvSpPr>
        <p:spPr>
          <a:xfrm>
            <a:off x="839789"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8B9DA0C-7B2F-C336-4CB2-C4316B36C832}"/>
              </a:ext>
            </a:extLst>
          </p:cNvPr>
          <p:cNvSpPr>
            <a:spLocks noGrp="1"/>
          </p:cNvSpPr>
          <p:nvPr>
            <p:ph type="body" idx="1"/>
          </p:nvPr>
        </p:nvSpPr>
        <p:spPr>
          <a:xfrm>
            <a:off x="839789" y="1681163"/>
            <a:ext cx="5157787" cy="823912"/>
          </a:xfrm>
        </p:spPr>
        <p:txBody>
          <a:bodyPr anchor="b"/>
          <a:lstStyle>
            <a:lvl1pPr marL="0" indent="0">
              <a:buNone/>
              <a:defRPr sz="2400" b="1"/>
            </a:lvl1pPr>
            <a:lvl2pPr marL="457198" indent="0">
              <a:buNone/>
              <a:defRPr sz="2000" b="1"/>
            </a:lvl2pPr>
            <a:lvl3pPr marL="914396" indent="0">
              <a:buNone/>
              <a:defRPr sz="1800" b="1"/>
            </a:lvl3pPr>
            <a:lvl4pPr marL="1371595" indent="0">
              <a:buNone/>
              <a:defRPr sz="1600" b="1"/>
            </a:lvl4pPr>
            <a:lvl5pPr marL="1828793" indent="0">
              <a:buNone/>
              <a:defRPr sz="1600" b="1"/>
            </a:lvl5pPr>
            <a:lvl6pPr marL="2285991" indent="0">
              <a:buNone/>
              <a:defRPr sz="1600" b="1"/>
            </a:lvl6pPr>
            <a:lvl7pPr marL="2743189" indent="0">
              <a:buNone/>
              <a:defRPr sz="1600" b="1"/>
            </a:lvl7pPr>
            <a:lvl8pPr marL="3200388" indent="0">
              <a:buNone/>
              <a:defRPr sz="1600" b="1"/>
            </a:lvl8pPr>
            <a:lvl9pPr marL="3657586"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3EC526-A64E-D634-3DA5-6C117ADC1FC6}"/>
              </a:ext>
            </a:extLst>
          </p:cNvPr>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2D2B1B-99F7-E055-F740-E10EF443820D}"/>
              </a:ext>
            </a:extLst>
          </p:cNvPr>
          <p:cNvSpPr>
            <a:spLocks noGrp="1"/>
          </p:cNvSpPr>
          <p:nvPr>
            <p:ph type="body" sz="quarter" idx="3"/>
          </p:nvPr>
        </p:nvSpPr>
        <p:spPr>
          <a:xfrm>
            <a:off x="6172201" y="1681163"/>
            <a:ext cx="5183187" cy="823912"/>
          </a:xfrm>
        </p:spPr>
        <p:txBody>
          <a:bodyPr anchor="b"/>
          <a:lstStyle>
            <a:lvl1pPr marL="0" indent="0">
              <a:buNone/>
              <a:defRPr sz="2400" b="1"/>
            </a:lvl1pPr>
            <a:lvl2pPr marL="457198" indent="0">
              <a:buNone/>
              <a:defRPr sz="2000" b="1"/>
            </a:lvl2pPr>
            <a:lvl3pPr marL="914396" indent="0">
              <a:buNone/>
              <a:defRPr sz="1800" b="1"/>
            </a:lvl3pPr>
            <a:lvl4pPr marL="1371595" indent="0">
              <a:buNone/>
              <a:defRPr sz="1600" b="1"/>
            </a:lvl4pPr>
            <a:lvl5pPr marL="1828793" indent="0">
              <a:buNone/>
              <a:defRPr sz="1600" b="1"/>
            </a:lvl5pPr>
            <a:lvl6pPr marL="2285991" indent="0">
              <a:buNone/>
              <a:defRPr sz="1600" b="1"/>
            </a:lvl6pPr>
            <a:lvl7pPr marL="2743189" indent="0">
              <a:buNone/>
              <a:defRPr sz="1600" b="1"/>
            </a:lvl7pPr>
            <a:lvl8pPr marL="3200388" indent="0">
              <a:buNone/>
              <a:defRPr sz="1600" b="1"/>
            </a:lvl8pPr>
            <a:lvl9pPr marL="3657586"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6195AA-E213-0A9D-8BF1-64F7008E81AA}"/>
              </a:ext>
            </a:extLst>
          </p:cNvPr>
          <p:cNvSpPr>
            <a:spLocks noGrp="1"/>
          </p:cNvSpPr>
          <p:nvPr>
            <p:ph sz="quarter" idx="4"/>
          </p:nvPr>
        </p:nvSpPr>
        <p:spPr>
          <a:xfrm>
            <a:off x="6172201" y="2505075"/>
            <a:ext cx="51831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8A479D-B4D4-8134-7FB0-DE652023C221}"/>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8" name="Footer Placeholder 7">
            <a:extLst>
              <a:ext uri="{FF2B5EF4-FFF2-40B4-BE49-F238E27FC236}">
                <a16:creationId xmlns:a16="http://schemas.microsoft.com/office/drawing/2014/main" id="{0D6DDA97-45AE-9F98-FB36-8184CB4334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DF40164-EF83-B7A6-512F-785784B2548D}"/>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1552113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B38C-24F8-78B2-0D81-38659EC5C9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AA6A62-B6D2-AFFF-75E1-70A15D8CC705}"/>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4" name="Footer Placeholder 3">
            <a:extLst>
              <a:ext uri="{FF2B5EF4-FFF2-40B4-BE49-F238E27FC236}">
                <a16:creationId xmlns:a16="http://schemas.microsoft.com/office/drawing/2014/main" id="{D6F6A2CF-EDAA-B367-6C49-FD81890C8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E4BD887-0BBC-C63F-2407-6217795D8F51}"/>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270285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EA9329-9BD3-2B7C-EFD3-EA876C1F84D3}"/>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3" name="Footer Placeholder 2">
            <a:extLst>
              <a:ext uri="{FF2B5EF4-FFF2-40B4-BE49-F238E27FC236}">
                <a16:creationId xmlns:a16="http://schemas.microsoft.com/office/drawing/2014/main" id="{F133F5E0-B005-4F9F-2050-E5F5493D091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497144-CF2B-FE6D-4375-17A5125FE4E4}"/>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2306459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030AD-F960-947C-89EC-D79BB868AA89}"/>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22B4DE-5C21-EAFB-5609-71D4ACE2C797}"/>
              </a:ext>
            </a:extLst>
          </p:cNvPr>
          <p:cNvSpPr>
            <a:spLocks noGrp="1"/>
          </p:cNvSpPr>
          <p:nvPr>
            <p:ph idx="1"/>
          </p:nvPr>
        </p:nvSpPr>
        <p:spPr>
          <a:xfrm>
            <a:off x="5183187" y="987426"/>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F48D85-B859-5F1C-BD12-34126784DD88}"/>
              </a:ext>
            </a:extLst>
          </p:cNvPr>
          <p:cNvSpPr>
            <a:spLocks noGrp="1"/>
          </p:cNvSpPr>
          <p:nvPr>
            <p:ph type="body" sz="half" idx="2"/>
          </p:nvPr>
        </p:nvSpPr>
        <p:spPr>
          <a:xfrm>
            <a:off x="839789" y="2057400"/>
            <a:ext cx="3932237" cy="3811588"/>
          </a:xfrm>
        </p:spPr>
        <p:txBody>
          <a:bodyPr/>
          <a:lstStyle>
            <a:lvl1pPr marL="0" indent="0">
              <a:buNone/>
              <a:defRPr sz="1600"/>
            </a:lvl1pPr>
            <a:lvl2pPr marL="457198" indent="0">
              <a:buNone/>
              <a:defRPr sz="1400"/>
            </a:lvl2pPr>
            <a:lvl3pPr marL="914396" indent="0">
              <a:buNone/>
              <a:defRPr sz="1200"/>
            </a:lvl3pPr>
            <a:lvl4pPr marL="1371595" indent="0">
              <a:buNone/>
              <a:defRPr sz="1000"/>
            </a:lvl4pPr>
            <a:lvl5pPr marL="1828793" indent="0">
              <a:buNone/>
              <a:defRPr sz="1000"/>
            </a:lvl5pPr>
            <a:lvl6pPr marL="2285991" indent="0">
              <a:buNone/>
              <a:defRPr sz="1000"/>
            </a:lvl6pPr>
            <a:lvl7pPr marL="2743189" indent="0">
              <a:buNone/>
              <a:defRPr sz="1000"/>
            </a:lvl7pPr>
            <a:lvl8pPr marL="3200388" indent="0">
              <a:buNone/>
              <a:defRPr sz="1000"/>
            </a:lvl8pPr>
            <a:lvl9pPr marL="3657586"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1BAC96-773B-CF88-35BC-7A652E1F5A56}"/>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6" name="Footer Placeholder 5">
            <a:extLst>
              <a:ext uri="{FF2B5EF4-FFF2-40B4-BE49-F238E27FC236}">
                <a16:creationId xmlns:a16="http://schemas.microsoft.com/office/drawing/2014/main" id="{B83AB762-D2DB-6177-FA0A-D258D78E1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F47EE-8D89-554D-4098-9AB24A65CF9F}"/>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1420703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AB25E-3F91-7399-F6A3-4B555267A6B8}"/>
              </a:ext>
            </a:extLst>
          </p:cNvPr>
          <p:cNvSpPr>
            <a:spLocks noGrp="1"/>
          </p:cNvSpPr>
          <p:nvPr>
            <p:ph type="title"/>
          </p:nvPr>
        </p:nvSpPr>
        <p:spPr>
          <a:xfrm>
            <a:off x="839789"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0BDDF2E-4618-3BFE-6FB9-02779B896FB4}"/>
              </a:ext>
            </a:extLst>
          </p:cNvPr>
          <p:cNvSpPr>
            <a:spLocks noGrp="1"/>
          </p:cNvSpPr>
          <p:nvPr>
            <p:ph type="pic" idx="1"/>
          </p:nvPr>
        </p:nvSpPr>
        <p:spPr>
          <a:xfrm>
            <a:off x="5183187" y="987426"/>
            <a:ext cx="6172201" cy="4873625"/>
          </a:xfrm>
        </p:spPr>
        <p:txBody>
          <a:bodyPr/>
          <a:lstStyle>
            <a:lvl1pPr marL="0" indent="0">
              <a:buNone/>
              <a:defRPr sz="3200"/>
            </a:lvl1pPr>
            <a:lvl2pPr marL="457198" indent="0">
              <a:buNone/>
              <a:defRPr sz="2800"/>
            </a:lvl2pPr>
            <a:lvl3pPr marL="914396" indent="0">
              <a:buNone/>
              <a:defRPr sz="2400"/>
            </a:lvl3pPr>
            <a:lvl4pPr marL="1371595" indent="0">
              <a:buNone/>
              <a:defRPr sz="2000"/>
            </a:lvl4pPr>
            <a:lvl5pPr marL="1828793" indent="0">
              <a:buNone/>
              <a:defRPr sz="2000"/>
            </a:lvl5pPr>
            <a:lvl6pPr marL="2285991" indent="0">
              <a:buNone/>
              <a:defRPr sz="2000"/>
            </a:lvl6pPr>
            <a:lvl7pPr marL="2743189" indent="0">
              <a:buNone/>
              <a:defRPr sz="2000"/>
            </a:lvl7pPr>
            <a:lvl8pPr marL="3200388" indent="0">
              <a:buNone/>
              <a:defRPr sz="2000"/>
            </a:lvl8pPr>
            <a:lvl9pPr marL="3657586" indent="0">
              <a:buNone/>
              <a:defRPr sz="2000"/>
            </a:lvl9pPr>
          </a:lstStyle>
          <a:p>
            <a:endParaRPr lang="en-US"/>
          </a:p>
        </p:txBody>
      </p:sp>
      <p:sp>
        <p:nvSpPr>
          <p:cNvPr id="4" name="Text Placeholder 3">
            <a:extLst>
              <a:ext uri="{FF2B5EF4-FFF2-40B4-BE49-F238E27FC236}">
                <a16:creationId xmlns:a16="http://schemas.microsoft.com/office/drawing/2014/main" id="{A42554A5-84B2-895A-7DBF-E72D5BA6D7BB}"/>
              </a:ext>
            </a:extLst>
          </p:cNvPr>
          <p:cNvSpPr>
            <a:spLocks noGrp="1"/>
          </p:cNvSpPr>
          <p:nvPr>
            <p:ph type="body" sz="half" idx="2"/>
          </p:nvPr>
        </p:nvSpPr>
        <p:spPr>
          <a:xfrm>
            <a:off x="839789" y="2057400"/>
            <a:ext cx="3932237" cy="3811588"/>
          </a:xfrm>
        </p:spPr>
        <p:txBody>
          <a:bodyPr/>
          <a:lstStyle>
            <a:lvl1pPr marL="0" indent="0">
              <a:buNone/>
              <a:defRPr sz="1600"/>
            </a:lvl1pPr>
            <a:lvl2pPr marL="457198" indent="0">
              <a:buNone/>
              <a:defRPr sz="1400"/>
            </a:lvl2pPr>
            <a:lvl3pPr marL="914396" indent="0">
              <a:buNone/>
              <a:defRPr sz="1200"/>
            </a:lvl3pPr>
            <a:lvl4pPr marL="1371595" indent="0">
              <a:buNone/>
              <a:defRPr sz="1000"/>
            </a:lvl4pPr>
            <a:lvl5pPr marL="1828793" indent="0">
              <a:buNone/>
              <a:defRPr sz="1000"/>
            </a:lvl5pPr>
            <a:lvl6pPr marL="2285991" indent="0">
              <a:buNone/>
              <a:defRPr sz="1000"/>
            </a:lvl6pPr>
            <a:lvl7pPr marL="2743189" indent="0">
              <a:buNone/>
              <a:defRPr sz="1000"/>
            </a:lvl7pPr>
            <a:lvl8pPr marL="3200388" indent="0">
              <a:buNone/>
              <a:defRPr sz="1000"/>
            </a:lvl8pPr>
            <a:lvl9pPr marL="3657586"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BC386B-FE14-C041-9F9E-2CA16757E0F7}"/>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6" name="Footer Placeholder 5">
            <a:extLst>
              <a:ext uri="{FF2B5EF4-FFF2-40B4-BE49-F238E27FC236}">
                <a16:creationId xmlns:a16="http://schemas.microsoft.com/office/drawing/2014/main" id="{965A75F7-41A9-5F5C-0A8B-269B1D8F92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6123D1-9617-C32B-29B1-DE5D641A6D03}"/>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3026084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BC90-F0A6-6D51-5F25-3D05678FE8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6E02BB-F7A7-929F-E3F4-AC813D2F1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43C050-E073-0391-0B9D-2B6134439BD6}"/>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F6FF5DCE-138C-3559-A9CC-BFA78ADC8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617FF-D77C-57D7-F1F0-E646C35C8DB3}"/>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2660326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AC265C-FCB3-42EE-5DFF-175B6434AEBB}"/>
              </a:ext>
            </a:extLst>
          </p:cNvPr>
          <p:cNvSpPr>
            <a:spLocks noGrp="1"/>
          </p:cNvSpPr>
          <p:nvPr>
            <p:ph type="title" orient="vert"/>
          </p:nvPr>
        </p:nvSpPr>
        <p:spPr>
          <a:xfrm>
            <a:off x="8724901" y="365126"/>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A7560-BB02-B2B5-0F38-89F0148D5558}"/>
              </a:ext>
            </a:extLst>
          </p:cNvPr>
          <p:cNvSpPr>
            <a:spLocks noGrp="1"/>
          </p:cNvSpPr>
          <p:nvPr>
            <p:ph type="body" orient="vert" idx="1"/>
          </p:nvPr>
        </p:nvSpPr>
        <p:spPr>
          <a:xfrm>
            <a:off x="838201" y="365126"/>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E06B59-9666-611B-6FE2-FDCF590AED60}"/>
              </a:ext>
            </a:extLst>
          </p:cNvPr>
          <p:cNvSpPr>
            <a:spLocks noGrp="1"/>
          </p:cNvSpPr>
          <p:nvPr>
            <p:ph type="dt" sz="half" idx="10"/>
          </p:nvPr>
        </p:nvSpPr>
        <p:spPr/>
        <p:txBody>
          <a:body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F16E76C8-29EB-0E05-BEF7-434C33DD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4EF088-6CAC-303F-95FA-8E35AA7F697D}"/>
              </a:ext>
            </a:extLst>
          </p:cNvPr>
          <p:cNvSpPr>
            <a:spLocks noGrp="1"/>
          </p:cNvSpPr>
          <p:nvPr>
            <p:ph type="sldNum" sz="quarter" idx="12"/>
          </p:nvPr>
        </p:nvSpPr>
        <p:spPr/>
        <p:txBody>
          <a:bodyPr/>
          <a:lstStyle/>
          <a:p>
            <a:fld id="{E9842E3A-E33A-B54D-AB54-6CC586B1CCA9}" type="slidenum">
              <a:rPr lang="en-US" smtClean="0"/>
              <a:t>‹#›</a:t>
            </a:fld>
            <a:endParaRPr lang="en-US"/>
          </a:p>
        </p:txBody>
      </p:sp>
    </p:spTree>
    <p:extLst>
      <p:ext uri="{BB962C8B-B14F-4D97-AF65-F5344CB8AC3E}">
        <p14:creationId xmlns:p14="http://schemas.microsoft.com/office/powerpoint/2010/main" val="2101913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8C50F4-F163-26EA-ECA5-A4B0A8F75384}"/>
              </a:ext>
            </a:extLst>
          </p:cNvPr>
          <p:cNvSpPr>
            <a:spLocks noGrp="1"/>
          </p:cNvSpPr>
          <p:nvPr>
            <p:ph type="title"/>
          </p:nvPr>
        </p:nvSpPr>
        <p:spPr>
          <a:xfrm>
            <a:off x="838202"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E1C0935-9C89-B422-DB75-9E49D626137F}"/>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1F21D3-F500-C606-9332-44F8ED9A0274}"/>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96D6C08-2F07-8349-ADD8-42A51B34A5A4}" type="datetimeFigureOut">
              <a:rPr lang="en-US" smtClean="0"/>
              <a:t>7/12/26</a:t>
            </a:fld>
            <a:endParaRPr lang="en-US"/>
          </a:p>
        </p:txBody>
      </p:sp>
      <p:sp>
        <p:nvSpPr>
          <p:cNvPr id="5" name="Footer Placeholder 4">
            <a:extLst>
              <a:ext uri="{FF2B5EF4-FFF2-40B4-BE49-F238E27FC236}">
                <a16:creationId xmlns:a16="http://schemas.microsoft.com/office/drawing/2014/main" id="{79329DE3-2396-ABDB-A36C-F6237DC5D8F2}"/>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837F86-044D-0222-CF62-CA07DEB989BF}"/>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842E3A-E33A-B54D-AB54-6CC586B1CCA9}" type="slidenum">
              <a:rPr lang="en-US" smtClean="0"/>
              <a:t>‹#›</a:t>
            </a:fld>
            <a:endParaRPr lang="en-US"/>
          </a:p>
        </p:txBody>
      </p:sp>
    </p:spTree>
    <p:extLst>
      <p:ext uri="{BB962C8B-B14F-4D97-AF65-F5344CB8AC3E}">
        <p14:creationId xmlns:p14="http://schemas.microsoft.com/office/powerpoint/2010/main" val="3059498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9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9" indent="-228599" algn="l" defTabSz="91439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7" indent="-228599" algn="l" defTabSz="91439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5" indent="-228599" algn="l" defTabSz="91439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3"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92"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90"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8"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86"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5"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96" rtl="0" eaLnBrk="1" latinLnBrk="0" hangingPunct="1">
        <a:defRPr sz="1800" kern="1200">
          <a:solidFill>
            <a:schemeClr val="tx1"/>
          </a:solidFill>
          <a:latin typeface="+mn-lt"/>
          <a:ea typeface="+mn-ea"/>
          <a:cs typeface="+mn-cs"/>
        </a:defRPr>
      </a:lvl1pPr>
      <a:lvl2pPr marL="457198" algn="l" defTabSz="914396" rtl="0" eaLnBrk="1" latinLnBrk="0" hangingPunct="1">
        <a:defRPr sz="1800" kern="1200">
          <a:solidFill>
            <a:schemeClr val="tx1"/>
          </a:solidFill>
          <a:latin typeface="+mn-lt"/>
          <a:ea typeface="+mn-ea"/>
          <a:cs typeface="+mn-cs"/>
        </a:defRPr>
      </a:lvl2pPr>
      <a:lvl3pPr marL="914396" algn="l" defTabSz="914396" rtl="0" eaLnBrk="1" latinLnBrk="0" hangingPunct="1">
        <a:defRPr sz="1800" kern="1200">
          <a:solidFill>
            <a:schemeClr val="tx1"/>
          </a:solidFill>
          <a:latin typeface="+mn-lt"/>
          <a:ea typeface="+mn-ea"/>
          <a:cs typeface="+mn-cs"/>
        </a:defRPr>
      </a:lvl3pPr>
      <a:lvl4pPr marL="1371595" algn="l" defTabSz="914396" rtl="0" eaLnBrk="1" latinLnBrk="0" hangingPunct="1">
        <a:defRPr sz="1800" kern="1200">
          <a:solidFill>
            <a:schemeClr val="tx1"/>
          </a:solidFill>
          <a:latin typeface="+mn-lt"/>
          <a:ea typeface="+mn-ea"/>
          <a:cs typeface="+mn-cs"/>
        </a:defRPr>
      </a:lvl4pPr>
      <a:lvl5pPr marL="1828793" algn="l" defTabSz="914396" rtl="0" eaLnBrk="1" latinLnBrk="0" hangingPunct="1">
        <a:defRPr sz="1800" kern="1200">
          <a:solidFill>
            <a:schemeClr val="tx1"/>
          </a:solidFill>
          <a:latin typeface="+mn-lt"/>
          <a:ea typeface="+mn-ea"/>
          <a:cs typeface="+mn-cs"/>
        </a:defRPr>
      </a:lvl5pPr>
      <a:lvl6pPr marL="2285991" algn="l" defTabSz="914396" rtl="0" eaLnBrk="1" latinLnBrk="0" hangingPunct="1">
        <a:defRPr sz="1800" kern="1200">
          <a:solidFill>
            <a:schemeClr val="tx1"/>
          </a:solidFill>
          <a:latin typeface="+mn-lt"/>
          <a:ea typeface="+mn-ea"/>
          <a:cs typeface="+mn-cs"/>
        </a:defRPr>
      </a:lvl6pPr>
      <a:lvl7pPr marL="2743189" algn="l" defTabSz="914396" rtl="0" eaLnBrk="1" latinLnBrk="0" hangingPunct="1">
        <a:defRPr sz="1800" kern="1200">
          <a:solidFill>
            <a:schemeClr val="tx1"/>
          </a:solidFill>
          <a:latin typeface="+mn-lt"/>
          <a:ea typeface="+mn-ea"/>
          <a:cs typeface="+mn-cs"/>
        </a:defRPr>
      </a:lvl7pPr>
      <a:lvl8pPr marL="3200388" algn="l" defTabSz="914396" rtl="0" eaLnBrk="1" latinLnBrk="0" hangingPunct="1">
        <a:defRPr sz="1800" kern="1200">
          <a:solidFill>
            <a:schemeClr val="tx1"/>
          </a:solidFill>
          <a:latin typeface="+mn-lt"/>
          <a:ea typeface="+mn-ea"/>
          <a:cs typeface="+mn-cs"/>
        </a:defRPr>
      </a:lvl8pPr>
      <a:lvl9pPr marL="3657586" algn="l" defTabSz="9143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hyperlink" Target="https://www.researchgate.net/figure/Transcription-and-translation-process-The-picture-shows-the-transcription-factors-TF_fig7_249656139"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doi.org/10.1111/mmi.1521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35227-480B-7661-37D9-11DE02116739}"/>
              </a:ext>
            </a:extLst>
          </p:cNvPr>
          <p:cNvSpPr>
            <a:spLocks noGrp="1"/>
          </p:cNvSpPr>
          <p:nvPr>
            <p:ph type="ctrTitle"/>
          </p:nvPr>
        </p:nvSpPr>
        <p:spPr>
          <a:xfrm>
            <a:off x="370631" y="1864041"/>
            <a:ext cx="11674257" cy="3037842"/>
          </a:xfrm>
        </p:spPr>
        <p:txBody>
          <a:bodyPr anchor="ctr">
            <a:normAutofit/>
          </a:bodyPr>
          <a:lstStyle/>
          <a:p>
            <a:r>
              <a:rPr lang="en-US" sz="8000" dirty="0">
                <a:latin typeface="Forma DJR Banner Light" pitchFamily="2" charset="77"/>
              </a:rPr>
              <a:t>Detecting motifs with “</a:t>
            </a:r>
            <a:r>
              <a:rPr lang="en-US" sz="8000" dirty="0">
                <a:solidFill>
                  <a:schemeClr val="accent4"/>
                </a:solidFill>
                <a:latin typeface="Forma DJR Banner Light" pitchFamily="2" charset="77"/>
              </a:rPr>
              <a:t>drippy</a:t>
            </a:r>
            <a:r>
              <a:rPr lang="en-US" sz="8000" dirty="0">
                <a:latin typeface="Forma DJR Banner Light" pitchFamily="2" charset="77"/>
              </a:rPr>
              <a:t>” </a:t>
            </a:r>
            <a:br>
              <a:rPr lang="en-US" sz="8000" dirty="0">
                <a:latin typeface="Forma DJR Banner Light" pitchFamily="2" charset="77"/>
              </a:rPr>
            </a:br>
            <a:r>
              <a:rPr lang="en-US" sz="4000" dirty="0">
                <a:latin typeface="Forma DJR Banner Light" pitchFamily="2" charset="77"/>
              </a:rPr>
              <a:t>(</a:t>
            </a:r>
            <a:r>
              <a:rPr lang="en-US" sz="4000" b="1" dirty="0">
                <a:solidFill>
                  <a:schemeClr val="accent4"/>
                </a:solidFill>
                <a:latin typeface="Forma DJR Banner Light" pitchFamily="2" charset="77"/>
              </a:rPr>
              <a:t>d</a:t>
            </a:r>
            <a:r>
              <a:rPr lang="en-US" sz="4000" dirty="0">
                <a:latin typeface="Forma DJR Banner Light" pitchFamily="2" charset="77"/>
              </a:rPr>
              <a:t>irect </a:t>
            </a:r>
            <a:r>
              <a:rPr lang="en-US" sz="4000" b="1" dirty="0">
                <a:solidFill>
                  <a:schemeClr val="accent4"/>
                </a:solidFill>
                <a:latin typeface="Forma DJR Banner Light" pitchFamily="2" charset="77"/>
              </a:rPr>
              <a:t>r</a:t>
            </a:r>
            <a:r>
              <a:rPr lang="en-US" sz="4000" dirty="0">
                <a:latin typeface="Forma DJR Banner Light" pitchFamily="2" charset="77"/>
              </a:rPr>
              <a:t>epeats and </a:t>
            </a:r>
            <a:r>
              <a:rPr lang="en-US" sz="4000" b="1" dirty="0">
                <a:solidFill>
                  <a:schemeClr val="accent4"/>
                </a:solidFill>
                <a:latin typeface="Forma DJR Banner Light" pitchFamily="2" charset="77"/>
              </a:rPr>
              <a:t>i</a:t>
            </a:r>
            <a:r>
              <a:rPr lang="en-US" sz="4000" dirty="0">
                <a:latin typeface="Forma DJR Banner Light" pitchFamily="2" charset="77"/>
              </a:rPr>
              <a:t>nverted </a:t>
            </a:r>
            <a:r>
              <a:rPr lang="en-US" sz="4000" b="1" dirty="0">
                <a:solidFill>
                  <a:schemeClr val="accent4"/>
                </a:solidFill>
                <a:latin typeface="Forma DJR Banner Light" pitchFamily="2" charset="77"/>
              </a:rPr>
              <a:t>p</a:t>
            </a:r>
            <a:r>
              <a:rPr lang="en-US" sz="4000" dirty="0">
                <a:latin typeface="Forma DJR Banner Light" pitchFamily="2" charset="77"/>
              </a:rPr>
              <a:t>atterns with </a:t>
            </a:r>
            <a:r>
              <a:rPr lang="en-US" sz="4000" b="1" dirty="0">
                <a:solidFill>
                  <a:schemeClr val="accent4"/>
                </a:solidFill>
                <a:latin typeface="Forma DJR Banner Light" pitchFamily="2" charset="77"/>
              </a:rPr>
              <a:t>py</a:t>
            </a:r>
            <a:r>
              <a:rPr lang="en-US" sz="4000" dirty="0">
                <a:latin typeface="Forma DJR Banner Light" pitchFamily="2" charset="77"/>
              </a:rPr>
              <a:t>thon)</a:t>
            </a:r>
          </a:p>
        </p:txBody>
      </p:sp>
      <p:sp>
        <p:nvSpPr>
          <p:cNvPr id="3" name="Subtitle 2">
            <a:extLst>
              <a:ext uri="{FF2B5EF4-FFF2-40B4-BE49-F238E27FC236}">
                <a16:creationId xmlns:a16="http://schemas.microsoft.com/office/drawing/2014/main" id="{A634507E-7665-AAEA-E5ED-74A78358FD6C}"/>
              </a:ext>
            </a:extLst>
          </p:cNvPr>
          <p:cNvSpPr>
            <a:spLocks noGrp="1"/>
          </p:cNvSpPr>
          <p:nvPr>
            <p:ph type="subTitle" idx="1"/>
          </p:nvPr>
        </p:nvSpPr>
        <p:spPr>
          <a:xfrm>
            <a:off x="1635760" y="4993959"/>
            <a:ext cx="9144000" cy="1655762"/>
          </a:xfrm>
        </p:spPr>
        <p:txBody>
          <a:bodyPr/>
          <a:lstStyle/>
          <a:p>
            <a:r>
              <a:rPr lang="en-US" dirty="0">
                <a:latin typeface="Franklin Gothic Medium" panose="020B0603020102020204" pitchFamily="34" charset="0"/>
                <a:cs typeface="Aharoni" panose="02010803020104030203" pitchFamily="2" charset="-79"/>
              </a:rPr>
              <a:t>Enoch Shin</a:t>
            </a:r>
          </a:p>
          <a:p>
            <a:r>
              <a:rPr lang="en-US" dirty="0">
                <a:latin typeface="Franklin Gothic Medium" panose="020B0603020102020204" pitchFamily="34" charset="0"/>
                <a:cs typeface="Aharoni" panose="02010803020104030203" pitchFamily="2" charset="-79"/>
              </a:rPr>
              <a:t>July 13, 2026</a:t>
            </a:r>
          </a:p>
        </p:txBody>
      </p:sp>
    </p:spTree>
    <p:extLst>
      <p:ext uri="{BB962C8B-B14F-4D97-AF65-F5344CB8AC3E}">
        <p14:creationId xmlns:p14="http://schemas.microsoft.com/office/powerpoint/2010/main" val="161275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B09B1-69BD-79C3-0C97-8C8B86742D3E}"/>
              </a:ext>
            </a:extLst>
          </p:cNvPr>
          <p:cNvSpPr>
            <a:spLocks noGrp="1"/>
          </p:cNvSpPr>
          <p:nvPr>
            <p:ph type="title"/>
          </p:nvPr>
        </p:nvSpPr>
        <p:spPr>
          <a:xfrm>
            <a:off x="365237" y="99072"/>
            <a:ext cx="10515600" cy="1325563"/>
          </a:xfrm>
        </p:spPr>
        <p:txBody>
          <a:bodyPr>
            <a:noAutofit/>
          </a:bodyPr>
          <a:lstStyle/>
          <a:p>
            <a:r>
              <a:rPr lang="en-US" sz="4500" dirty="0">
                <a:latin typeface="Forma DJR Banner Light" pitchFamily="2" charset="77"/>
              </a:rPr>
              <a:t>Background: Central Dogma &amp; Motifs</a:t>
            </a:r>
          </a:p>
        </p:txBody>
      </p:sp>
      <p:pic>
        <p:nvPicPr>
          <p:cNvPr id="4" name="Content Placeholder 3" descr="A diagram of a dna sequence&#10;&#10;AI-generated content may be incorrect.">
            <a:extLst>
              <a:ext uri="{FF2B5EF4-FFF2-40B4-BE49-F238E27FC236}">
                <a16:creationId xmlns:a16="http://schemas.microsoft.com/office/drawing/2014/main" id="{1ABB3A31-0874-85BF-28E7-426FB4120A5C}"/>
              </a:ext>
            </a:extLst>
          </p:cNvPr>
          <p:cNvPicPr>
            <a:picLocks noGrp="1" noChangeAspect="1"/>
          </p:cNvPicPr>
          <p:nvPr>
            <p:ph idx="1"/>
          </p:nvPr>
        </p:nvPicPr>
        <p:blipFill>
          <a:blip r:embed="rId3"/>
          <a:stretch>
            <a:fillRect/>
          </a:stretch>
        </p:blipFill>
        <p:spPr>
          <a:xfrm>
            <a:off x="762434" y="1471815"/>
            <a:ext cx="5296119" cy="4599073"/>
          </a:xfrm>
          <a:prstGeom prst="rect">
            <a:avLst/>
          </a:prstGeom>
        </p:spPr>
      </p:pic>
      <p:sp>
        <p:nvSpPr>
          <p:cNvPr id="31" name="Subtitle 2">
            <a:extLst>
              <a:ext uri="{FF2B5EF4-FFF2-40B4-BE49-F238E27FC236}">
                <a16:creationId xmlns:a16="http://schemas.microsoft.com/office/drawing/2014/main" id="{278A2A40-4B9F-2A8B-D069-C54FD16BB615}"/>
              </a:ext>
            </a:extLst>
          </p:cNvPr>
          <p:cNvSpPr txBox="1">
            <a:spLocks/>
          </p:cNvSpPr>
          <p:nvPr/>
        </p:nvSpPr>
        <p:spPr>
          <a:xfrm>
            <a:off x="6633233" y="1424635"/>
            <a:ext cx="5288834" cy="2346717"/>
          </a:xfrm>
          <a:prstGeom prst="rect">
            <a:avLst/>
          </a:prstGeom>
        </p:spPr>
        <p:txBody>
          <a:bodyPr vert="horz" lIns="91440" tIns="45720" rIns="91440" bIns="45720" rtlCol="0">
            <a:normAutofit/>
          </a:bodyPr>
          <a:lstStyle>
            <a:lvl1pPr marL="228599" indent="-228599" algn="l" defTabSz="91439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7" indent="-228599" algn="l" defTabSz="91439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5" indent="-228599" algn="l" defTabSz="91439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3"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92"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90"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8"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86"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5"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500" u="sng" dirty="0">
                <a:latin typeface="Franklin Gothic Medium" panose="020B0603020102020204" pitchFamily="34" charset="0"/>
                <a:cs typeface="Aharoni" panose="02010803020104030203" pitchFamily="2" charset="-79"/>
              </a:rPr>
              <a:t>Transcription factor (TF</a:t>
            </a:r>
            <a:r>
              <a:rPr lang="en-US" sz="2500" dirty="0">
                <a:latin typeface="Franklin Gothic Medium" panose="020B0603020102020204" pitchFamily="34" charset="0"/>
                <a:cs typeface="Aharoni" panose="02010803020104030203" pitchFamily="2" charset="-79"/>
              </a:rPr>
              <a:t>): modulates </a:t>
            </a:r>
            <a:r>
              <a:rPr lang="en-US" sz="2500" i="1" dirty="0">
                <a:latin typeface="Franklin Gothic Medium" panose="020B0603020102020204" pitchFamily="34" charset="0"/>
                <a:cs typeface="Aharoni" panose="02010803020104030203" pitchFamily="2" charset="-79"/>
              </a:rPr>
              <a:t>when, where and how efficiently </a:t>
            </a:r>
            <a:r>
              <a:rPr lang="en-US" sz="2500" dirty="0">
                <a:latin typeface="Franklin Gothic Medium" panose="020B0603020102020204" pitchFamily="34" charset="0"/>
                <a:cs typeface="Aharoni" panose="02010803020104030203" pitchFamily="2" charset="-79"/>
              </a:rPr>
              <a:t>transcription happens </a:t>
            </a:r>
            <a:endParaRPr lang="en-US" sz="2500" b="1" dirty="0">
              <a:solidFill>
                <a:schemeClr val="accent4"/>
              </a:solidFill>
              <a:latin typeface="Franklin Gothic Medium" panose="020B0603020102020204" pitchFamily="34" charset="0"/>
              <a:cs typeface="Aharoni" panose="02010803020104030203" pitchFamily="2" charset="-79"/>
            </a:endParaRPr>
          </a:p>
          <a:p>
            <a:r>
              <a:rPr lang="en-US" sz="2500" b="1" u="sng" dirty="0">
                <a:solidFill>
                  <a:schemeClr val="accent4"/>
                </a:solidFill>
                <a:latin typeface="Franklin Gothic Medium" panose="020B0603020102020204" pitchFamily="34" charset="0"/>
                <a:cs typeface="Aharoni" panose="02010803020104030203" pitchFamily="2" charset="-79"/>
              </a:rPr>
              <a:t>Motifs:</a:t>
            </a:r>
            <a:r>
              <a:rPr lang="en-US" sz="2500" b="1" dirty="0">
                <a:solidFill>
                  <a:schemeClr val="accent4"/>
                </a:solidFill>
                <a:latin typeface="Franklin Gothic Medium" panose="020B0603020102020204" pitchFamily="34" charset="0"/>
                <a:cs typeface="Aharoni" panose="02010803020104030203" pitchFamily="2" charset="-79"/>
              </a:rPr>
              <a:t> </a:t>
            </a:r>
            <a:r>
              <a:rPr lang="en-US" sz="2500" dirty="0">
                <a:latin typeface="Franklin Gothic Medium" panose="020B0603020102020204" pitchFamily="34" charset="0"/>
                <a:cs typeface="Aharoni" panose="02010803020104030203" pitchFamily="2" charset="-79"/>
              </a:rPr>
              <a:t>short sequences located in the promoter region, signposts for TFs. </a:t>
            </a:r>
          </a:p>
        </p:txBody>
      </p:sp>
      <p:sp>
        <p:nvSpPr>
          <p:cNvPr id="5" name="TextBox 4">
            <a:extLst>
              <a:ext uri="{FF2B5EF4-FFF2-40B4-BE49-F238E27FC236}">
                <a16:creationId xmlns:a16="http://schemas.microsoft.com/office/drawing/2014/main" id="{A0F86237-A726-8835-2CAD-12B94733BA0C}"/>
              </a:ext>
            </a:extLst>
          </p:cNvPr>
          <p:cNvSpPr txBox="1"/>
          <p:nvPr/>
        </p:nvSpPr>
        <p:spPr>
          <a:xfrm>
            <a:off x="10387686" y="6591829"/>
            <a:ext cx="2005157" cy="253916"/>
          </a:xfrm>
          <a:prstGeom prst="rect">
            <a:avLst/>
          </a:prstGeom>
          <a:noFill/>
        </p:spPr>
        <p:txBody>
          <a:bodyPr wrap="square">
            <a:spAutoFit/>
          </a:bodyPr>
          <a:lstStyle/>
          <a:p>
            <a:r>
              <a:rPr lang="en-US" sz="1050" i="1" dirty="0"/>
              <a:t>Saric 2006, Al-Tohamy 2023.</a:t>
            </a:r>
            <a:endParaRPr lang="en-US" sz="1050" i="1" dirty="0">
              <a:solidFill>
                <a:schemeClr val="accent4"/>
              </a:solidFill>
            </a:endParaRPr>
          </a:p>
        </p:txBody>
      </p:sp>
      <p:sp>
        <p:nvSpPr>
          <p:cNvPr id="7" name="Subtitle 2">
            <a:extLst>
              <a:ext uri="{FF2B5EF4-FFF2-40B4-BE49-F238E27FC236}">
                <a16:creationId xmlns:a16="http://schemas.microsoft.com/office/drawing/2014/main" id="{D2130B45-1835-4E13-D5BB-0C418C4E7F83}"/>
              </a:ext>
            </a:extLst>
          </p:cNvPr>
          <p:cNvSpPr txBox="1">
            <a:spLocks/>
          </p:cNvSpPr>
          <p:nvPr/>
        </p:nvSpPr>
        <p:spPr>
          <a:xfrm>
            <a:off x="6695387" y="3724171"/>
            <a:ext cx="5496613" cy="2346717"/>
          </a:xfrm>
          <a:prstGeom prst="rect">
            <a:avLst/>
          </a:prstGeom>
        </p:spPr>
        <p:txBody>
          <a:bodyPr vert="horz" lIns="91440" tIns="45720" rIns="91440" bIns="45720" rtlCol="0">
            <a:normAutofit/>
          </a:bodyPr>
          <a:lstStyle>
            <a:lvl1pPr marL="228599" indent="-228599" algn="l" defTabSz="91439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7" indent="-228599" algn="l" defTabSz="91439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5" indent="-228599" algn="l" defTabSz="91439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93"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92"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90"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8"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86"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85" indent="-228599" algn="l" defTabSz="91439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500" dirty="0">
              <a:latin typeface="Franklin Gothic Medium" panose="020B0603020102020204" pitchFamily="34" charset="0"/>
              <a:cs typeface="Aharoni" panose="02010803020104030203" pitchFamily="2" charset="-79"/>
            </a:endParaRPr>
          </a:p>
          <a:p>
            <a:pPr marL="0" indent="0">
              <a:buNone/>
            </a:pPr>
            <a:r>
              <a:rPr lang="en-US" sz="2500" dirty="0">
                <a:latin typeface="Franklin Gothic Medium" panose="020B0603020102020204" pitchFamily="34" charset="0"/>
                <a:cs typeface="Aharoni" panose="02010803020104030203" pitchFamily="2" charset="-79"/>
              </a:rPr>
              <a:t>TF dimerization leads to specific motif sequence patterns:</a:t>
            </a:r>
          </a:p>
          <a:p>
            <a:r>
              <a:rPr lang="en-US" sz="2500" dirty="0">
                <a:latin typeface="Franklin Gothic Medium" panose="020B0603020102020204" pitchFamily="34" charset="0"/>
                <a:cs typeface="Aharoni" panose="02010803020104030203" pitchFamily="2" charset="-79"/>
              </a:rPr>
              <a:t>DR = Direct Repeat</a:t>
            </a:r>
          </a:p>
          <a:p>
            <a:r>
              <a:rPr lang="en-US" sz="2500" dirty="0">
                <a:latin typeface="Franklin Gothic Medium" panose="020B0603020102020204" pitchFamily="34" charset="0"/>
                <a:cs typeface="Aharoni" panose="02010803020104030203" pitchFamily="2" charset="-79"/>
              </a:rPr>
              <a:t>IR = Inverted Repeat = palindrome</a:t>
            </a:r>
            <a:endParaRPr lang="en-US" sz="2500" b="1" dirty="0">
              <a:latin typeface="Franklin Gothic Medium" panose="020B0603020102020204" pitchFamily="34" charset="0"/>
              <a:cs typeface="Aharoni" panose="02010803020104030203" pitchFamily="2" charset="-79"/>
            </a:endParaRPr>
          </a:p>
        </p:txBody>
      </p:sp>
      <p:sp>
        <p:nvSpPr>
          <p:cNvPr id="9" name="TextBox 8">
            <a:extLst>
              <a:ext uri="{FF2B5EF4-FFF2-40B4-BE49-F238E27FC236}">
                <a16:creationId xmlns:a16="http://schemas.microsoft.com/office/drawing/2014/main" id="{8D18CAE1-12DD-733D-A5D4-795D347EA5DF}"/>
              </a:ext>
            </a:extLst>
          </p:cNvPr>
          <p:cNvSpPr txBox="1"/>
          <p:nvPr/>
        </p:nvSpPr>
        <p:spPr>
          <a:xfrm>
            <a:off x="269933" y="3111956"/>
            <a:ext cx="2204326" cy="369332"/>
          </a:xfrm>
          <a:prstGeom prst="rect">
            <a:avLst/>
          </a:prstGeom>
          <a:noFill/>
        </p:spPr>
        <p:txBody>
          <a:bodyPr wrap="square">
            <a:spAutoFit/>
          </a:bodyPr>
          <a:lstStyle/>
          <a:p>
            <a:r>
              <a:rPr lang="en-US" b="1" dirty="0"/>
              <a:t>(RNA polymerase)</a:t>
            </a:r>
          </a:p>
        </p:txBody>
      </p:sp>
      <p:sp>
        <p:nvSpPr>
          <p:cNvPr id="10" name="TextBox 9">
            <a:extLst>
              <a:ext uri="{FF2B5EF4-FFF2-40B4-BE49-F238E27FC236}">
                <a16:creationId xmlns:a16="http://schemas.microsoft.com/office/drawing/2014/main" id="{8C583964-DFBC-3BB1-18C2-DC1F6AC07C1E}"/>
              </a:ext>
            </a:extLst>
          </p:cNvPr>
          <p:cNvSpPr txBox="1"/>
          <p:nvPr/>
        </p:nvSpPr>
        <p:spPr>
          <a:xfrm>
            <a:off x="452424" y="4591422"/>
            <a:ext cx="2204326" cy="369332"/>
          </a:xfrm>
          <a:prstGeom prst="rect">
            <a:avLst/>
          </a:prstGeom>
          <a:noFill/>
        </p:spPr>
        <p:txBody>
          <a:bodyPr wrap="square">
            <a:spAutoFit/>
          </a:bodyPr>
          <a:lstStyle/>
          <a:p>
            <a:pPr algn="ctr"/>
            <a:r>
              <a:rPr lang="en-US" b="1" dirty="0"/>
              <a:t>(ribosomes)</a:t>
            </a:r>
          </a:p>
        </p:txBody>
      </p:sp>
      <p:pic>
        <p:nvPicPr>
          <p:cNvPr id="6" name="Picture 5">
            <a:extLst>
              <a:ext uri="{FF2B5EF4-FFF2-40B4-BE49-F238E27FC236}">
                <a16:creationId xmlns:a16="http://schemas.microsoft.com/office/drawing/2014/main" id="{D5AFE46E-F5A3-88D7-EEE6-7B1799208A59}"/>
              </a:ext>
            </a:extLst>
          </p:cNvPr>
          <p:cNvPicPr>
            <a:picLocks noChangeAspect="1"/>
          </p:cNvPicPr>
          <p:nvPr/>
        </p:nvPicPr>
        <p:blipFill>
          <a:blip r:embed="rId4"/>
          <a:srcRect l="3302" t="-784" b="1"/>
          <a:stretch>
            <a:fillRect/>
          </a:stretch>
        </p:blipFill>
        <p:spPr>
          <a:xfrm>
            <a:off x="2845901" y="1205629"/>
            <a:ext cx="2333328" cy="883164"/>
          </a:xfrm>
          <a:prstGeom prst="rect">
            <a:avLst/>
          </a:prstGeom>
        </p:spPr>
      </p:pic>
    </p:spTree>
    <p:extLst>
      <p:ext uri="{BB962C8B-B14F-4D97-AF65-F5344CB8AC3E}">
        <p14:creationId xmlns:p14="http://schemas.microsoft.com/office/powerpoint/2010/main" val="334583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ACEF7-86B0-F7D2-41FF-D0F168D7C0CC}"/>
              </a:ext>
            </a:extLst>
          </p:cNvPr>
          <p:cNvSpPr>
            <a:spLocks noGrp="1"/>
          </p:cNvSpPr>
          <p:nvPr>
            <p:ph type="title"/>
          </p:nvPr>
        </p:nvSpPr>
        <p:spPr>
          <a:xfrm>
            <a:off x="467499" y="278629"/>
            <a:ext cx="10515600" cy="1325563"/>
          </a:xfrm>
        </p:spPr>
        <p:txBody>
          <a:bodyPr>
            <a:normAutofit/>
          </a:bodyPr>
          <a:lstStyle/>
          <a:p>
            <a:r>
              <a:rPr lang="en-US" sz="6000" dirty="0">
                <a:latin typeface="Forma DJR Banner Light" pitchFamily="2" charset="77"/>
              </a:rPr>
              <a:t>Why do we care about finding motifs?</a:t>
            </a:r>
          </a:p>
        </p:txBody>
      </p:sp>
      <p:sp>
        <p:nvSpPr>
          <p:cNvPr id="3" name="Content Placeholder 2">
            <a:extLst>
              <a:ext uri="{FF2B5EF4-FFF2-40B4-BE49-F238E27FC236}">
                <a16:creationId xmlns:a16="http://schemas.microsoft.com/office/drawing/2014/main" id="{4880F5DD-09FC-043C-2D1E-4BEC18B751A2}"/>
              </a:ext>
            </a:extLst>
          </p:cNvPr>
          <p:cNvSpPr>
            <a:spLocks noGrp="1"/>
          </p:cNvSpPr>
          <p:nvPr>
            <p:ph idx="1"/>
          </p:nvPr>
        </p:nvSpPr>
        <p:spPr/>
        <p:txBody>
          <a:bodyPr>
            <a:normAutofit/>
          </a:bodyPr>
          <a:lstStyle/>
          <a:p>
            <a:pPr marL="0" indent="0" algn="ctr">
              <a:buNone/>
            </a:pPr>
            <a:r>
              <a:rPr lang="en-US" sz="4000" dirty="0">
                <a:latin typeface="Franklin Gothic Medium" panose="020B0603020102020204" pitchFamily="34" charset="0"/>
                <a:cs typeface="Aharoni" panose="02010803020104030203" pitchFamily="2" charset="-79"/>
              </a:rPr>
              <a:t>Motifs 🤝 TFs 🤝 Gene expression!</a:t>
            </a:r>
          </a:p>
          <a:p>
            <a:pPr marL="0" indent="0">
              <a:buNone/>
            </a:pPr>
            <a:endParaRPr lang="en-US" dirty="0">
              <a:latin typeface="Franklin Gothic Medium" panose="020B0603020102020204" pitchFamily="34" charset="0"/>
              <a:cs typeface="Aharoni" panose="02010803020104030203" pitchFamily="2" charset="-79"/>
            </a:endParaRPr>
          </a:p>
          <a:p>
            <a:pPr marL="0" indent="0">
              <a:buNone/>
            </a:pPr>
            <a:r>
              <a:rPr lang="en-US" dirty="0">
                <a:latin typeface="Franklin Gothic Medium" panose="020B0603020102020204" pitchFamily="34" charset="0"/>
                <a:cs typeface="Aharoni" panose="02010803020104030203" pitchFamily="2" charset="-79"/>
              </a:rPr>
              <a:t>Motifs tell us where and how TFs bind to the genome; useful for:</a:t>
            </a:r>
          </a:p>
          <a:p>
            <a:r>
              <a:rPr lang="en-US" dirty="0">
                <a:latin typeface="Franklin Gothic Medium" panose="020B0603020102020204" pitchFamily="34" charset="0"/>
                <a:cs typeface="Aharoni" panose="02010803020104030203" pitchFamily="2" charset="-79"/>
              </a:rPr>
              <a:t>Chronic genetic diseases</a:t>
            </a:r>
          </a:p>
          <a:p>
            <a:r>
              <a:rPr lang="en-US" dirty="0">
                <a:latin typeface="Franklin Gothic Medium" panose="020B0603020102020204" pitchFamily="34" charset="0"/>
                <a:cs typeface="Aharoni" panose="02010803020104030203" pitchFamily="2" charset="-79"/>
              </a:rPr>
              <a:t>Targeted drug design</a:t>
            </a:r>
          </a:p>
          <a:p>
            <a:r>
              <a:rPr lang="en-US" dirty="0">
                <a:latin typeface="Franklin Gothic Medium" panose="020B0603020102020204" pitchFamily="34" charset="0"/>
                <a:cs typeface="Aharoni" panose="02010803020104030203" pitchFamily="2" charset="-79"/>
              </a:rPr>
              <a:t>Toxicity prediction of peptides and proteins</a:t>
            </a:r>
          </a:p>
          <a:p>
            <a:endParaRPr lang="en-US" dirty="0">
              <a:latin typeface="Franklin Gothic Medium" panose="020B0603020102020204" pitchFamily="34" charset="0"/>
              <a:cs typeface="Aharoni" panose="02010803020104030203" pitchFamily="2" charset="-79"/>
            </a:endParaRPr>
          </a:p>
        </p:txBody>
      </p:sp>
    </p:spTree>
    <p:extLst>
      <p:ext uri="{BB962C8B-B14F-4D97-AF65-F5344CB8AC3E}">
        <p14:creationId xmlns:p14="http://schemas.microsoft.com/office/powerpoint/2010/main" val="1625663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D3C03-117E-CB88-9DA6-8F1FD0CCFDA6}"/>
              </a:ext>
            </a:extLst>
          </p:cNvPr>
          <p:cNvSpPr>
            <a:spLocks noGrp="1"/>
          </p:cNvSpPr>
          <p:nvPr>
            <p:ph type="title"/>
          </p:nvPr>
        </p:nvSpPr>
        <p:spPr>
          <a:xfrm>
            <a:off x="521955" y="366887"/>
            <a:ext cx="10515600" cy="1325563"/>
          </a:xfrm>
        </p:spPr>
        <p:txBody>
          <a:bodyPr anchor="ctr">
            <a:normAutofit/>
          </a:bodyPr>
          <a:lstStyle/>
          <a:p>
            <a:r>
              <a:rPr lang="en-US" sz="6000" dirty="0">
                <a:latin typeface="Forma DJR Banner Light" pitchFamily="2" charset="77"/>
              </a:rPr>
              <a:t>State of the Art in Motif Discovery</a:t>
            </a:r>
          </a:p>
        </p:txBody>
      </p:sp>
      <p:sp>
        <p:nvSpPr>
          <p:cNvPr id="8" name="TextBox 7">
            <a:extLst>
              <a:ext uri="{FF2B5EF4-FFF2-40B4-BE49-F238E27FC236}">
                <a16:creationId xmlns:a16="http://schemas.microsoft.com/office/drawing/2014/main" id="{701A08CF-EE34-ABD2-F576-B1C5D808A2A8}"/>
              </a:ext>
            </a:extLst>
          </p:cNvPr>
          <p:cNvSpPr txBox="1"/>
          <p:nvPr/>
        </p:nvSpPr>
        <p:spPr>
          <a:xfrm>
            <a:off x="626887" y="1527559"/>
            <a:ext cx="11413220" cy="3554819"/>
          </a:xfrm>
          <a:prstGeom prst="rect">
            <a:avLst/>
          </a:prstGeom>
          <a:noFill/>
        </p:spPr>
        <p:txBody>
          <a:bodyPr wrap="square" rtlCol="0">
            <a:spAutoFit/>
          </a:bodyPr>
          <a:lstStyle/>
          <a:p>
            <a:pPr marL="285749" indent="-285749">
              <a:buFont typeface="Arial" panose="020B0604020202020204" pitchFamily="34" charset="0"/>
              <a:buChar char="•"/>
            </a:pPr>
            <a:r>
              <a:rPr lang="en-US" sz="2500" b="1" u="sng" dirty="0">
                <a:latin typeface="Franklin Gothic Medium" panose="020B0603020102020204" pitchFamily="34" charset="0"/>
                <a:cs typeface="Aharoni" panose="02010803020104030203" pitchFamily="2" charset="-79"/>
              </a:rPr>
              <a:t>Word-based</a:t>
            </a:r>
            <a:r>
              <a:rPr lang="en-US" sz="2500" dirty="0">
                <a:latin typeface="Franklin Gothic Medium" panose="020B0603020102020204" pitchFamily="34" charset="0"/>
                <a:cs typeface="Aharoni" panose="02010803020104030203" pitchFamily="2" charset="-79"/>
              </a:rPr>
              <a:t>: dictionary and graph theory</a:t>
            </a:r>
            <a:endParaRPr lang="en-US" sz="2500" b="1" u="sng" dirty="0">
              <a:latin typeface="Franklin Gothic Medium" panose="020B0603020102020204" pitchFamily="34" charset="0"/>
              <a:cs typeface="Aharoni" panose="02010803020104030203" pitchFamily="2" charset="-79"/>
            </a:endParaRPr>
          </a:p>
          <a:p>
            <a:pPr marL="285749" indent="-285749">
              <a:buFont typeface="Arial" panose="020B0604020202020204" pitchFamily="34" charset="0"/>
              <a:buChar char="•"/>
            </a:pPr>
            <a:r>
              <a:rPr lang="en-US" sz="2500" b="1" u="sng" dirty="0">
                <a:latin typeface="Franklin Gothic Medium" panose="020B0603020102020204" pitchFamily="34" charset="0"/>
                <a:cs typeface="Aharoni" panose="02010803020104030203" pitchFamily="2" charset="-79"/>
              </a:rPr>
              <a:t>Greedy:</a:t>
            </a:r>
            <a:r>
              <a:rPr lang="en-US" sz="2500" dirty="0">
                <a:latin typeface="Franklin Gothic Medium" panose="020B0603020102020204" pitchFamily="34" charset="0"/>
                <a:cs typeface="Aharoni" panose="02010803020104030203" pitchFamily="2" charset="-79"/>
              </a:rPr>
              <a:t> iteratively maximize some consensus metric </a:t>
            </a:r>
          </a:p>
          <a:p>
            <a:pPr marL="285749" indent="-285749">
              <a:buFont typeface="Arial" panose="020B0604020202020204" pitchFamily="34" charset="0"/>
              <a:buChar char="•"/>
            </a:pPr>
            <a:r>
              <a:rPr lang="en-US" sz="2500" b="1" u="sng" dirty="0">
                <a:latin typeface="Franklin Gothic Medium" panose="020B0603020102020204" pitchFamily="34" charset="0"/>
                <a:cs typeface="Aharoni" panose="02010803020104030203" pitchFamily="2" charset="-79"/>
              </a:rPr>
              <a:t>Probabilistic:</a:t>
            </a:r>
            <a:r>
              <a:rPr lang="en-US" sz="2500" dirty="0">
                <a:latin typeface="Franklin Gothic Medium" panose="020B0603020102020204" pitchFamily="34" charset="0"/>
                <a:cs typeface="Aharoni" panose="02010803020104030203" pitchFamily="2" charset="-79"/>
              </a:rPr>
              <a:t> Expectation maximization, e.g., MEME</a:t>
            </a:r>
          </a:p>
          <a:p>
            <a:pPr marL="285749" indent="-285749">
              <a:buFont typeface="Arial" panose="020B0604020202020204" pitchFamily="34" charset="0"/>
              <a:buChar char="•"/>
            </a:pPr>
            <a:r>
              <a:rPr lang="en-US" sz="2500" b="1" u="sng" dirty="0">
                <a:latin typeface="Franklin Gothic Medium" panose="020B0603020102020204" pitchFamily="34" charset="0"/>
                <a:cs typeface="Aharoni" panose="02010803020104030203" pitchFamily="2" charset="-79"/>
              </a:rPr>
              <a:t>ML/DL:</a:t>
            </a:r>
            <a:r>
              <a:rPr lang="en-US" sz="2500" dirty="0">
                <a:latin typeface="Franklin Gothic Medium" panose="020B0603020102020204" pitchFamily="34" charset="0"/>
                <a:cs typeface="Aharoni" panose="02010803020104030203" pitchFamily="2" charset="-79"/>
              </a:rPr>
              <a:t>  LSTM (Long Short-Term Memory), time series, and deep learning, e.g. DESSO</a:t>
            </a:r>
          </a:p>
          <a:p>
            <a:r>
              <a:rPr lang="en-US" sz="2500" dirty="0">
                <a:latin typeface="Franklin Gothic Medium" panose="020B0603020102020204" pitchFamily="34" charset="0"/>
                <a:cs typeface="Aharoni" panose="02010803020104030203" pitchFamily="2" charset="-79"/>
              </a:rPr>
              <a:t> </a:t>
            </a:r>
          </a:p>
          <a:p>
            <a:pPr marL="285749" indent="-285749">
              <a:buFont typeface="Arial" panose="020B0604020202020204" pitchFamily="34" charset="0"/>
              <a:buChar char="•"/>
            </a:pPr>
            <a:r>
              <a:rPr lang="en-US" sz="2500" b="1" u="sng" dirty="0">
                <a:latin typeface="Franklin Gothic Medium" panose="020B0603020102020204" pitchFamily="34" charset="0"/>
                <a:cs typeface="Aharoni" panose="02010803020104030203" pitchFamily="2" charset="-79"/>
              </a:rPr>
              <a:t>We are not</a:t>
            </a:r>
            <a:r>
              <a:rPr lang="en-US" sz="2500" b="1" i="1" u="sng" dirty="0">
                <a:latin typeface="Franklin Gothic Medium" panose="020B0603020102020204" pitchFamily="34" charset="0"/>
                <a:cs typeface="Aharoni" panose="02010803020104030203" pitchFamily="2" charset="-79"/>
              </a:rPr>
              <a:t> </a:t>
            </a:r>
            <a:r>
              <a:rPr lang="en-US" sz="2500" b="1" u="sng" dirty="0">
                <a:latin typeface="Franklin Gothic Medium" panose="020B0603020102020204" pitchFamily="34" charset="0"/>
                <a:cs typeface="Aharoni" panose="02010803020104030203" pitchFamily="2" charset="-79"/>
              </a:rPr>
              <a:t>creating a new discovery method.</a:t>
            </a:r>
            <a:r>
              <a:rPr lang="en-US" sz="2500" b="1" dirty="0">
                <a:latin typeface="Franklin Gothic Medium" panose="020B0603020102020204" pitchFamily="34" charset="0"/>
                <a:cs typeface="Aharoni" panose="02010803020104030203" pitchFamily="2" charset="-79"/>
              </a:rPr>
              <a:t> </a:t>
            </a:r>
            <a:r>
              <a:rPr lang="en-US" sz="2500" b="1" dirty="0">
                <a:latin typeface="Franklin Gothic Medium" panose="020B0603020102020204" pitchFamily="34" charset="0"/>
                <a:cs typeface="Aharoni" panose="02010803020104030203" pitchFamily="2" charset="-79"/>
                <a:sym typeface="Wingdings" pitchFamily="2" charset="2"/>
              </a:rPr>
              <a:t> </a:t>
            </a:r>
            <a:r>
              <a:rPr lang="en-US" sz="2500" b="1" dirty="0">
                <a:solidFill>
                  <a:schemeClr val="accent4"/>
                </a:solidFill>
                <a:latin typeface="Franklin Gothic Medium" panose="020B0603020102020204" pitchFamily="34" charset="0"/>
                <a:cs typeface="Aharoni" panose="02010803020104030203" pitchFamily="2" charset="-79"/>
                <a:sym typeface="Wingdings" pitchFamily="2" charset="2"/>
              </a:rPr>
              <a:t>new </a:t>
            </a:r>
            <a:r>
              <a:rPr lang="en-US" sz="2500" b="1" dirty="0">
                <a:solidFill>
                  <a:schemeClr val="accent4"/>
                </a:solidFill>
                <a:latin typeface="Franklin Gothic Medium" panose="020B0603020102020204" pitchFamily="34" charset="0"/>
                <a:cs typeface="Aharoni" panose="02010803020104030203" pitchFamily="2" charset="-79"/>
              </a:rPr>
              <a:t>technique to evaluate results</a:t>
            </a:r>
          </a:p>
          <a:p>
            <a:endParaRPr lang="en-US" sz="2500" b="1" u="sng" dirty="0">
              <a:latin typeface="Franklin Gothic Medium" panose="020B0603020102020204" pitchFamily="34" charset="0"/>
              <a:cs typeface="Aharoni" panose="02010803020104030203" pitchFamily="2" charset="-79"/>
            </a:endParaRPr>
          </a:p>
        </p:txBody>
      </p:sp>
    </p:spTree>
    <p:extLst>
      <p:ext uri="{BB962C8B-B14F-4D97-AF65-F5344CB8AC3E}">
        <p14:creationId xmlns:p14="http://schemas.microsoft.com/office/powerpoint/2010/main" val="1013531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8A9BB-D9E2-C618-C7C5-E0F5E2724022}"/>
              </a:ext>
            </a:extLst>
          </p:cNvPr>
          <p:cNvSpPr>
            <a:spLocks noGrp="1"/>
          </p:cNvSpPr>
          <p:nvPr>
            <p:ph type="title"/>
          </p:nvPr>
        </p:nvSpPr>
        <p:spPr>
          <a:xfrm>
            <a:off x="325246" y="62654"/>
            <a:ext cx="10515600" cy="1325563"/>
          </a:xfrm>
        </p:spPr>
        <p:txBody>
          <a:bodyPr>
            <a:normAutofit/>
          </a:bodyPr>
          <a:lstStyle/>
          <a:p>
            <a:r>
              <a:rPr lang="en-US" sz="6000" dirty="0">
                <a:latin typeface="Forma DJR Banner Light" pitchFamily="2" charset="77"/>
              </a:rPr>
              <a:t>The Problem</a:t>
            </a:r>
          </a:p>
        </p:txBody>
      </p:sp>
      <p:pic>
        <p:nvPicPr>
          <p:cNvPr id="4" name="Picture 3">
            <a:extLst>
              <a:ext uri="{FF2B5EF4-FFF2-40B4-BE49-F238E27FC236}">
                <a16:creationId xmlns:a16="http://schemas.microsoft.com/office/drawing/2014/main" id="{AB05DB1A-F989-3396-1759-1F7B104E2207}"/>
              </a:ext>
            </a:extLst>
          </p:cNvPr>
          <p:cNvPicPr>
            <a:picLocks noChangeAspect="1"/>
          </p:cNvPicPr>
          <p:nvPr/>
        </p:nvPicPr>
        <p:blipFill>
          <a:blip r:embed="rId3"/>
          <a:srcRect r="27970"/>
          <a:stretch>
            <a:fillRect/>
          </a:stretch>
        </p:blipFill>
        <p:spPr>
          <a:xfrm>
            <a:off x="5954747" y="493969"/>
            <a:ext cx="5770407" cy="6078925"/>
          </a:xfrm>
          <a:prstGeom prst="rect">
            <a:avLst/>
          </a:prstGeom>
        </p:spPr>
      </p:pic>
      <p:sp>
        <p:nvSpPr>
          <p:cNvPr id="5" name="TextBox 4">
            <a:extLst>
              <a:ext uri="{FF2B5EF4-FFF2-40B4-BE49-F238E27FC236}">
                <a16:creationId xmlns:a16="http://schemas.microsoft.com/office/drawing/2014/main" id="{C2FD038F-1B61-E7E2-5E6D-889EF1944DC1}"/>
              </a:ext>
            </a:extLst>
          </p:cNvPr>
          <p:cNvSpPr txBox="1"/>
          <p:nvPr/>
        </p:nvSpPr>
        <p:spPr>
          <a:xfrm>
            <a:off x="325246" y="1807826"/>
            <a:ext cx="5629501" cy="3939540"/>
          </a:xfrm>
          <a:prstGeom prst="rect">
            <a:avLst/>
          </a:prstGeom>
          <a:noFill/>
        </p:spPr>
        <p:txBody>
          <a:bodyPr wrap="square" rtlCol="0">
            <a:spAutoFit/>
          </a:bodyPr>
          <a:lstStyle/>
          <a:p>
            <a:pPr marL="285749" indent="-285749">
              <a:buFont typeface="Arial" panose="020B0604020202020204" pitchFamily="34" charset="0"/>
              <a:buChar char="•"/>
            </a:pPr>
            <a:r>
              <a:rPr lang="en-US" sz="2500" dirty="0">
                <a:solidFill>
                  <a:srgbClr val="00B0F0"/>
                </a:solidFill>
                <a:latin typeface="Franklin Gothic Medium" panose="020B0603020102020204" pitchFamily="34" charset="0"/>
                <a:cs typeface="Aharoni" panose="02010803020104030203" pitchFamily="2" charset="-79"/>
              </a:rPr>
              <a:t>How do we know if a search result is likely a real, active motif?</a:t>
            </a:r>
          </a:p>
          <a:p>
            <a:endParaRPr lang="en-US" sz="2500" dirty="0">
              <a:solidFill>
                <a:srgbClr val="00B0F0"/>
              </a:solidFill>
              <a:latin typeface="Franklin Gothic Medium" panose="020B0603020102020204" pitchFamily="34" charset="0"/>
              <a:cs typeface="Aharoni" panose="02010803020104030203" pitchFamily="2" charset="-79"/>
            </a:endParaRPr>
          </a:p>
          <a:p>
            <a:pPr marL="285749" indent="-285749">
              <a:buFont typeface="Arial" panose="020B0604020202020204" pitchFamily="34" charset="0"/>
              <a:buChar char="•"/>
            </a:pPr>
            <a:r>
              <a:rPr lang="en-US" sz="2500" dirty="0">
                <a:latin typeface="Franklin Gothic Medium" panose="020B0603020102020204" pitchFamily="34" charset="0"/>
                <a:cs typeface="Aharoni" panose="02010803020104030203" pitchFamily="2" charset="-79"/>
              </a:rPr>
              <a:t>Discovery methods return motif candidates, but we need ways to evaluate quality and curate</a:t>
            </a:r>
          </a:p>
          <a:p>
            <a:pPr marL="285749" indent="-285749">
              <a:buFont typeface="Arial" panose="020B0604020202020204" pitchFamily="34" charset="0"/>
              <a:buChar char="•"/>
            </a:pPr>
            <a:endParaRPr lang="en-US" sz="2500" dirty="0">
              <a:latin typeface="Franklin Gothic Medium" panose="020B0603020102020204" pitchFamily="34" charset="0"/>
              <a:cs typeface="Aharoni" panose="02010803020104030203" pitchFamily="2" charset="-79"/>
            </a:endParaRPr>
          </a:p>
          <a:p>
            <a:pPr marL="285749" indent="-285749">
              <a:buFont typeface="Arial" panose="020B0604020202020204" pitchFamily="34" charset="0"/>
              <a:buChar char="•"/>
            </a:pPr>
            <a:r>
              <a:rPr lang="en-US" sz="2500" dirty="0">
                <a:latin typeface="Franklin Gothic Medium" panose="020B0603020102020204" pitchFamily="34" charset="0"/>
                <a:cs typeface="Aharoni" panose="02010803020104030203" pitchFamily="2" charset="-79"/>
              </a:rPr>
              <a:t>MEME’s E-value doesn’t tell us about biological validity</a:t>
            </a:r>
          </a:p>
          <a:p>
            <a:endParaRPr lang="en-US" sz="2500" dirty="0">
              <a:latin typeface="Franklin Gothic Medium" panose="020B0603020102020204" pitchFamily="34" charset="0"/>
              <a:cs typeface="Aharoni" panose="02010803020104030203" pitchFamily="2" charset="-79"/>
            </a:endParaRPr>
          </a:p>
        </p:txBody>
      </p:sp>
    </p:spTree>
    <p:extLst>
      <p:ext uri="{BB962C8B-B14F-4D97-AF65-F5344CB8AC3E}">
        <p14:creationId xmlns:p14="http://schemas.microsoft.com/office/powerpoint/2010/main" val="1295253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4AD45DE-6C40-CC1C-94B6-BA70B0745805}"/>
              </a:ext>
            </a:extLst>
          </p:cNvPr>
          <p:cNvPicPr>
            <a:picLocks noChangeAspect="1"/>
          </p:cNvPicPr>
          <p:nvPr/>
        </p:nvPicPr>
        <p:blipFill>
          <a:blip r:embed="rId3"/>
          <a:stretch>
            <a:fillRect/>
          </a:stretch>
        </p:blipFill>
        <p:spPr>
          <a:xfrm>
            <a:off x="6585020" y="3112697"/>
            <a:ext cx="4846529" cy="3577419"/>
          </a:xfrm>
          <a:prstGeom prst="rect">
            <a:avLst/>
          </a:prstGeom>
        </p:spPr>
      </p:pic>
      <p:sp>
        <p:nvSpPr>
          <p:cNvPr id="6" name="Title 1">
            <a:extLst>
              <a:ext uri="{FF2B5EF4-FFF2-40B4-BE49-F238E27FC236}">
                <a16:creationId xmlns:a16="http://schemas.microsoft.com/office/drawing/2014/main" id="{E5E29033-D605-DDEE-0E11-7CA675B92D3B}"/>
              </a:ext>
            </a:extLst>
          </p:cNvPr>
          <p:cNvSpPr>
            <a:spLocks noGrp="1"/>
          </p:cNvSpPr>
          <p:nvPr>
            <p:ph type="title"/>
          </p:nvPr>
        </p:nvSpPr>
        <p:spPr>
          <a:xfrm>
            <a:off x="523013" y="167884"/>
            <a:ext cx="11145973" cy="1216717"/>
          </a:xfrm>
        </p:spPr>
        <p:txBody>
          <a:bodyPr>
            <a:noAutofit/>
          </a:bodyPr>
          <a:lstStyle/>
          <a:p>
            <a:r>
              <a:rPr lang="en-US" sz="5000" dirty="0">
                <a:latin typeface="Forma DJR Banner Light" pitchFamily="2" charset="77"/>
              </a:rPr>
              <a:t>Solution: Find Direct and Palindromic  Repeats</a:t>
            </a:r>
          </a:p>
        </p:txBody>
      </p:sp>
      <p:pic>
        <p:nvPicPr>
          <p:cNvPr id="13" name="Picture 12">
            <a:extLst>
              <a:ext uri="{FF2B5EF4-FFF2-40B4-BE49-F238E27FC236}">
                <a16:creationId xmlns:a16="http://schemas.microsoft.com/office/drawing/2014/main" id="{C06CAC12-55A5-9A69-7F9A-4EBA4448C8C7}"/>
              </a:ext>
            </a:extLst>
          </p:cNvPr>
          <p:cNvPicPr>
            <a:picLocks noChangeAspect="1"/>
          </p:cNvPicPr>
          <p:nvPr/>
        </p:nvPicPr>
        <p:blipFill>
          <a:blip r:embed="rId4"/>
          <a:stretch>
            <a:fillRect/>
          </a:stretch>
        </p:blipFill>
        <p:spPr>
          <a:xfrm>
            <a:off x="573610" y="5043341"/>
            <a:ext cx="4726258" cy="1548021"/>
          </a:xfrm>
          <a:prstGeom prst="rect">
            <a:avLst/>
          </a:prstGeom>
        </p:spPr>
      </p:pic>
      <p:sp>
        <p:nvSpPr>
          <p:cNvPr id="19" name="TextBox 18">
            <a:extLst>
              <a:ext uri="{FF2B5EF4-FFF2-40B4-BE49-F238E27FC236}">
                <a16:creationId xmlns:a16="http://schemas.microsoft.com/office/drawing/2014/main" id="{E07400E9-A72F-CA19-B79B-02FB8F4437C7}"/>
              </a:ext>
            </a:extLst>
          </p:cNvPr>
          <p:cNvSpPr txBox="1"/>
          <p:nvPr/>
        </p:nvSpPr>
        <p:spPr>
          <a:xfrm>
            <a:off x="780692" y="1311263"/>
            <a:ext cx="10377108" cy="2215991"/>
          </a:xfrm>
          <a:prstGeom prst="rect">
            <a:avLst/>
          </a:prstGeom>
          <a:noFill/>
        </p:spPr>
        <p:txBody>
          <a:bodyPr wrap="square">
            <a:spAutoFit/>
          </a:bodyPr>
          <a:lstStyle/>
          <a:p>
            <a:pPr marL="285750" indent="-285750">
              <a:buFont typeface="Arial" panose="020B0604020202020204" pitchFamily="34" charset="0"/>
              <a:buChar char="•"/>
            </a:pPr>
            <a:r>
              <a:rPr lang="en-US" sz="2300" u="sng" dirty="0">
                <a:solidFill>
                  <a:schemeClr val="accent4"/>
                </a:solidFill>
                <a:latin typeface="Franklin Gothic Medium" panose="020B0603020102020204" pitchFamily="34" charset="0"/>
                <a:cs typeface="Aharoni" panose="02010803020104030203" pitchFamily="2" charset="-79"/>
              </a:rPr>
              <a:t>Common in Bacterial TF motifs – useful for refining search.</a:t>
            </a:r>
            <a:endParaRPr lang="en-US" sz="2300" u="sng" dirty="0">
              <a:latin typeface="Franklin Gothic Medium" panose="020B0603020102020204" pitchFamily="34" charset="0"/>
              <a:cs typeface="Aharoni" panose="02010803020104030203" pitchFamily="2" charset="-79"/>
            </a:endParaRPr>
          </a:p>
          <a:p>
            <a:pPr marL="285750" indent="-285750">
              <a:buFont typeface="Arial" panose="020B0604020202020204" pitchFamily="34" charset="0"/>
              <a:buChar char="•"/>
            </a:pPr>
            <a:r>
              <a:rPr lang="en-US" sz="2300" dirty="0">
                <a:latin typeface="Franklin Gothic Medium" panose="020B0603020102020204" pitchFamily="34" charset="0"/>
                <a:cs typeface="Aharoni" panose="02010803020104030203" pitchFamily="2" charset="-79"/>
              </a:rPr>
              <a:t>Direct example: GTCA-GTCA</a:t>
            </a:r>
          </a:p>
          <a:p>
            <a:pPr marL="285750" indent="-285750">
              <a:buFont typeface="Arial" panose="020B0604020202020204" pitchFamily="34" charset="0"/>
              <a:buChar char="•"/>
            </a:pPr>
            <a:r>
              <a:rPr lang="en-US" sz="2300" dirty="0">
                <a:latin typeface="Franklin Gothic Medium" panose="020B0603020102020204" pitchFamily="34" charset="0"/>
                <a:cs typeface="Aharoni" panose="02010803020104030203" pitchFamily="2" charset="-79"/>
              </a:rPr>
              <a:t>Inverted/Palindrome/Reverse complement example: GTCA </a:t>
            </a:r>
            <a:r>
              <a:rPr lang="en-US" sz="2300" dirty="0">
                <a:latin typeface="Franklin Gothic Medium" panose="020B0603020102020204" pitchFamily="34" charset="0"/>
                <a:cs typeface="Aharoni" panose="02010803020104030203" pitchFamily="2" charset="-79"/>
                <a:sym typeface="Wingdings" pitchFamily="2" charset="2"/>
              </a:rPr>
              <a:t> </a:t>
            </a:r>
            <a:r>
              <a:rPr lang="en-US" sz="2300" dirty="0">
                <a:latin typeface="Franklin Gothic Medium" panose="020B0603020102020204" pitchFamily="34" charset="0"/>
                <a:cs typeface="Aharoni" panose="02010803020104030203" pitchFamily="2" charset="-79"/>
              </a:rPr>
              <a:t>TGAC</a:t>
            </a:r>
          </a:p>
          <a:p>
            <a:pPr marL="742950" lvl="1" indent="-285750">
              <a:buFont typeface="Arial" panose="020B0604020202020204" pitchFamily="34" charset="0"/>
              <a:buChar char="•"/>
            </a:pPr>
            <a:r>
              <a:rPr lang="en-US" sz="2300" dirty="0">
                <a:latin typeface="Franklin Gothic Medium" panose="020B0603020102020204" pitchFamily="34" charset="0"/>
                <a:cs typeface="Aharoni" panose="02010803020104030203" pitchFamily="2" charset="-79"/>
              </a:rPr>
              <a:t>A-T, G-C base pairs</a:t>
            </a:r>
          </a:p>
          <a:p>
            <a:pPr marL="285750" indent="-285750">
              <a:buFont typeface="Arial" panose="020B0604020202020204" pitchFamily="34" charset="0"/>
              <a:buChar char="•"/>
            </a:pPr>
            <a:r>
              <a:rPr lang="en-US" sz="2300" dirty="0">
                <a:latin typeface="Franklin Gothic Medium" panose="020B0603020102020204" pitchFamily="34" charset="0"/>
                <a:cs typeface="Aharoni" panose="02010803020104030203" pitchFamily="2" charset="-79"/>
              </a:rPr>
              <a:t>Sequence logos visualize potential motifs across sample sequences</a:t>
            </a:r>
          </a:p>
          <a:p>
            <a:endParaRPr lang="en-US" sz="2300" dirty="0">
              <a:latin typeface="Franklin Gothic Medium" panose="020B0603020102020204" pitchFamily="34" charset="0"/>
              <a:cs typeface="Aharoni" panose="02010803020104030203" pitchFamily="2" charset="-79"/>
            </a:endParaRPr>
          </a:p>
        </p:txBody>
      </p:sp>
      <p:pic>
        <p:nvPicPr>
          <p:cNvPr id="21" name="Picture 20" descr="A diagram of numbers and letters&#10;&#10;AI-generated content may be incorrect.">
            <a:extLst>
              <a:ext uri="{FF2B5EF4-FFF2-40B4-BE49-F238E27FC236}">
                <a16:creationId xmlns:a16="http://schemas.microsoft.com/office/drawing/2014/main" id="{522D7F08-465C-A805-C026-CA9717FA783D}"/>
              </a:ext>
            </a:extLst>
          </p:cNvPr>
          <p:cNvPicPr>
            <a:picLocks noChangeAspect="1"/>
          </p:cNvPicPr>
          <p:nvPr/>
        </p:nvPicPr>
        <p:blipFill>
          <a:blip r:embed="rId5"/>
          <a:stretch>
            <a:fillRect/>
          </a:stretch>
        </p:blipFill>
        <p:spPr>
          <a:xfrm>
            <a:off x="1692456" y="3799376"/>
            <a:ext cx="2488565" cy="1243965"/>
          </a:xfrm>
          <a:prstGeom prst="rect">
            <a:avLst/>
          </a:prstGeom>
        </p:spPr>
      </p:pic>
      <p:sp>
        <p:nvSpPr>
          <p:cNvPr id="3" name="TextBox 2">
            <a:extLst>
              <a:ext uri="{FF2B5EF4-FFF2-40B4-BE49-F238E27FC236}">
                <a16:creationId xmlns:a16="http://schemas.microsoft.com/office/drawing/2014/main" id="{9F36715E-74E3-B923-1F37-585A6DC2DC87}"/>
              </a:ext>
            </a:extLst>
          </p:cNvPr>
          <p:cNvSpPr txBox="1"/>
          <p:nvPr/>
        </p:nvSpPr>
        <p:spPr>
          <a:xfrm>
            <a:off x="10428971" y="6612957"/>
            <a:ext cx="2005157" cy="261610"/>
          </a:xfrm>
          <a:prstGeom prst="rect">
            <a:avLst/>
          </a:prstGeom>
          <a:noFill/>
        </p:spPr>
        <p:txBody>
          <a:bodyPr wrap="square">
            <a:spAutoFit/>
          </a:bodyPr>
          <a:lstStyle/>
          <a:p>
            <a:r>
              <a:rPr lang="en-US" sz="1100" i="1" dirty="0"/>
              <a:t>Tulin et. Al 2023 </a:t>
            </a:r>
            <a:endParaRPr lang="en-US" sz="1100" i="1" dirty="0">
              <a:solidFill>
                <a:schemeClr val="accent4"/>
              </a:solidFill>
            </a:endParaRPr>
          </a:p>
        </p:txBody>
      </p:sp>
    </p:spTree>
    <p:extLst>
      <p:ext uri="{BB962C8B-B14F-4D97-AF65-F5344CB8AC3E}">
        <p14:creationId xmlns:p14="http://schemas.microsoft.com/office/powerpoint/2010/main" val="458050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444B6-BA06-0D9A-662A-A751D255CE23}"/>
              </a:ext>
            </a:extLst>
          </p:cNvPr>
          <p:cNvSpPr>
            <a:spLocks noGrp="1"/>
          </p:cNvSpPr>
          <p:nvPr>
            <p:ph type="title"/>
          </p:nvPr>
        </p:nvSpPr>
        <p:spPr>
          <a:xfrm>
            <a:off x="449895" y="165034"/>
            <a:ext cx="10515600" cy="1325563"/>
          </a:xfrm>
        </p:spPr>
        <p:txBody>
          <a:bodyPr>
            <a:normAutofit/>
          </a:bodyPr>
          <a:lstStyle/>
          <a:p>
            <a:r>
              <a:rPr lang="en-US" sz="6000" dirty="0">
                <a:latin typeface="Forma DJR Banner Light" pitchFamily="2" charset="77"/>
              </a:rPr>
              <a:t>Data Structure &amp; Inputs</a:t>
            </a:r>
          </a:p>
        </p:txBody>
      </p:sp>
      <p:sp>
        <p:nvSpPr>
          <p:cNvPr id="4" name="TextBox 3">
            <a:extLst>
              <a:ext uri="{FF2B5EF4-FFF2-40B4-BE49-F238E27FC236}">
                <a16:creationId xmlns:a16="http://schemas.microsoft.com/office/drawing/2014/main" id="{2F54D23F-DBFF-9942-B825-42F78722A3A4}"/>
              </a:ext>
            </a:extLst>
          </p:cNvPr>
          <p:cNvSpPr txBox="1"/>
          <p:nvPr/>
        </p:nvSpPr>
        <p:spPr>
          <a:xfrm>
            <a:off x="554617" y="1311884"/>
            <a:ext cx="9192633" cy="3785652"/>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CollecTF data, n</a:t>
            </a:r>
            <a:r>
              <a:rPr lang="en-US" sz="2000" dirty="0">
                <a:latin typeface="Franklin Gothic Medium" panose="020B0603020102020204" pitchFamily="34" charset="0"/>
                <a:cs typeface="Consolas" panose="020B0609020204030204" pitchFamily="49" charset="0"/>
              </a:rPr>
              <a:t> </a:t>
            </a:r>
            <a:r>
              <a:rPr lang="en-US" sz="2000" dirty="0">
                <a:latin typeface="Franklin Gothic Medium" panose="020B0603020102020204" pitchFamily="34" charset="0"/>
                <a:cs typeface="Times New Roman" panose="02020603050405020304" pitchFamily="18" charset="0"/>
              </a:rPr>
              <a:t>= </a:t>
            </a:r>
            <a:r>
              <a:rPr lang="en-US" sz="2000" dirty="0">
                <a:latin typeface="Franklin Gothic Medium" panose="020B0603020102020204" pitchFamily="34" charset="0"/>
                <a:cs typeface="Consolas" panose="020B0609020204030204" pitchFamily="49" charset="0"/>
              </a:rPr>
              <a:t>68  </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FNR-CRP, </a:t>
            </a:r>
            <a:r>
              <a:rPr lang="en-US" sz="2000" dirty="0" err="1">
                <a:latin typeface="Franklin Gothic Medium" panose="020B0603020102020204" pitchFamily="34" charset="0"/>
                <a:cs typeface="Aharoni" panose="02010803020104030203" pitchFamily="2" charset="-79"/>
              </a:rPr>
              <a:t>LexA</a:t>
            </a:r>
            <a:r>
              <a:rPr lang="en-US" sz="2000" dirty="0">
                <a:latin typeface="Franklin Gothic Medium" panose="020B0603020102020204" pitchFamily="34" charset="0"/>
                <a:cs typeface="Aharoni" panose="02010803020104030203" pitchFamily="2" charset="-79"/>
              </a:rPr>
              <a:t>, and </a:t>
            </a:r>
            <a:r>
              <a:rPr lang="en-US" sz="2000" dirty="0" err="1">
                <a:latin typeface="Franklin Gothic Medium" panose="020B0603020102020204" pitchFamily="34" charset="0"/>
                <a:cs typeface="Aharoni" panose="02010803020104030203" pitchFamily="2" charset="-79"/>
              </a:rPr>
              <a:t>OmpR</a:t>
            </a:r>
            <a:r>
              <a:rPr lang="en-US" sz="2000" dirty="0">
                <a:latin typeface="Franklin Gothic Medium" panose="020B0603020102020204" pitchFamily="34" charset="0"/>
                <a:cs typeface="Aharoni" panose="02010803020104030203" pitchFamily="2" charset="-79"/>
              </a:rPr>
              <a:t> bacterial TF families</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Species with well-studied motifs</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Manually labeled DR / IR</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.FASTA file format</a:t>
            </a:r>
          </a:p>
          <a:p>
            <a:pPr lvl="1"/>
            <a:endParaRPr lang="en-US" sz="2000" dirty="0">
              <a:latin typeface="Franklin Gothic Medium" panose="020B0603020102020204" pitchFamily="34" charset="0"/>
              <a:cs typeface="Aharoni" panose="02010803020104030203" pitchFamily="2" charset="-79"/>
            </a:endParaRPr>
          </a:p>
          <a:p>
            <a:pPr marL="285750"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MEME outputs, n</a:t>
            </a:r>
            <a:r>
              <a:rPr lang="en-US" sz="2000" dirty="0">
                <a:latin typeface="Franklin Gothic Medium" panose="020B0603020102020204" pitchFamily="34" charset="0"/>
                <a:cs typeface="Consolas" panose="020B0609020204030204" pitchFamily="49" charset="0"/>
              </a:rPr>
              <a:t> </a:t>
            </a:r>
            <a:r>
              <a:rPr lang="en-US" sz="2000" dirty="0">
                <a:latin typeface="Franklin Gothic Medium" panose="020B0603020102020204" pitchFamily="34" charset="0"/>
                <a:cs typeface="Times New Roman" panose="02020603050405020304" pitchFamily="18" charset="0"/>
              </a:rPr>
              <a:t>= 40</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4 searches with 10 candidates each, labeled DR / IR / none</a:t>
            </a:r>
          </a:p>
          <a:p>
            <a:pPr marL="742950" lvl="1" indent="-285750">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“Test set”: no information on TF family, reflects real-world search workflow </a:t>
            </a:r>
          </a:p>
          <a:p>
            <a:pPr lvl="1"/>
            <a:endParaRPr lang="en-US" sz="2000" dirty="0">
              <a:latin typeface="Franklin Gothic Medium" panose="020B0603020102020204" pitchFamily="34" charset="0"/>
              <a:cs typeface="Aharoni" panose="02010803020104030203" pitchFamily="2" charset="-79"/>
            </a:endParaRPr>
          </a:p>
          <a:p>
            <a:endParaRPr lang="en-US" sz="2000" u="sng" dirty="0">
              <a:latin typeface="Franklin Gothic Medium" panose="020B0603020102020204" pitchFamily="34" charset="0"/>
              <a:cs typeface="Aharoni" panose="02010803020104030203" pitchFamily="2" charset="-79"/>
            </a:endParaRPr>
          </a:p>
          <a:p>
            <a:endParaRPr lang="en-US" sz="2000" u="sng" dirty="0">
              <a:latin typeface="Franklin Gothic Medium" panose="020B0603020102020204" pitchFamily="34" charset="0"/>
              <a:cs typeface="Aharoni" panose="02010803020104030203" pitchFamily="2" charset="-79"/>
            </a:endParaRPr>
          </a:p>
        </p:txBody>
      </p:sp>
      <p:pic>
        <p:nvPicPr>
          <p:cNvPr id="13" name="Picture 12">
            <a:extLst>
              <a:ext uri="{FF2B5EF4-FFF2-40B4-BE49-F238E27FC236}">
                <a16:creationId xmlns:a16="http://schemas.microsoft.com/office/drawing/2014/main" id="{7DE2DE11-6931-4095-6BF2-CB4FDFB3124F}"/>
              </a:ext>
            </a:extLst>
          </p:cNvPr>
          <p:cNvPicPr>
            <a:picLocks noChangeAspect="1"/>
          </p:cNvPicPr>
          <p:nvPr/>
        </p:nvPicPr>
        <p:blipFill>
          <a:blip r:embed="rId3"/>
          <a:stretch>
            <a:fillRect/>
          </a:stretch>
        </p:blipFill>
        <p:spPr>
          <a:xfrm>
            <a:off x="2209800" y="4249364"/>
            <a:ext cx="7772400" cy="858622"/>
          </a:xfrm>
          <a:prstGeom prst="rect">
            <a:avLst/>
          </a:prstGeom>
          <a:ln>
            <a:solidFill>
              <a:schemeClr val="tx1"/>
            </a:solidFill>
          </a:ln>
        </p:spPr>
      </p:pic>
      <p:pic>
        <p:nvPicPr>
          <p:cNvPr id="14" name="Picture 13" descr="A diagram of numbers and letters&#10;&#10;AI-generated content may be incorrect.">
            <a:extLst>
              <a:ext uri="{FF2B5EF4-FFF2-40B4-BE49-F238E27FC236}">
                <a16:creationId xmlns:a16="http://schemas.microsoft.com/office/drawing/2014/main" id="{794E9400-8378-2BC6-49CF-B2B1BA8B04FD}"/>
              </a:ext>
            </a:extLst>
          </p:cNvPr>
          <p:cNvPicPr>
            <a:picLocks noChangeAspect="1"/>
          </p:cNvPicPr>
          <p:nvPr/>
        </p:nvPicPr>
        <p:blipFill>
          <a:blip r:embed="rId4"/>
          <a:stretch>
            <a:fillRect/>
          </a:stretch>
        </p:blipFill>
        <p:spPr>
          <a:xfrm>
            <a:off x="9011992" y="1699794"/>
            <a:ext cx="2651803" cy="1325563"/>
          </a:xfrm>
          <a:prstGeom prst="rect">
            <a:avLst/>
          </a:prstGeom>
        </p:spPr>
      </p:pic>
      <p:pic>
        <p:nvPicPr>
          <p:cNvPr id="3" name="Picture 2">
            <a:extLst>
              <a:ext uri="{FF2B5EF4-FFF2-40B4-BE49-F238E27FC236}">
                <a16:creationId xmlns:a16="http://schemas.microsoft.com/office/drawing/2014/main" id="{67B576CE-777D-3A46-9B48-BB2FC46500DE}"/>
              </a:ext>
            </a:extLst>
          </p:cNvPr>
          <p:cNvPicPr>
            <a:picLocks noChangeAspect="1"/>
          </p:cNvPicPr>
          <p:nvPr/>
        </p:nvPicPr>
        <p:blipFill>
          <a:blip r:embed="rId5"/>
          <a:stretch>
            <a:fillRect/>
          </a:stretch>
        </p:blipFill>
        <p:spPr>
          <a:xfrm>
            <a:off x="2209800" y="5158206"/>
            <a:ext cx="7772400" cy="1593430"/>
          </a:xfrm>
          <a:prstGeom prst="rect">
            <a:avLst/>
          </a:prstGeom>
        </p:spPr>
      </p:pic>
      <p:sp>
        <p:nvSpPr>
          <p:cNvPr id="6" name="TextBox 5">
            <a:extLst>
              <a:ext uri="{FF2B5EF4-FFF2-40B4-BE49-F238E27FC236}">
                <a16:creationId xmlns:a16="http://schemas.microsoft.com/office/drawing/2014/main" id="{4068D3BB-6F00-F396-0363-91D8735CBD15}"/>
              </a:ext>
            </a:extLst>
          </p:cNvPr>
          <p:cNvSpPr txBox="1"/>
          <p:nvPr/>
        </p:nvSpPr>
        <p:spPr>
          <a:xfrm>
            <a:off x="10337893" y="6519094"/>
            <a:ext cx="6096000" cy="307777"/>
          </a:xfrm>
          <a:prstGeom prst="rect">
            <a:avLst/>
          </a:prstGeom>
          <a:noFill/>
        </p:spPr>
        <p:txBody>
          <a:bodyPr wrap="square">
            <a:spAutoFit/>
          </a:bodyPr>
          <a:lstStyle/>
          <a:p>
            <a:r>
              <a:rPr lang="en-US" sz="1400" dirty="0" err="1"/>
              <a:t>Mazón</a:t>
            </a:r>
            <a:r>
              <a:rPr lang="en-US" sz="1400" dirty="0"/>
              <a:t> &amp; </a:t>
            </a:r>
            <a:r>
              <a:rPr lang="en-US" sz="1400" dirty="0" err="1"/>
              <a:t>Erill</a:t>
            </a:r>
            <a:r>
              <a:rPr lang="en-US" sz="1400" dirty="0"/>
              <a:t> (2004)</a:t>
            </a:r>
          </a:p>
        </p:txBody>
      </p:sp>
      <p:pic>
        <p:nvPicPr>
          <p:cNvPr id="7" name="Picture 6">
            <a:extLst>
              <a:ext uri="{FF2B5EF4-FFF2-40B4-BE49-F238E27FC236}">
                <a16:creationId xmlns:a16="http://schemas.microsoft.com/office/drawing/2014/main" id="{A76D7926-4C85-A23B-A616-7585E7B96F45}"/>
              </a:ext>
            </a:extLst>
          </p:cNvPr>
          <p:cNvPicPr>
            <a:picLocks noChangeAspect="1"/>
          </p:cNvPicPr>
          <p:nvPr/>
        </p:nvPicPr>
        <p:blipFill>
          <a:blip r:embed="rId6"/>
          <a:stretch>
            <a:fillRect/>
          </a:stretch>
        </p:blipFill>
        <p:spPr>
          <a:xfrm>
            <a:off x="7547037" y="1082966"/>
            <a:ext cx="1230005" cy="2338743"/>
          </a:xfrm>
          <a:prstGeom prst="rect">
            <a:avLst/>
          </a:prstGeom>
        </p:spPr>
      </p:pic>
    </p:spTree>
    <p:extLst>
      <p:ext uri="{BB962C8B-B14F-4D97-AF65-F5344CB8AC3E}">
        <p14:creationId xmlns:p14="http://schemas.microsoft.com/office/powerpoint/2010/main" val="3847646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EAB606FA-1DE7-603B-B2A1-90BC4D819F51}"/>
              </a:ext>
            </a:extLst>
          </p:cNvPr>
          <p:cNvSpPr>
            <a:spLocks noGrp="1"/>
          </p:cNvSpPr>
          <p:nvPr>
            <p:ph type="title"/>
          </p:nvPr>
        </p:nvSpPr>
        <p:spPr>
          <a:xfrm>
            <a:off x="268493" y="139828"/>
            <a:ext cx="11655014" cy="1325563"/>
          </a:xfrm>
        </p:spPr>
        <p:txBody>
          <a:bodyPr>
            <a:noAutofit/>
          </a:bodyPr>
          <a:lstStyle/>
          <a:p>
            <a:r>
              <a:rPr lang="en-US" sz="5000" dirty="0">
                <a:latin typeface="Forma DJR Banner Light" pitchFamily="2" charset="77"/>
              </a:rPr>
              <a:t>Methodology</a:t>
            </a:r>
          </a:p>
        </p:txBody>
      </p:sp>
      <p:grpSp>
        <p:nvGrpSpPr>
          <p:cNvPr id="23" name="Group 22">
            <a:extLst>
              <a:ext uri="{FF2B5EF4-FFF2-40B4-BE49-F238E27FC236}">
                <a16:creationId xmlns:a16="http://schemas.microsoft.com/office/drawing/2014/main" id="{3C69761E-A250-CD00-1ACE-BC0BFA626F1A}"/>
              </a:ext>
            </a:extLst>
          </p:cNvPr>
          <p:cNvGrpSpPr/>
          <p:nvPr/>
        </p:nvGrpSpPr>
        <p:grpSpPr>
          <a:xfrm>
            <a:off x="2839630" y="2714070"/>
            <a:ext cx="6512740" cy="3104094"/>
            <a:chOff x="2428897" y="562438"/>
            <a:chExt cx="4901012" cy="2276607"/>
          </a:xfrm>
        </p:grpSpPr>
        <p:pic>
          <p:nvPicPr>
            <p:cNvPr id="24" name="Picture 23" descr="A diagram of letters and numbers&#10;&#10;AI-generated content may be incorrect.">
              <a:extLst>
                <a:ext uri="{FF2B5EF4-FFF2-40B4-BE49-F238E27FC236}">
                  <a16:creationId xmlns:a16="http://schemas.microsoft.com/office/drawing/2014/main" id="{DB795550-0E2E-6BA9-92DE-37AB3F4E0386}"/>
                </a:ext>
              </a:extLst>
            </p:cNvPr>
            <p:cNvPicPr>
              <a:picLocks noChangeAspect="1"/>
            </p:cNvPicPr>
            <p:nvPr/>
          </p:nvPicPr>
          <p:blipFill>
            <a:blip r:embed="rId2"/>
            <a:srcRect b="9091"/>
            <a:stretch>
              <a:fillRect/>
            </a:stretch>
          </p:blipFill>
          <p:spPr>
            <a:xfrm>
              <a:off x="2428897" y="562438"/>
              <a:ext cx="4901012" cy="2222872"/>
            </a:xfrm>
            <a:prstGeom prst="rect">
              <a:avLst/>
            </a:prstGeom>
          </p:spPr>
        </p:pic>
        <p:sp>
          <p:nvSpPr>
            <p:cNvPr id="25" name="TextBox 24">
              <a:extLst>
                <a:ext uri="{FF2B5EF4-FFF2-40B4-BE49-F238E27FC236}">
                  <a16:creationId xmlns:a16="http://schemas.microsoft.com/office/drawing/2014/main" id="{FD327018-62D1-3632-23C0-17C5DC1E42CA}"/>
                </a:ext>
              </a:extLst>
            </p:cNvPr>
            <p:cNvSpPr txBox="1"/>
            <p:nvPr/>
          </p:nvSpPr>
          <p:spPr>
            <a:xfrm>
              <a:off x="3361646" y="2427015"/>
              <a:ext cx="250383" cy="412030"/>
            </a:xfrm>
            <a:prstGeom prst="rect">
              <a:avLst/>
            </a:prstGeom>
            <a:solidFill>
              <a:schemeClr val="bg1"/>
            </a:solidFill>
          </p:spPr>
          <p:txBody>
            <a:bodyPr wrap="square" rtlCol="0">
              <a:spAutoFit/>
            </a:bodyPr>
            <a:lstStyle/>
            <a:p>
              <a:r>
                <a:rPr lang="en-US" dirty="0"/>
                <a:t>0</a:t>
              </a:r>
            </a:p>
          </p:txBody>
        </p:sp>
        <p:sp>
          <p:nvSpPr>
            <p:cNvPr id="26" name="TextBox 25">
              <a:extLst>
                <a:ext uri="{FF2B5EF4-FFF2-40B4-BE49-F238E27FC236}">
                  <a16:creationId xmlns:a16="http://schemas.microsoft.com/office/drawing/2014/main" id="{6190BE75-0F5D-AD9B-3D26-4F86CA2088F9}"/>
                </a:ext>
              </a:extLst>
            </p:cNvPr>
            <p:cNvSpPr txBox="1"/>
            <p:nvPr/>
          </p:nvSpPr>
          <p:spPr>
            <a:xfrm>
              <a:off x="3668268" y="2422555"/>
              <a:ext cx="250383" cy="369332"/>
            </a:xfrm>
            <a:prstGeom prst="rect">
              <a:avLst/>
            </a:prstGeom>
            <a:solidFill>
              <a:schemeClr val="bg1"/>
            </a:solidFill>
          </p:spPr>
          <p:txBody>
            <a:bodyPr wrap="square" rtlCol="0">
              <a:spAutoFit/>
            </a:bodyPr>
            <a:lstStyle/>
            <a:p>
              <a:r>
                <a:rPr lang="en-US" dirty="0"/>
                <a:t>1</a:t>
              </a:r>
            </a:p>
          </p:txBody>
        </p:sp>
        <p:sp>
          <p:nvSpPr>
            <p:cNvPr id="27" name="TextBox 26">
              <a:extLst>
                <a:ext uri="{FF2B5EF4-FFF2-40B4-BE49-F238E27FC236}">
                  <a16:creationId xmlns:a16="http://schemas.microsoft.com/office/drawing/2014/main" id="{1EDE6CDE-7CF5-70EB-E772-D03FF28A7F15}"/>
                </a:ext>
              </a:extLst>
            </p:cNvPr>
            <p:cNvSpPr txBox="1"/>
            <p:nvPr/>
          </p:nvSpPr>
          <p:spPr>
            <a:xfrm>
              <a:off x="3988788" y="2427015"/>
              <a:ext cx="250383" cy="369332"/>
            </a:xfrm>
            <a:prstGeom prst="rect">
              <a:avLst/>
            </a:prstGeom>
            <a:solidFill>
              <a:schemeClr val="bg1"/>
            </a:solidFill>
          </p:spPr>
          <p:txBody>
            <a:bodyPr wrap="square" rtlCol="0">
              <a:spAutoFit/>
            </a:bodyPr>
            <a:lstStyle/>
            <a:p>
              <a:r>
                <a:rPr lang="en-US" dirty="0"/>
                <a:t>2</a:t>
              </a:r>
            </a:p>
          </p:txBody>
        </p:sp>
        <p:sp>
          <p:nvSpPr>
            <p:cNvPr id="28" name="TextBox 27">
              <a:extLst>
                <a:ext uri="{FF2B5EF4-FFF2-40B4-BE49-F238E27FC236}">
                  <a16:creationId xmlns:a16="http://schemas.microsoft.com/office/drawing/2014/main" id="{ABF1F085-8CF6-0CC5-4B43-356CF1076E4C}"/>
                </a:ext>
              </a:extLst>
            </p:cNvPr>
            <p:cNvSpPr txBox="1"/>
            <p:nvPr/>
          </p:nvSpPr>
          <p:spPr>
            <a:xfrm>
              <a:off x="4305648" y="2422555"/>
              <a:ext cx="250383" cy="369332"/>
            </a:xfrm>
            <a:prstGeom prst="rect">
              <a:avLst/>
            </a:prstGeom>
            <a:solidFill>
              <a:schemeClr val="bg1"/>
            </a:solidFill>
          </p:spPr>
          <p:txBody>
            <a:bodyPr wrap="square" rtlCol="0">
              <a:spAutoFit/>
            </a:bodyPr>
            <a:lstStyle/>
            <a:p>
              <a:r>
                <a:rPr lang="en-US" dirty="0"/>
                <a:t>3</a:t>
              </a:r>
            </a:p>
          </p:txBody>
        </p:sp>
        <p:sp>
          <p:nvSpPr>
            <p:cNvPr id="29" name="TextBox 28">
              <a:extLst>
                <a:ext uri="{FF2B5EF4-FFF2-40B4-BE49-F238E27FC236}">
                  <a16:creationId xmlns:a16="http://schemas.microsoft.com/office/drawing/2014/main" id="{46648FFA-87A3-5C18-0A30-7C19009D4A1E}"/>
                </a:ext>
              </a:extLst>
            </p:cNvPr>
            <p:cNvSpPr txBox="1"/>
            <p:nvPr/>
          </p:nvSpPr>
          <p:spPr>
            <a:xfrm>
              <a:off x="4621163" y="2427015"/>
              <a:ext cx="250383" cy="369332"/>
            </a:xfrm>
            <a:prstGeom prst="rect">
              <a:avLst/>
            </a:prstGeom>
            <a:solidFill>
              <a:schemeClr val="bg1"/>
            </a:solidFill>
          </p:spPr>
          <p:txBody>
            <a:bodyPr wrap="square" rtlCol="0">
              <a:spAutoFit/>
            </a:bodyPr>
            <a:lstStyle/>
            <a:p>
              <a:r>
                <a:rPr lang="en-US" dirty="0"/>
                <a:t>4</a:t>
              </a:r>
            </a:p>
          </p:txBody>
        </p:sp>
        <p:sp>
          <p:nvSpPr>
            <p:cNvPr id="30" name="TextBox 29">
              <a:extLst>
                <a:ext uri="{FF2B5EF4-FFF2-40B4-BE49-F238E27FC236}">
                  <a16:creationId xmlns:a16="http://schemas.microsoft.com/office/drawing/2014/main" id="{6A4E4651-978B-399D-3E83-71182ED06C93}"/>
                </a:ext>
              </a:extLst>
            </p:cNvPr>
            <p:cNvSpPr txBox="1"/>
            <p:nvPr/>
          </p:nvSpPr>
          <p:spPr>
            <a:xfrm>
              <a:off x="4940846" y="2420437"/>
              <a:ext cx="250383" cy="369332"/>
            </a:xfrm>
            <a:prstGeom prst="rect">
              <a:avLst/>
            </a:prstGeom>
            <a:solidFill>
              <a:schemeClr val="bg1"/>
            </a:solidFill>
          </p:spPr>
          <p:txBody>
            <a:bodyPr wrap="square" rtlCol="0">
              <a:spAutoFit/>
            </a:bodyPr>
            <a:lstStyle/>
            <a:p>
              <a:r>
                <a:rPr lang="en-US" dirty="0"/>
                <a:t>5</a:t>
              </a:r>
            </a:p>
          </p:txBody>
        </p:sp>
        <p:sp>
          <p:nvSpPr>
            <p:cNvPr id="31" name="TextBox 30">
              <a:extLst>
                <a:ext uri="{FF2B5EF4-FFF2-40B4-BE49-F238E27FC236}">
                  <a16:creationId xmlns:a16="http://schemas.microsoft.com/office/drawing/2014/main" id="{6C36040B-14C8-E202-D8A5-B2EE4740EB77}"/>
                </a:ext>
              </a:extLst>
            </p:cNvPr>
            <p:cNvSpPr txBox="1"/>
            <p:nvPr/>
          </p:nvSpPr>
          <p:spPr>
            <a:xfrm>
              <a:off x="5251128" y="2420437"/>
              <a:ext cx="250383" cy="369332"/>
            </a:xfrm>
            <a:prstGeom prst="rect">
              <a:avLst/>
            </a:prstGeom>
            <a:solidFill>
              <a:schemeClr val="bg1"/>
            </a:solidFill>
          </p:spPr>
          <p:txBody>
            <a:bodyPr wrap="square" rtlCol="0">
              <a:spAutoFit/>
            </a:bodyPr>
            <a:lstStyle/>
            <a:p>
              <a:r>
                <a:rPr lang="en-US" dirty="0"/>
                <a:t>6</a:t>
              </a:r>
            </a:p>
          </p:txBody>
        </p:sp>
        <p:sp>
          <p:nvSpPr>
            <p:cNvPr id="32" name="TextBox 31">
              <a:extLst>
                <a:ext uri="{FF2B5EF4-FFF2-40B4-BE49-F238E27FC236}">
                  <a16:creationId xmlns:a16="http://schemas.microsoft.com/office/drawing/2014/main" id="{A78E692E-05AD-BC86-7072-81BC252FF73A}"/>
                </a:ext>
              </a:extLst>
            </p:cNvPr>
            <p:cNvSpPr txBox="1"/>
            <p:nvPr/>
          </p:nvSpPr>
          <p:spPr>
            <a:xfrm>
              <a:off x="5574566" y="2420437"/>
              <a:ext cx="250383" cy="369332"/>
            </a:xfrm>
            <a:prstGeom prst="rect">
              <a:avLst/>
            </a:prstGeom>
            <a:solidFill>
              <a:schemeClr val="bg1"/>
            </a:solidFill>
          </p:spPr>
          <p:txBody>
            <a:bodyPr wrap="square" rtlCol="0">
              <a:spAutoFit/>
            </a:bodyPr>
            <a:lstStyle/>
            <a:p>
              <a:r>
                <a:rPr lang="en-US" dirty="0"/>
                <a:t>7</a:t>
              </a:r>
            </a:p>
          </p:txBody>
        </p:sp>
        <p:sp>
          <p:nvSpPr>
            <p:cNvPr id="33" name="TextBox 32">
              <a:extLst>
                <a:ext uri="{FF2B5EF4-FFF2-40B4-BE49-F238E27FC236}">
                  <a16:creationId xmlns:a16="http://schemas.microsoft.com/office/drawing/2014/main" id="{91C0CC26-8132-9ABA-BFA2-8918600D5085}"/>
                </a:ext>
              </a:extLst>
            </p:cNvPr>
            <p:cNvSpPr txBox="1"/>
            <p:nvPr/>
          </p:nvSpPr>
          <p:spPr>
            <a:xfrm>
              <a:off x="5892904" y="2420437"/>
              <a:ext cx="250383" cy="369332"/>
            </a:xfrm>
            <a:prstGeom prst="rect">
              <a:avLst/>
            </a:prstGeom>
            <a:solidFill>
              <a:schemeClr val="bg1"/>
            </a:solidFill>
          </p:spPr>
          <p:txBody>
            <a:bodyPr wrap="square" rtlCol="0">
              <a:spAutoFit/>
            </a:bodyPr>
            <a:lstStyle/>
            <a:p>
              <a:r>
                <a:rPr lang="en-US" dirty="0"/>
                <a:t>8</a:t>
              </a:r>
            </a:p>
          </p:txBody>
        </p:sp>
        <p:sp>
          <p:nvSpPr>
            <p:cNvPr id="34" name="TextBox 33">
              <a:extLst>
                <a:ext uri="{FF2B5EF4-FFF2-40B4-BE49-F238E27FC236}">
                  <a16:creationId xmlns:a16="http://schemas.microsoft.com/office/drawing/2014/main" id="{C26D9743-12D9-7E0F-437D-B66A880A6F99}"/>
                </a:ext>
              </a:extLst>
            </p:cNvPr>
            <p:cNvSpPr txBox="1"/>
            <p:nvPr/>
          </p:nvSpPr>
          <p:spPr>
            <a:xfrm>
              <a:off x="6224021" y="2415977"/>
              <a:ext cx="278185" cy="369332"/>
            </a:xfrm>
            <a:prstGeom prst="rect">
              <a:avLst/>
            </a:prstGeom>
            <a:solidFill>
              <a:schemeClr val="bg1"/>
            </a:solidFill>
          </p:spPr>
          <p:txBody>
            <a:bodyPr wrap="square" rtlCol="0">
              <a:spAutoFit/>
            </a:bodyPr>
            <a:lstStyle/>
            <a:p>
              <a:r>
                <a:rPr lang="en-US" dirty="0"/>
                <a:t>9</a:t>
              </a:r>
            </a:p>
          </p:txBody>
        </p:sp>
        <p:sp>
          <p:nvSpPr>
            <p:cNvPr id="35" name="TextBox 34">
              <a:extLst>
                <a:ext uri="{FF2B5EF4-FFF2-40B4-BE49-F238E27FC236}">
                  <a16:creationId xmlns:a16="http://schemas.microsoft.com/office/drawing/2014/main" id="{5203817D-1589-9016-06AA-0189D4F86B80}"/>
                </a:ext>
              </a:extLst>
            </p:cNvPr>
            <p:cNvSpPr txBox="1"/>
            <p:nvPr/>
          </p:nvSpPr>
          <p:spPr>
            <a:xfrm>
              <a:off x="6489700" y="2415624"/>
              <a:ext cx="440400" cy="369332"/>
            </a:xfrm>
            <a:prstGeom prst="rect">
              <a:avLst/>
            </a:prstGeom>
            <a:solidFill>
              <a:schemeClr val="bg1"/>
            </a:solidFill>
          </p:spPr>
          <p:txBody>
            <a:bodyPr wrap="square" rtlCol="0">
              <a:spAutoFit/>
            </a:bodyPr>
            <a:lstStyle/>
            <a:p>
              <a:r>
                <a:rPr lang="en-US" dirty="0"/>
                <a:t>10</a:t>
              </a:r>
            </a:p>
          </p:txBody>
        </p:sp>
        <p:sp>
          <p:nvSpPr>
            <p:cNvPr id="36" name="TextBox 35">
              <a:extLst>
                <a:ext uri="{FF2B5EF4-FFF2-40B4-BE49-F238E27FC236}">
                  <a16:creationId xmlns:a16="http://schemas.microsoft.com/office/drawing/2014/main" id="{C20CA63D-5D3D-C17E-E8D7-2DF01DD95212}"/>
                </a:ext>
              </a:extLst>
            </p:cNvPr>
            <p:cNvSpPr txBox="1"/>
            <p:nvPr/>
          </p:nvSpPr>
          <p:spPr>
            <a:xfrm>
              <a:off x="6852240" y="2420437"/>
              <a:ext cx="440400" cy="369332"/>
            </a:xfrm>
            <a:prstGeom prst="rect">
              <a:avLst/>
            </a:prstGeom>
            <a:solidFill>
              <a:schemeClr val="bg1"/>
            </a:solidFill>
          </p:spPr>
          <p:txBody>
            <a:bodyPr wrap="square" rtlCol="0">
              <a:spAutoFit/>
            </a:bodyPr>
            <a:lstStyle/>
            <a:p>
              <a:r>
                <a:rPr lang="en-US" dirty="0"/>
                <a:t>11</a:t>
              </a:r>
            </a:p>
          </p:txBody>
        </p:sp>
        <p:cxnSp>
          <p:nvCxnSpPr>
            <p:cNvPr id="37" name="Elbow Connector 36">
              <a:extLst>
                <a:ext uri="{FF2B5EF4-FFF2-40B4-BE49-F238E27FC236}">
                  <a16:creationId xmlns:a16="http://schemas.microsoft.com/office/drawing/2014/main" id="{84BF091D-B03A-C103-B55A-9C24A5547020}"/>
                </a:ext>
              </a:extLst>
            </p:cNvPr>
            <p:cNvCxnSpPr>
              <a:cxnSpLocks/>
            </p:cNvCxnSpPr>
            <p:nvPr/>
          </p:nvCxnSpPr>
          <p:spPr>
            <a:xfrm rot="5400000" flipH="1" flipV="1">
              <a:off x="4596525" y="1638381"/>
              <a:ext cx="49276" cy="2212920"/>
            </a:xfrm>
            <a:prstGeom prst="bentConnector3">
              <a:avLst>
                <a:gd name="adj1" fmla="val -649485"/>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8" name="Elbow Connector 37">
              <a:extLst>
                <a:ext uri="{FF2B5EF4-FFF2-40B4-BE49-F238E27FC236}">
                  <a16:creationId xmlns:a16="http://schemas.microsoft.com/office/drawing/2014/main" id="{EBB9EDA9-8C54-74CA-F963-A0D651E4FF4E}"/>
                </a:ext>
              </a:extLst>
            </p:cNvPr>
            <p:cNvCxnSpPr>
              <a:cxnSpLocks/>
            </p:cNvCxnSpPr>
            <p:nvPr/>
          </p:nvCxnSpPr>
          <p:spPr>
            <a:xfrm rot="5400000" flipH="1" flipV="1">
              <a:off x="4912639" y="1617164"/>
              <a:ext cx="49276" cy="2212920"/>
            </a:xfrm>
            <a:prstGeom prst="bentConnector3">
              <a:avLst>
                <a:gd name="adj1" fmla="val -610417"/>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Elbow Connector 38">
              <a:extLst>
                <a:ext uri="{FF2B5EF4-FFF2-40B4-BE49-F238E27FC236}">
                  <a16:creationId xmlns:a16="http://schemas.microsoft.com/office/drawing/2014/main" id="{14B84633-3BA2-1C84-E3B0-746B6FCDBBA8}"/>
                </a:ext>
              </a:extLst>
            </p:cNvPr>
            <p:cNvCxnSpPr>
              <a:cxnSpLocks/>
            </p:cNvCxnSpPr>
            <p:nvPr/>
          </p:nvCxnSpPr>
          <p:spPr>
            <a:xfrm rot="5400000" flipH="1" flipV="1">
              <a:off x="5237928" y="1626790"/>
              <a:ext cx="49276" cy="2212920"/>
            </a:xfrm>
            <a:prstGeom prst="bentConnector3">
              <a:avLst>
                <a:gd name="adj1" fmla="val -473683"/>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0" name="Elbow Connector 39">
              <a:extLst>
                <a:ext uri="{FF2B5EF4-FFF2-40B4-BE49-F238E27FC236}">
                  <a16:creationId xmlns:a16="http://schemas.microsoft.com/office/drawing/2014/main" id="{7DD64554-17B7-056C-A8E2-BE1B58C7C2F0}"/>
                </a:ext>
              </a:extLst>
            </p:cNvPr>
            <p:cNvCxnSpPr>
              <a:cxnSpLocks/>
            </p:cNvCxnSpPr>
            <p:nvPr/>
          </p:nvCxnSpPr>
          <p:spPr>
            <a:xfrm rot="5400000" flipH="1" flipV="1">
              <a:off x="5547936" y="1618337"/>
              <a:ext cx="49276" cy="2212920"/>
            </a:xfrm>
            <a:prstGeom prst="bentConnector3">
              <a:avLst>
                <a:gd name="adj1" fmla="val -405315"/>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41" name="TextBox 40">
            <a:extLst>
              <a:ext uri="{FF2B5EF4-FFF2-40B4-BE49-F238E27FC236}">
                <a16:creationId xmlns:a16="http://schemas.microsoft.com/office/drawing/2014/main" id="{46B93228-55B4-64B1-1802-121A10AEB8DC}"/>
              </a:ext>
            </a:extLst>
          </p:cNvPr>
          <p:cNvSpPr txBox="1"/>
          <p:nvPr/>
        </p:nvSpPr>
        <p:spPr>
          <a:xfrm>
            <a:off x="557793" y="1388507"/>
            <a:ext cx="10684829" cy="707886"/>
          </a:xfrm>
          <a:prstGeom prst="rect">
            <a:avLst/>
          </a:prstGeom>
          <a:noFill/>
        </p:spPr>
        <p:txBody>
          <a:bodyPr wrap="square" rtlCol="0">
            <a:spAutoFit/>
          </a:bodyPr>
          <a:lstStyle/>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Compare probability distributions at pairwise positions </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For each index pair, calculate measures of similarity and information </a:t>
            </a:r>
          </a:p>
        </p:txBody>
      </p:sp>
      <p:sp>
        <p:nvSpPr>
          <p:cNvPr id="2" name="Rectangle 1">
            <a:extLst>
              <a:ext uri="{FF2B5EF4-FFF2-40B4-BE49-F238E27FC236}">
                <a16:creationId xmlns:a16="http://schemas.microsoft.com/office/drawing/2014/main" id="{2BDBFE6A-9038-D3A2-B6B4-476BDD8B6898}"/>
              </a:ext>
            </a:extLst>
          </p:cNvPr>
          <p:cNvSpPr/>
          <p:nvPr/>
        </p:nvSpPr>
        <p:spPr>
          <a:xfrm>
            <a:off x="4034457" y="3013532"/>
            <a:ext cx="1718379" cy="2523736"/>
          </a:xfrm>
          <a:prstGeom prst="rect">
            <a:avLst/>
          </a:prstGeom>
          <a:solidFill>
            <a:srgbClr val="FFF600">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15A48E5-CC61-0CCD-45E8-22A636C7AC3B}"/>
              </a:ext>
            </a:extLst>
          </p:cNvPr>
          <p:cNvSpPr/>
          <p:nvPr/>
        </p:nvSpPr>
        <p:spPr>
          <a:xfrm>
            <a:off x="7010815" y="2984423"/>
            <a:ext cx="1774037" cy="2523736"/>
          </a:xfrm>
          <a:prstGeom prst="rect">
            <a:avLst/>
          </a:prstGeom>
          <a:solidFill>
            <a:srgbClr val="FFF600">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47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199B4-BA5A-52A3-53BE-C0144ECB4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CE9AD-9CEE-0B4F-8923-9E1C354921EB}"/>
              </a:ext>
            </a:extLst>
          </p:cNvPr>
          <p:cNvSpPr>
            <a:spLocks noGrp="1"/>
          </p:cNvSpPr>
          <p:nvPr>
            <p:ph type="title"/>
          </p:nvPr>
        </p:nvSpPr>
        <p:spPr>
          <a:xfrm>
            <a:off x="268493" y="139828"/>
            <a:ext cx="11655014" cy="1325563"/>
          </a:xfrm>
        </p:spPr>
        <p:txBody>
          <a:bodyPr>
            <a:noAutofit/>
          </a:bodyPr>
          <a:lstStyle/>
          <a:p>
            <a:r>
              <a:rPr lang="en-US" sz="5000" dirty="0">
                <a:latin typeface="Forma DJR Banner Light" pitchFamily="2" charset="77"/>
              </a:rPr>
              <a:t>Quantifying Similarity &amp; Metrics Selection</a:t>
            </a:r>
          </a:p>
        </p:txBody>
      </p:sp>
      <p:sp>
        <p:nvSpPr>
          <p:cNvPr id="3" name="TextBox 2">
            <a:extLst>
              <a:ext uri="{FF2B5EF4-FFF2-40B4-BE49-F238E27FC236}">
                <a16:creationId xmlns:a16="http://schemas.microsoft.com/office/drawing/2014/main" id="{A928C917-D0F2-7C4B-B6BE-87408B5A9F1D}"/>
              </a:ext>
            </a:extLst>
          </p:cNvPr>
          <p:cNvSpPr txBox="1"/>
          <p:nvPr/>
        </p:nvSpPr>
        <p:spPr>
          <a:xfrm>
            <a:off x="557794" y="1388507"/>
            <a:ext cx="6753882" cy="707886"/>
          </a:xfrm>
          <a:prstGeom prst="rect">
            <a:avLst/>
          </a:prstGeom>
          <a:noFill/>
        </p:spPr>
        <p:txBody>
          <a:bodyPr wrap="square" rtlCol="0">
            <a:spAutoFit/>
          </a:bodyPr>
          <a:lstStyle/>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For each index pair, calculate measures of similarity and information </a:t>
            </a:r>
          </a:p>
        </p:txBody>
      </p:sp>
      <p:sp>
        <p:nvSpPr>
          <p:cNvPr id="5" name="TextBox 4">
            <a:extLst>
              <a:ext uri="{FF2B5EF4-FFF2-40B4-BE49-F238E27FC236}">
                <a16:creationId xmlns:a16="http://schemas.microsoft.com/office/drawing/2014/main" id="{4049F42B-B0C7-65DA-FC52-2EDF00A57B27}"/>
              </a:ext>
            </a:extLst>
          </p:cNvPr>
          <p:cNvSpPr txBox="1"/>
          <p:nvPr/>
        </p:nvSpPr>
        <p:spPr>
          <a:xfrm>
            <a:off x="777655" y="2456774"/>
            <a:ext cx="6476182" cy="2554545"/>
          </a:xfrm>
          <a:prstGeom prst="rect">
            <a:avLst/>
          </a:prstGeom>
          <a:noFill/>
        </p:spPr>
        <p:txBody>
          <a:bodyPr wrap="square" rtlCol="0">
            <a:spAutoFit/>
          </a:bodyPr>
          <a:lstStyle/>
          <a:p>
            <a:r>
              <a:rPr lang="en-US" sz="2000" u="sng" dirty="0">
                <a:latin typeface="Franklin Gothic Medium" panose="020B0603020102020204" pitchFamily="34" charset="0"/>
                <a:cs typeface="Aharoni" panose="02010803020104030203" pitchFamily="2" charset="-79"/>
              </a:rPr>
              <a:t>Various metric options</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Pearson correlation, Kullback–Leibler, Jensen-Shannon divergence</a:t>
            </a:r>
          </a:p>
          <a:p>
            <a:pPr marL="285749" indent="-285749">
              <a:buFont typeface="Arial" panose="020B0604020202020204" pitchFamily="34" charset="0"/>
              <a:buChar char="•"/>
            </a:pPr>
            <a:endParaRPr lang="en-US" sz="2000" dirty="0">
              <a:latin typeface="Franklin Gothic Medium" panose="020B0603020102020204" pitchFamily="34" charset="0"/>
              <a:cs typeface="Aharoni" panose="02010803020104030203" pitchFamily="2" charset="-79"/>
            </a:endParaRPr>
          </a:p>
          <a:p>
            <a:r>
              <a:rPr lang="en-US" sz="2000" u="sng" dirty="0">
                <a:latin typeface="Franklin Gothic Medium" panose="020B0603020102020204" pitchFamily="34" charset="0"/>
                <a:cs typeface="Aharoni" panose="02010803020104030203" pitchFamily="2" charset="-79"/>
              </a:rPr>
              <a:t>Our selection</a:t>
            </a:r>
          </a:p>
          <a:p>
            <a:pPr marL="285747"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Positional (avg) Info Content – JSD </a:t>
            </a:r>
          </a:p>
          <a:p>
            <a:pPr marL="742947" lvl="1"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Information content and divergence penalty</a:t>
            </a:r>
          </a:p>
          <a:p>
            <a:pPr marL="742947" lvl="1"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Helps filter out non-DR/IR pairs</a:t>
            </a:r>
          </a:p>
        </p:txBody>
      </p:sp>
      <p:grpSp>
        <p:nvGrpSpPr>
          <p:cNvPr id="6" name="Group 5">
            <a:extLst>
              <a:ext uri="{FF2B5EF4-FFF2-40B4-BE49-F238E27FC236}">
                <a16:creationId xmlns:a16="http://schemas.microsoft.com/office/drawing/2014/main" id="{6F88FCE3-EAE7-D639-5348-64D07700900C}"/>
              </a:ext>
            </a:extLst>
          </p:cNvPr>
          <p:cNvGrpSpPr/>
          <p:nvPr/>
        </p:nvGrpSpPr>
        <p:grpSpPr>
          <a:xfrm>
            <a:off x="7685418" y="1315670"/>
            <a:ext cx="4283061" cy="1989558"/>
            <a:chOff x="2428897" y="562438"/>
            <a:chExt cx="4901012" cy="2276607"/>
          </a:xfrm>
        </p:grpSpPr>
        <p:pic>
          <p:nvPicPr>
            <p:cNvPr id="7" name="Picture 6" descr="A diagram of letters and numbers&#10;&#10;AI-generated content may be incorrect.">
              <a:extLst>
                <a:ext uri="{FF2B5EF4-FFF2-40B4-BE49-F238E27FC236}">
                  <a16:creationId xmlns:a16="http://schemas.microsoft.com/office/drawing/2014/main" id="{197B0BB1-242F-FB52-77F4-2F82681257A1}"/>
                </a:ext>
              </a:extLst>
            </p:cNvPr>
            <p:cNvPicPr>
              <a:picLocks noChangeAspect="1"/>
            </p:cNvPicPr>
            <p:nvPr/>
          </p:nvPicPr>
          <p:blipFill>
            <a:blip r:embed="rId2"/>
            <a:srcRect b="9091"/>
            <a:stretch>
              <a:fillRect/>
            </a:stretch>
          </p:blipFill>
          <p:spPr>
            <a:xfrm>
              <a:off x="2428897" y="562438"/>
              <a:ext cx="4901012" cy="2222872"/>
            </a:xfrm>
            <a:prstGeom prst="rect">
              <a:avLst/>
            </a:prstGeom>
          </p:spPr>
        </p:pic>
        <p:sp>
          <p:nvSpPr>
            <p:cNvPr id="8" name="TextBox 7">
              <a:extLst>
                <a:ext uri="{FF2B5EF4-FFF2-40B4-BE49-F238E27FC236}">
                  <a16:creationId xmlns:a16="http://schemas.microsoft.com/office/drawing/2014/main" id="{9911A708-8CD8-0BD6-3EE7-4597877EF2AE}"/>
                </a:ext>
              </a:extLst>
            </p:cNvPr>
            <p:cNvSpPr txBox="1"/>
            <p:nvPr/>
          </p:nvSpPr>
          <p:spPr>
            <a:xfrm>
              <a:off x="3361646" y="2427015"/>
              <a:ext cx="250383" cy="412030"/>
            </a:xfrm>
            <a:prstGeom prst="rect">
              <a:avLst/>
            </a:prstGeom>
            <a:solidFill>
              <a:schemeClr val="bg1"/>
            </a:solidFill>
          </p:spPr>
          <p:txBody>
            <a:bodyPr wrap="square" rtlCol="0">
              <a:spAutoFit/>
            </a:bodyPr>
            <a:lstStyle/>
            <a:p>
              <a:r>
                <a:rPr lang="en-US" dirty="0"/>
                <a:t>0</a:t>
              </a:r>
            </a:p>
          </p:txBody>
        </p:sp>
        <p:sp>
          <p:nvSpPr>
            <p:cNvPr id="9" name="TextBox 8">
              <a:extLst>
                <a:ext uri="{FF2B5EF4-FFF2-40B4-BE49-F238E27FC236}">
                  <a16:creationId xmlns:a16="http://schemas.microsoft.com/office/drawing/2014/main" id="{8CA4BFE4-BF49-3415-06CB-0AA36E30A576}"/>
                </a:ext>
              </a:extLst>
            </p:cNvPr>
            <p:cNvSpPr txBox="1"/>
            <p:nvPr/>
          </p:nvSpPr>
          <p:spPr>
            <a:xfrm>
              <a:off x="3668268" y="2422555"/>
              <a:ext cx="250383" cy="369332"/>
            </a:xfrm>
            <a:prstGeom prst="rect">
              <a:avLst/>
            </a:prstGeom>
            <a:solidFill>
              <a:schemeClr val="bg1"/>
            </a:solidFill>
          </p:spPr>
          <p:txBody>
            <a:bodyPr wrap="square" rtlCol="0">
              <a:spAutoFit/>
            </a:bodyPr>
            <a:lstStyle/>
            <a:p>
              <a:r>
                <a:rPr lang="en-US" dirty="0"/>
                <a:t>1</a:t>
              </a:r>
            </a:p>
          </p:txBody>
        </p:sp>
        <p:sp>
          <p:nvSpPr>
            <p:cNvPr id="10" name="TextBox 9">
              <a:extLst>
                <a:ext uri="{FF2B5EF4-FFF2-40B4-BE49-F238E27FC236}">
                  <a16:creationId xmlns:a16="http://schemas.microsoft.com/office/drawing/2014/main" id="{3EF9E840-8F77-80C7-D26B-7CDE915C0E0D}"/>
                </a:ext>
              </a:extLst>
            </p:cNvPr>
            <p:cNvSpPr txBox="1"/>
            <p:nvPr/>
          </p:nvSpPr>
          <p:spPr>
            <a:xfrm>
              <a:off x="3988788" y="2427015"/>
              <a:ext cx="250383" cy="369332"/>
            </a:xfrm>
            <a:prstGeom prst="rect">
              <a:avLst/>
            </a:prstGeom>
            <a:solidFill>
              <a:schemeClr val="bg1"/>
            </a:solidFill>
          </p:spPr>
          <p:txBody>
            <a:bodyPr wrap="square" rtlCol="0">
              <a:spAutoFit/>
            </a:bodyPr>
            <a:lstStyle/>
            <a:p>
              <a:r>
                <a:rPr lang="en-US" dirty="0"/>
                <a:t>2</a:t>
              </a:r>
            </a:p>
          </p:txBody>
        </p:sp>
        <p:sp>
          <p:nvSpPr>
            <p:cNvPr id="11" name="TextBox 10">
              <a:extLst>
                <a:ext uri="{FF2B5EF4-FFF2-40B4-BE49-F238E27FC236}">
                  <a16:creationId xmlns:a16="http://schemas.microsoft.com/office/drawing/2014/main" id="{A51E1690-D94B-5541-FFBD-488B78A4BF77}"/>
                </a:ext>
              </a:extLst>
            </p:cNvPr>
            <p:cNvSpPr txBox="1"/>
            <p:nvPr/>
          </p:nvSpPr>
          <p:spPr>
            <a:xfrm>
              <a:off x="4305648" y="2422555"/>
              <a:ext cx="250383" cy="369332"/>
            </a:xfrm>
            <a:prstGeom prst="rect">
              <a:avLst/>
            </a:prstGeom>
            <a:solidFill>
              <a:schemeClr val="bg1"/>
            </a:solidFill>
          </p:spPr>
          <p:txBody>
            <a:bodyPr wrap="square" rtlCol="0">
              <a:spAutoFit/>
            </a:bodyPr>
            <a:lstStyle/>
            <a:p>
              <a:r>
                <a:rPr lang="en-US" dirty="0"/>
                <a:t>3</a:t>
              </a:r>
            </a:p>
          </p:txBody>
        </p:sp>
        <p:sp>
          <p:nvSpPr>
            <p:cNvPr id="12" name="TextBox 11">
              <a:extLst>
                <a:ext uri="{FF2B5EF4-FFF2-40B4-BE49-F238E27FC236}">
                  <a16:creationId xmlns:a16="http://schemas.microsoft.com/office/drawing/2014/main" id="{75F4EDDF-2142-1DC7-E8CD-B48DC701C498}"/>
                </a:ext>
              </a:extLst>
            </p:cNvPr>
            <p:cNvSpPr txBox="1"/>
            <p:nvPr/>
          </p:nvSpPr>
          <p:spPr>
            <a:xfrm>
              <a:off x="4621163" y="2427015"/>
              <a:ext cx="250383" cy="369332"/>
            </a:xfrm>
            <a:prstGeom prst="rect">
              <a:avLst/>
            </a:prstGeom>
            <a:solidFill>
              <a:schemeClr val="bg1"/>
            </a:solidFill>
          </p:spPr>
          <p:txBody>
            <a:bodyPr wrap="square" rtlCol="0">
              <a:spAutoFit/>
            </a:bodyPr>
            <a:lstStyle/>
            <a:p>
              <a:r>
                <a:rPr lang="en-US" dirty="0"/>
                <a:t>4</a:t>
              </a:r>
            </a:p>
          </p:txBody>
        </p:sp>
        <p:sp>
          <p:nvSpPr>
            <p:cNvPr id="13" name="TextBox 12">
              <a:extLst>
                <a:ext uri="{FF2B5EF4-FFF2-40B4-BE49-F238E27FC236}">
                  <a16:creationId xmlns:a16="http://schemas.microsoft.com/office/drawing/2014/main" id="{4A47E07D-26F0-1DF6-6418-880B054E6214}"/>
                </a:ext>
              </a:extLst>
            </p:cNvPr>
            <p:cNvSpPr txBox="1"/>
            <p:nvPr/>
          </p:nvSpPr>
          <p:spPr>
            <a:xfrm>
              <a:off x="4940846" y="2420437"/>
              <a:ext cx="250383" cy="369332"/>
            </a:xfrm>
            <a:prstGeom prst="rect">
              <a:avLst/>
            </a:prstGeom>
            <a:solidFill>
              <a:schemeClr val="bg1"/>
            </a:solidFill>
          </p:spPr>
          <p:txBody>
            <a:bodyPr wrap="square" rtlCol="0">
              <a:spAutoFit/>
            </a:bodyPr>
            <a:lstStyle/>
            <a:p>
              <a:r>
                <a:rPr lang="en-US" dirty="0"/>
                <a:t>5</a:t>
              </a:r>
            </a:p>
          </p:txBody>
        </p:sp>
        <p:sp>
          <p:nvSpPr>
            <p:cNvPr id="14" name="TextBox 13">
              <a:extLst>
                <a:ext uri="{FF2B5EF4-FFF2-40B4-BE49-F238E27FC236}">
                  <a16:creationId xmlns:a16="http://schemas.microsoft.com/office/drawing/2014/main" id="{97EC7AE6-8B52-656E-AE6E-9C942CE2B6FF}"/>
                </a:ext>
              </a:extLst>
            </p:cNvPr>
            <p:cNvSpPr txBox="1"/>
            <p:nvPr/>
          </p:nvSpPr>
          <p:spPr>
            <a:xfrm>
              <a:off x="5251128" y="2420437"/>
              <a:ext cx="250383" cy="369332"/>
            </a:xfrm>
            <a:prstGeom prst="rect">
              <a:avLst/>
            </a:prstGeom>
            <a:solidFill>
              <a:schemeClr val="bg1"/>
            </a:solidFill>
          </p:spPr>
          <p:txBody>
            <a:bodyPr wrap="square" rtlCol="0">
              <a:spAutoFit/>
            </a:bodyPr>
            <a:lstStyle/>
            <a:p>
              <a:r>
                <a:rPr lang="en-US" dirty="0"/>
                <a:t>6</a:t>
              </a:r>
            </a:p>
          </p:txBody>
        </p:sp>
        <p:sp>
          <p:nvSpPr>
            <p:cNvPr id="15" name="TextBox 14">
              <a:extLst>
                <a:ext uri="{FF2B5EF4-FFF2-40B4-BE49-F238E27FC236}">
                  <a16:creationId xmlns:a16="http://schemas.microsoft.com/office/drawing/2014/main" id="{91BAC97D-C348-2A0F-76D2-6085E1139037}"/>
                </a:ext>
              </a:extLst>
            </p:cNvPr>
            <p:cNvSpPr txBox="1"/>
            <p:nvPr/>
          </p:nvSpPr>
          <p:spPr>
            <a:xfrm>
              <a:off x="5574566" y="2420437"/>
              <a:ext cx="250383" cy="369332"/>
            </a:xfrm>
            <a:prstGeom prst="rect">
              <a:avLst/>
            </a:prstGeom>
            <a:solidFill>
              <a:schemeClr val="bg1"/>
            </a:solidFill>
          </p:spPr>
          <p:txBody>
            <a:bodyPr wrap="square" rtlCol="0">
              <a:spAutoFit/>
            </a:bodyPr>
            <a:lstStyle/>
            <a:p>
              <a:r>
                <a:rPr lang="en-US" dirty="0"/>
                <a:t>7</a:t>
              </a:r>
            </a:p>
          </p:txBody>
        </p:sp>
        <p:sp>
          <p:nvSpPr>
            <p:cNvPr id="16" name="TextBox 15">
              <a:extLst>
                <a:ext uri="{FF2B5EF4-FFF2-40B4-BE49-F238E27FC236}">
                  <a16:creationId xmlns:a16="http://schemas.microsoft.com/office/drawing/2014/main" id="{85021F5A-1880-56C7-F7F7-EC1C94F404DE}"/>
                </a:ext>
              </a:extLst>
            </p:cNvPr>
            <p:cNvSpPr txBox="1"/>
            <p:nvPr/>
          </p:nvSpPr>
          <p:spPr>
            <a:xfrm>
              <a:off x="5892904" y="2420437"/>
              <a:ext cx="250383" cy="369332"/>
            </a:xfrm>
            <a:prstGeom prst="rect">
              <a:avLst/>
            </a:prstGeom>
            <a:solidFill>
              <a:schemeClr val="bg1"/>
            </a:solidFill>
          </p:spPr>
          <p:txBody>
            <a:bodyPr wrap="square" rtlCol="0">
              <a:spAutoFit/>
            </a:bodyPr>
            <a:lstStyle/>
            <a:p>
              <a:r>
                <a:rPr lang="en-US" dirty="0"/>
                <a:t>8</a:t>
              </a:r>
            </a:p>
          </p:txBody>
        </p:sp>
        <p:sp>
          <p:nvSpPr>
            <p:cNvPr id="17" name="TextBox 16">
              <a:extLst>
                <a:ext uri="{FF2B5EF4-FFF2-40B4-BE49-F238E27FC236}">
                  <a16:creationId xmlns:a16="http://schemas.microsoft.com/office/drawing/2014/main" id="{F2ED0E82-0E5B-2315-1967-AC4E47384B1A}"/>
                </a:ext>
              </a:extLst>
            </p:cNvPr>
            <p:cNvSpPr txBox="1"/>
            <p:nvPr/>
          </p:nvSpPr>
          <p:spPr>
            <a:xfrm>
              <a:off x="6224021" y="2415977"/>
              <a:ext cx="278185" cy="369332"/>
            </a:xfrm>
            <a:prstGeom prst="rect">
              <a:avLst/>
            </a:prstGeom>
            <a:solidFill>
              <a:schemeClr val="bg1"/>
            </a:solidFill>
          </p:spPr>
          <p:txBody>
            <a:bodyPr wrap="square" rtlCol="0">
              <a:spAutoFit/>
            </a:bodyPr>
            <a:lstStyle/>
            <a:p>
              <a:r>
                <a:rPr lang="en-US" dirty="0"/>
                <a:t>9</a:t>
              </a:r>
            </a:p>
          </p:txBody>
        </p:sp>
        <p:sp>
          <p:nvSpPr>
            <p:cNvPr id="18" name="TextBox 17">
              <a:extLst>
                <a:ext uri="{FF2B5EF4-FFF2-40B4-BE49-F238E27FC236}">
                  <a16:creationId xmlns:a16="http://schemas.microsoft.com/office/drawing/2014/main" id="{3E2DDCD3-E618-1D5C-2240-388E734B3317}"/>
                </a:ext>
              </a:extLst>
            </p:cNvPr>
            <p:cNvSpPr txBox="1"/>
            <p:nvPr/>
          </p:nvSpPr>
          <p:spPr>
            <a:xfrm>
              <a:off x="6489700" y="2415624"/>
              <a:ext cx="440400" cy="369332"/>
            </a:xfrm>
            <a:prstGeom prst="rect">
              <a:avLst/>
            </a:prstGeom>
            <a:solidFill>
              <a:schemeClr val="bg1"/>
            </a:solidFill>
          </p:spPr>
          <p:txBody>
            <a:bodyPr wrap="square" rtlCol="0">
              <a:spAutoFit/>
            </a:bodyPr>
            <a:lstStyle/>
            <a:p>
              <a:r>
                <a:rPr lang="en-US" dirty="0"/>
                <a:t>10</a:t>
              </a:r>
            </a:p>
          </p:txBody>
        </p:sp>
        <p:sp>
          <p:nvSpPr>
            <p:cNvPr id="19" name="TextBox 18">
              <a:extLst>
                <a:ext uri="{FF2B5EF4-FFF2-40B4-BE49-F238E27FC236}">
                  <a16:creationId xmlns:a16="http://schemas.microsoft.com/office/drawing/2014/main" id="{F6B49DA0-A169-E3B6-4A80-A6349B70F01B}"/>
                </a:ext>
              </a:extLst>
            </p:cNvPr>
            <p:cNvSpPr txBox="1"/>
            <p:nvPr/>
          </p:nvSpPr>
          <p:spPr>
            <a:xfrm>
              <a:off x="6852240" y="2420437"/>
              <a:ext cx="440400" cy="369332"/>
            </a:xfrm>
            <a:prstGeom prst="rect">
              <a:avLst/>
            </a:prstGeom>
            <a:solidFill>
              <a:schemeClr val="bg1"/>
            </a:solidFill>
          </p:spPr>
          <p:txBody>
            <a:bodyPr wrap="square" rtlCol="0">
              <a:spAutoFit/>
            </a:bodyPr>
            <a:lstStyle/>
            <a:p>
              <a:r>
                <a:rPr lang="en-US" dirty="0"/>
                <a:t>11</a:t>
              </a:r>
            </a:p>
          </p:txBody>
        </p:sp>
        <p:cxnSp>
          <p:nvCxnSpPr>
            <p:cNvPr id="20" name="Elbow Connector 19">
              <a:extLst>
                <a:ext uri="{FF2B5EF4-FFF2-40B4-BE49-F238E27FC236}">
                  <a16:creationId xmlns:a16="http://schemas.microsoft.com/office/drawing/2014/main" id="{7CA2F46F-DFA3-9E32-7427-1CC1D8984FB0}"/>
                </a:ext>
              </a:extLst>
            </p:cNvPr>
            <p:cNvCxnSpPr>
              <a:cxnSpLocks/>
            </p:cNvCxnSpPr>
            <p:nvPr/>
          </p:nvCxnSpPr>
          <p:spPr>
            <a:xfrm rot="5400000" flipH="1" flipV="1">
              <a:off x="4596525" y="1638381"/>
              <a:ext cx="49276" cy="2212920"/>
            </a:xfrm>
            <a:prstGeom prst="bentConnector3">
              <a:avLst>
                <a:gd name="adj1" fmla="val -649485"/>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Elbow Connector 20">
              <a:extLst>
                <a:ext uri="{FF2B5EF4-FFF2-40B4-BE49-F238E27FC236}">
                  <a16:creationId xmlns:a16="http://schemas.microsoft.com/office/drawing/2014/main" id="{39E6D87C-0BB2-A8C9-1503-B6F76D0D7D05}"/>
                </a:ext>
              </a:extLst>
            </p:cNvPr>
            <p:cNvCxnSpPr>
              <a:cxnSpLocks/>
            </p:cNvCxnSpPr>
            <p:nvPr/>
          </p:nvCxnSpPr>
          <p:spPr>
            <a:xfrm rot="5400000" flipH="1" flipV="1">
              <a:off x="4912639" y="1617164"/>
              <a:ext cx="49276" cy="2212920"/>
            </a:xfrm>
            <a:prstGeom prst="bentConnector3">
              <a:avLst>
                <a:gd name="adj1" fmla="val -610417"/>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2" name="Elbow Connector 21">
              <a:extLst>
                <a:ext uri="{FF2B5EF4-FFF2-40B4-BE49-F238E27FC236}">
                  <a16:creationId xmlns:a16="http://schemas.microsoft.com/office/drawing/2014/main" id="{C9C85B1A-F7F5-2A9A-8767-21F24CC4CAC2}"/>
                </a:ext>
              </a:extLst>
            </p:cNvPr>
            <p:cNvCxnSpPr>
              <a:cxnSpLocks/>
            </p:cNvCxnSpPr>
            <p:nvPr/>
          </p:nvCxnSpPr>
          <p:spPr>
            <a:xfrm rot="5400000" flipH="1" flipV="1">
              <a:off x="5237928" y="1626790"/>
              <a:ext cx="49276" cy="2212920"/>
            </a:xfrm>
            <a:prstGeom prst="bentConnector3">
              <a:avLst>
                <a:gd name="adj1" fmla="val -473683"/>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3" name="Elbow Connector 22">
              <a:extLst>
                <a:ext uri="{FF2B5EF4-FFF2-40B4-BE49-F238E27FC236}">
                  <a16:creationId xmlns:a16="http://schemas.microsoft.com/office/drawing/2014/main" id="{B55BF619-C3A2-2012-FC45-327B1B771EA2}"/>
                </a:ext>
              </a:extLst>
            </p:cNvPr>
            <p:cNvCxnSpPr>
              <a:cxnSpLocks/>
            </p:cNvCxnSpPr>
            <p:nvPr/>
          </p:nvCxnSpPr>
          <p:spPr>
            <a:xfrm rot="5400000" flipH="1" flipV="1">
              <a:off x="5547936" y="1618337"/>
              <a:ext cx="49276" cy="2212920"/>
            </a:xfrm>
            <a:prstGeom prst="bentConnector3">
              <a:avLst>
                <a:gd name="adj1" fmla="val -405315"/>
              </a:avLst>
            </a:prstGeom>
            <a:ln>
              <a:solidFill>
                <a:schemeClr val="accent6"/>
              </a:solidFill>
              <a:headEnd type="triangle"/>
              <a:tailEnd type="triangle"/>
            </a:ln>
          </p:spPr>
          <p:style>
            <a:lnRef idx="2">
              <a:schemeClr val="accent1"/>
            </a:lnRef>
            <a:fillRef idx="0">
              <a:schemeClr val="accent1"/>
            </a:fillRef>
            <a:effectRef idx="1">
              <a:schemeClr val="accent1"/>
            </a:effectRef>
            <a:fontRef idx="minor">
              <a:schemeClr val="tx1"/>
            </a:fontRef>
          </p:style>
        </p:cxnSp>
      </p:grpSp>
      <p:pic>
        <p:nvPicPr>
          <p:cNvPr id="27" name="Picture 26">
            <a:extLst>
              <a:ext uri="{FF2B5EF4-FFF2-40B4-BE49-F238E27FC236}">
                <a16:creationId xmlns:a16="http://schemas.microsoft.com/office/drawing/2014/main" id="{773BF96E-F2E1-7A6E-1FBF-D9890F883979}"/>
              </a:ext>
            </a:extLst>
          </p:cNvPr>
          <p:cNvPicPr>
            <a:picLocks noChangeAspect="1"/>
          </p:cNvPicPr>
          <p:nvPr/>
        </p:nvPicPr>
        <p:blipFill>
          <a:blip r:embed="rId3"/>
          <a:stretch>
            <a:fillRect/>
          </a:stretch>
        </p:blipFill>
        <p:spPr>
          <a:xfrm>
            <a:off x="557794" y="5371700"/>
            <a:ext cx="6316450" cy="807213"/>
          </a:xfrm>
          <a:prstGeom prst="rect">
            <a:avLst/>
          </a:prstGeom>
        </p:spPr>
      </p:pic>
      <p:pic>
        <p:nvPicPr>
          <p:cNvPr id="29" name="Picture 28">
            <a:extLst>
              <a:ext uri="{FF2B5EF4-FFF2-40B4-BE49-F238E27FC236}">
                <a16:creationId xmlns:a16="http://schemas.microsoft.com/office/drawing/2014/main" id="{AFA7091B-18F1-32B2-CA53-0FCF6B500758}"/>
              </a:ext>
            </a:extLst>
          </p:cNvPr>
          <p:cNvPicPr>
            <a:picLocks noChangeAspect="1"/>
          </p:cNvPicPr>
          <p:nvPr/>
        </p:nvPicPr>
        <p:blipFill>
          <a:blip r:embed="rId4"/>
          <a:stretch>
            <a:fillRect/>
          </a:stretch>
        </p:blipFill>
        <p:spPr>
          <a:xfrm>
            <a:off x="7253837" y="4311625"/>
            <a:ext cx="4913676" cy="2171987"/>
          </a:xfrm>
          <a:prstGeom prst="rect">
            <a:avLst/>
          </a:prstGeom>
        </p:spPr>
      </p:pic>
      <p:sp>
        <p:nvSpPr>
          <p:cNvPr id="4" name="Rectangle 3">
            <a:extLst>
              <a:ext uri="{FF2B5EF4-FFF2-40B4-BE49-F238E27FC236}">
                <a16:creationId xmlns:a16="http://schemas.microsoft.com/office/drawing/2014/main" id="{9E32F778-BFD9-2C8B-BBFA-AE2719890AF8}"/>
              </a:ext>
            </a:extLst>
          </p:cNvPr>
          <p:cNvSpPr/>
          <p:nvPr/>
        </p:nvSpPr>
        <p:spPr>
          <a:xfrm>
            <a:off x="9327173" y="1388507"/>
            <a:ext cx="333828" cy="2523736"/>
          </a:xfrm>
          <a:prstGeom prst="rect">
            <a:avLst/>
          </a:prstGeom>
          <a:solidFill>
            <a:srgbClr val="FFF600">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C229E2E-393A-2CE7-8C3F-B6667118AAC4}"/>
              </a:ext>
            </a:extLst>
          </p:cNvPr>
          <p:cNvSpPr/>
          <p:nvPr/>
        </p:nvSpPr>
        <p:spPr>
          <a:xfrm>
            <a:off x="10970103" y="1379365"/>
            <a:ext cx="333828" cy="2523736"/>
          </a:xfrm>
          <a:prstGeom prst="rect">
            <a:avLst/>
          </a:prstGeom>
          <a:solidFill>
            <a:srgbClr val="FFF600">
              <a:alpha val="5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8319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A69AC3-272D-B270-DC38-B270DE22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A4CBC2-8F9D-D6EA-64DD-5BBCDBCAACAE}"/>
              </a:ext>
            </a:extLst>
          </p:cNvPr>
          <p:cNvSpPr>
            <a:spLocks noGrp="1"/>
          </p:cNvSpPr>
          <p:nvPr>
            <p:ph type="title"/>
          </p:nvPr>
        </p:nvSpPr>
        <p:spPr>
          <a:xfrm>
            <a:off x="268493" y="139828"/>
            <a:ext cx="11655014" cy="1325563"/>
          </a:xfrm>
        </p:spPr>
        <p:txBody>
          <a:bodyPr>
            <a:noAutofit/>
          </a:bodyPr>
          <a:lstStyle/>
          <a:p>
            <a:r>
              <a:rPr lang="en-US" sz="5000" dirty="0">
                <a:latin typeface="Forma DJR Banner Light" pitchFamily="2" charset="77"/>
              </a:rPr>
              <a:t>Metrics Selection: Quantifying Similarity</a:t>
            </a:r>
          </a:p>
        </p:txBody>
      </p:sp>
      <p:graphicFrame>
        <p:nvGraphicFramePr>
          <p:cNvPr id="4" name="Table 3">
            <a:extLst>
              <a:ext uri="{FF2B5EF4-FFF2-40B4-BE49-F238E27FC236}">
                <a16:creationId xmlns:a16="http://schemas.microsoft.com/office/drawing/2014/main" id="{5D7A721A-7EBC-F142-B001-3C15775B14CA}"/>
              </a:ext>
            </a:extLst>
          </p:cNvPr>
          <p:cNvGraphicFramePr>
            <a:graphicFrameLocks noGrp="1"/>
          </p:cNvGraphicFramePr>
          <p:nvPr>
            <p:extLst>
              <p:ext uri="{D42A27DB-BD31-4B8C-83A1-F6EECF244321}">
                <p14:modId xmlns:p14="http://schemas.microsoft.com/office/powerpoint/2010/main" val="3819999502"/>
              </p:ext>
            </p:extLst>
          </p:nvPr>
        </p:nvGraphicFramePr>
        <p:xfrm>
          <a:off x="8350699" y="2409408"/>
          <a:ext cx="3841301" cy="2286000"/>
        </p:xfrm>
        <a:graphic>
          <a:graphicData uri="http://schemas.openxmlformats.org/drawingml/2006/table">
            <a:tbl>
              <a:tblPr firstRow="1" bandRow="1">
                <a:tableStyleId>{5C22544A-7EE6-4342-B048-85BDC9FD1C3A}</a:tableStyleId>
              </a:tblPr>
              <a:tblGrid>
                <a:gridCol w="1144921">
                  <a:extLst>
                    <a:ext uri="{9D8B030D-6E8A-4147-A177-3AD203B41FA5}">
                      <a16:colId xmlns:a16="http://schemas.microsoft.com/office/drawing/2014/main" val="493710649"/>
                    </a:ext>
                  </a:extLst>
                </a:gridCol>
                <a:gridCol w="1415946">
                  <a:extLst>
                    <a:ext uri="{9D8B030D-6E8A-4147-A177-3AD203B41FA5}">
                      <a16:colId xmlns:a16="http://schemas.microsoft.com/office/drawing/2014/main" val="1204058454"/>
                    </a:ext>
                  </a:extLst>
                </a:gridCol>
                <a:gridCol w="1280434">
                  <a:extLst>
                    <a:ext uri="{9D8B030D-6E8A-4147-A177-3AD203B41FA5}">
                      <a16:colId xmlns:a16="http://schemas.microsoft.com/office/drawing/2014/main" val="863735665"/>
                    </a:ext>
                  </a:extLst>
                </a:gridCol>
              </a:tblGrid>
              <a:tr h="665023">
                <a:tc>
                  <a:txBody>
                    <a:bodyPr/>
                    <a:lstStyle/>
                    <a:p>
                      <a:r>
                        <a:rPr lang="en-US" sz="2000" dirty="0"/>
                        <a:t>Base Pair</a:t>
                      </a:r>
                    </a:p>
                  </a:txBody>
                  <a:tcPr/>
                </a:tc>
                <a:tc>
                  <a:txBody>
                    <a:bodyPr/>
                    <a:lstStyle/>
                    <a:p>
                      <a:r>
                        <a:rPr lang="en-US" sz="2000" dirty="0"/>
                        <a:t>Position A</a:t>
                      </a:r>
                    </a:p>
                  </a:txBody>
                  <a:tcPr/>
                </a:tc>
                <a:tc>
                  <a:txBody>
                    <a:bodyPr/>
                    <a:lstStyle/>
                    <a:p>
                      <a:r>
                        <a:rPr lang="en-US" sz="2000" dirty="0"/>
                        <a:t>Position B</a:t>
                      </a:r>
                    </a:p>
                  </a:txBody>
                  <a:tcPr/>
                </a:tc>
                <a:extLst>
                  <a:ext uri="{0D108BD9-81ED-4DB2-BD59-A6C34878D82A}">
                    <a16:rowId xmlns:a16="http://schemas.microsoft.com/office/drawing/2014/main" val="3990981187"/>
                  </a:ext>
                </a:extLst>
              </a:tr>
              <a:tr h="375883">
                <a:tc>
                  <a:txBody>
                    <a:bodyPr/>
                    <a:lstStyle/>
                    <a:p>
                      <a:r>
                        <a:rPr lang="en-US" sz="2000" dirty="0"/>
                        <a:t>A</a:t>
                      </a:r>
                    </a:p>
                  </a:txBody>
                  <a:tcPr/>
                </a:tc>
                <a:tc>
                  <a:txBody>
                    <a:bodyPr/>
                    <a:lstStyle/>
                    <a:p>
                      <a:r>
                        <a:rPr lang="en-US" sz="2000" dirty="0"/>
                        <a:t>0.25</a:t>
                      </a:r>
                    </a:p>
                  </a:txBody>
                  <a:tcPr/>
                </a:tc>
                <a:tc>
                  <a:txBody>
                    <a:bodyPr/>
                    <a:lstStyle/>
                    <a:p>
                      <a:r>
                        <a:rPr lang="en-US" sz="2000" dirty="0"/>
                        <a:t>0.25</a:t>
                      </a:r>
                    </a:p>
                  </a:txBody>
                  <a:tcPr/>
                </a:tc>
                <a:extLst>
                  <a:ext uri="{0D108BD9-81ED-4DB2-BD59-A6C34878D82A}">
                    <a16:rowId xmlns:a16="http://schemas.microsoft.com/office/drawing/2014/main" val="1024844443"/>
                  </a:ext>
                </a:extLst>
              </a:tr>
              <a:tr h="375883">
                <a:tc>
                  <a:txBody>
                    <a:bodyPr/>
                    <a:lstStyle/>
                    <a:p>
                      <a:r>
                        <a:rPr lang="en-US" sz="2000" dirty="0"/>
                        <a:t>T</a:t>
                      </a:r>
                    </a:p>
                  </a:txBody>
                  <a:tcPr/>
                </a:tc>
                <a:tc>
                  <a:txBody>
                    <a:bodyPr/>
                    <a:lstStyle/>
                    <a:p>
                      <a:r>
                        <a:rPr lang="en-US" sz="2000" dirty="0"/>
                        <a:t>0.25</a:t>
                      </a:r>
                    </a:p>
                  </a:txBody>
                  <a:tcPr/>
                </a:tc>
                <a:tc>
                  <a:txBody>
                    <a:bodyPr/>
                    <a:lstStyle/>
                    <a:p>
                      <a:r>
                        <a:rPr lang="en-US" sz="2000" dirty="0"/>
                        <a:t>0.25</a:t>
                      </a:r>
                    </a:p>
                  </a:txBody>
                  <a:tcPr/>
                </a:tc>
                <a:extLst>
                  <a:ext uri="{0D108BD9-81ED-4DB2-BD59-A6C34878D82A}">
                    <a16:rowId xmlns:a16="http://schemas.microsoft.com/office/drawing/2014/main" val="2409297657"/>
                  </a:ext>
                </a:extLst>
              </a:tr>
              <a:tr h="375883">
                <a:tc>
                  <a:txBody>
                    <a:bodyPr/>
                    <a:lstStyle/>
                    <a:p>
                      <a:r>
                        <a:rPr lang="en-US" sz="2000" dirty="0"/>
                        <a:t>C</a:t>
                      </a:r>
                    </a:p>
                  </a:txBody>
                  <a:tcPr/>
                </a:tc>
                <a:tc>
                  <a:txBody>
                    <a:bodyPr/>
                    <a:lstStyle/>
                    <a:p>
                      <a:r>
                        <a:rPr lang="en-US" sz="2000" dirty="0"/>
                        <a:t>0.25</a:t>
                      </a:r>
                    </a:p>
                  </a:txBody>
                  <a:tcPr/>
                </a:tc>
                <a:tc>
                  <a:txBody>
                    <a:bodyPr/>
                    <a:lstStyle/>
                    <a:p>
                      <a:r>
                        <a:rPr lang="en-US" sz="2000" dirty="0"/>
                        <a:t>0.25</a:t>
                      </a:r>
                    </a:p>
                  </a:txBody>
                  <a:tcPr/>
                </a:tc>
                <a:extLst>
                  <a:ext uri="{0D108BD9-81ED-4DB2-BD59-A6C34878D82A}">
                    <a16:rowId xmlns:a16="http://schemas.microsoft.com/office/drawing/2014/main" val="2868862830"/>
                  </a:ext>
                </a:extLst>
              </a:tr>
              <a:tr h="375883">
                <a:tc>
                  <a:txBody>
                    <a:bodyPr/>
                    <a:lstStyle/>
                    <a:p>
                      <a:r>
                        <a:rPr lang="en-US" sz="2000" dirty="0"/>
                        <a:t>G</a:t>
                      </a:r>
                    </a:p>
                  </a:txBody>
                  <a:tcPr/>
                </a:tc>
                <a:tc>
                  <a:txBody>
                    <a:bodyPr/>
                    <a:lstStyle/>
                    <a:p>
                      <a:r>
                        <a:rPr lang="en-US" sz="2000" dirty="0"/>
                        <a:t>0.25</a:t>
                      </a:r>
                    </a:p>
                  </a:txBody>
                  <a:tcPr/>
                </a:tc>
                <a:tc>
                  <a:txBody>
                    <a:bodyPr/>
                    <a:lstStyle/>
                    <a:p>
                      <a:r>
                        <a:rPr lang="en-US" sz="2000" dirty="0"/>
                        <a:t>0.25</a:t>
                      </a:r>
                    </a:p>
                  </a:txBody>
                  <a:tcPr/>
                </a:tc>
                <a:extLst>
                  <a:ext uri="{0D108BD9-81ED-4DB2-BD59-A6C34878D82A}">
                    <a16:rowId xmlns:a16="http://schemas.microsoft.com/office/drawing/2014/main" val="3108162676"/>
                  </a:ext>
                </a:extLst>
              </a:tr>
            </a:tbl>
          </a:graphicData>
        </a:graphic>
      </p:graphicFrame>
      <p:pic>
        <p:nvPicPr>
          <p:cNvPr id="24" name="Picture 23">
            <a:extLst>
              <a:ext uri="{FF2B5EF4-FFF2-40B4-BE49-F238E27FC236}">
                <a16:creationId xmlns:a16="http://schemas.microsoft.com/office/drawing/2014/main" id="{4C0F4C4A-F2A9-BF62-E904-2493F2F71679}"/>
              </a:ext>
            </a:extLst>
          </p:cNvPr>
          <p:cNvPicPr>
            <a:picLocks noChangeAspect="1"/>
          </p:cNvPicPr>
          <p:nvPr/>
        </p:nvPicPr>
        <p:blipFill>
          <a:blip r:embed="rId2"/>
          <a:stretch>
            <a:fillRect/>
          </a:stretch>
        </p:blipFill>
        <p:spPr>
          <a:xfrm>
            <a:off x="309806" y="1690058"/>
            <a:ext cx="7772400" cy="3477884"/>
          </a:xfrm>
          <a:prstGeom prst="rect">
            <a:avLst/>
          </a:prstGeom>
        </p:spPr>
      </p:pic>
    </p:spTree>
    <p:extLst>
      <p:ext uri="{BB962C8B-B14F-4D97-AF65-F5344CB8AC3E}">
        <p14:creationId xmlns:p14="http://schemas.microsoft.com/office/powerpoint/2010/main" val="1211594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B4D3A-592C-E676-2717-92C7787DD24A}"/>
              </a:ext>
            </a:extLst>
          </p:cNvPr>
          <p:cNvPicPr>
            <a:picLocks noChangeAspect="1"/>
          </p:cNvPicPr>
          <p:nvPr/>
        </p:nvPicPr>
        <p:blipFill>
          <a:blip r:embed="rId2"/>
          <a:stretch>
            <a:fillRect/>
          </a:stretch>
        </p:blipFill>
        <p:spPr>
          <a:xfrm>
            <a:off x="6047755" y="1870317"/>
            <a:ext cx="5828623" cy="5010832"/>
          </a:xfrm>
          <a:prstGeom prst="rect">
            <a:avLst/>
          </a:prstGeom>
        </p:spPr>
      </p:pic>
      <p:pic>
        <p:nvPicPr>
          <p:cNvPr id="31" name="Picture 30">
            <a:extLst>
              <a:ext uri="{FF2B5EF4-FFF2-40B4-BE49-F238E27FC236}">
                <a16:creationId xmlns:a16="http://schemas.microsoft.com/office/drawing/2014/main" id="{FF32AFF9-72E4-3086-B420-9F346A7B39CF}"/>
              </a:ext>
            </a:extLst>
          </p:cNvPr>
          <p:cNvPicPr>
            <a:picLocks noChangeAspect="1"/>
          </p:cNvPicPr>
          <p:nvPr/>
        </p:nvPicPr>
        <p:blipFill>
          <a:blip r:embed="rId3"/>
          <a:stretch>
            <a:fillRect/>
          </a:stretch>
        </p:blipFill>
        <p:spPr>
          <a:xfrm>
            <a:off x="338772" y="2611091"/>
            <a:ext cx="5466202" cy="4080061"/>
          </a:xfrm>
          <a:prstGeom prst="rect">
            <a:avLst/>
          </a:prstGeom>
        </p:spPr>
      </p:pic>
      <p:sp>
        <p:nvSpPr>
          <p:cNvPr id="2" name="Title 1">
            <a:extLst>
              <a:ext uri="{FF2B5EF4-FFF2-40B4-BE49-F238E27FC236}">
                <a16:creationId xmlns:a16="http://schemas.microsoft.com/office/drawing/2014/main" id="{E936B0FD-2700-B2D0-CB34-7B6D0CBAACE2}"/>
              </a:ext>
            </a:extLst>
          </p:cNvPr>
          <p:cNvSpPr>
            <a:spLocks noGrp="1"/>
          </p:cNvSpPr>
          <p:nvPr>
            <p:ph type="title"/>
          </p:nvPr>
        </p:nvSpPr>
        <p:spPr>
          <a:xfrm>
            <a:off x="224885" y="-81648"/>
            <a:ext cx="10515600" cy="1325563"/>
          </a:xfrm>
        </p:spPr>
        <p:txBody>
          <a:bodyPr/>
          <a:lstStyle/>
          <a:p>
            <a:r>
              <a:rPr lang="en-US" dirty="0">
                <a:latin typeface="Forma DJR Banner Light" pitchFamily="2" charset="77"/>
              </a:rPr>
              <a:t>Thresholding and Diagonal Growing</a:t>
            </a:r>
          </a:p>
        </p:txBody>
      </p:sp>
      <p:cxnSp>
        <p:nvCxnSpPr>
          <p:cNvPr id="8" name="Straight Arrow Connector 7">
            <a:extLst>
              <a:ext uri="{FF2B5EF4-FFF2-40B4-BE49-F238E27FC236}">
                <a16:creationId xmlns:a16="http://schemas.microsoft.com/office/drawing/2014/main" id="{0C19A49A-D215-C930-7290-C05CA0A3951E}"/>
              </a:ext>
            </a:extLst>
          </p:cNvPr>
          <p:cNvCxnSpPr>
            <a:cxnSpLocks/>
          </p:cNvCxnSpPr>
          <p:nvPr/>
        </p:nvCxnSpPr>
        <p:spPr>
          <a:xfrm>
            <a:off x="6811899" y="5290759"/>
            <a:ext cx="874004" cy="862906"/>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6AF705D3-4478-D952-007D-4CDDAAC37A91}"/>
              </a:ext>
            </a:extLst>
          </p:cNvPr>
          <p:cNvSpPr txBox="1"/>
          <p:nvPr/>
        </p:nvSpPr>
        <p:spPr>
          <a:xfrm>
            <a:off x="338772" y="979875"/>
            <a:ext cx="7192713" cy="1631216"/>
          </a:xfrm>
          <a:prstGeom prst="rect">
            <a:avLst/>
          </a:prstGeom>
          <a:noFill/>
        </p:spPr>
        <p:txBody>
          <a:bodyPr wrap="square" rtlCol="0">
            <a:spAutoFit/>
          </a:bodyPr>
          <a:lstStyle/>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Construct a matrix of our selected measure</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Define what constitutes a high value, find diagonal runs for motif candidates</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Distribution-based cutoff, e.g. 90</a:t>
            </a:r>
            <a:r>
              <a:rPr lang="en-US" sz="2000" baseline="30000" dirty="0">
                <a:latin typeface="Franklin Gothic Medium" panose="020B0603020102020204" pitchFamily="34" charset="0"/>
                <a:cs typeface="Aharoni" panose="02010803020104030203" pitchFamily="2" charset="-79"/>
              </a:rPr>
              <a:t>th</a:t>
            </a:r>
            <a:r>
              <a:rPr lang="en-US" sz="2000" dirty="0">
                <a:latin typeface="Franklin Gothic Medium" panose="020B0603020102020204" pitchFamily="34" charset="0"/>
                <a:cs typeface="Aharoni" panose="02010803020104030203" pitchFamily="2" charset="-79"/>
              </a:rPr>
              <a:t> pct: Metric &gt;= 1.60</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(8,1) ; (9,2) ; (10,3) = TCA…TCA</a:t>
            </a:r>
          </a:p>
        </p:txBody>
      </p:sp>
      <p:pic>
        <p:nvPicPr>
          <p:cNvPr id="26" name="Picture 25" descr="A diagram of numbers and letters&#10;&#10;AI-generated content may be incorrect.">
            <a:extLst>
              <a:ext uri="{FF2B5EF4-FFF2-40B4-BE49-F238E27FC236}">
                <a16:creationId xmlns:a16="http://schemas.microsoft.com/office/drawing/2014/main" id="{6ADC6C19-71D0-3B9C-8543-C847070C734A}"/>
              </a:ext>
            </a:extLst>
          </p:cNvPr>
          <p:cNvPicPr>
            <a:picLocks noChangeAspect="1"/>
          </p:cNvPicPr>
          <p:nvPr/>
        </p:nvPicPr>
        <p:blipFill>
          <a:blip r:embed="rId4"/>
          <a:stretch>
            <a:fillRect/>
          </a:stretch>
        </p:blipFill>
        <p:spPr>
          <a:xfrm>
            <a:off x="8084202" y="268454"/>
            <a:ext cx="3152057" cy="1575626"/>
          </a:xfrm>
          <a:prstGeom prst="rect">
            <a:avLst/>
          </a:prstGeom>
        </p:spPr>
      </p:pic>
      <p:sp>
        <p:nvSpPr>
          <p:cNvPr id="30" name="Rectangle 29">
            <a:extLst>
              <a:ext uri="{FF2B5EF4-FFF2-40B4-BE49-F238E27FC236}">
                <a16:creationId xmlns:a16="http://schemas.microsoft.com/office/drawing/2014/main" id="{B958CFD0-A286-10DE-BD08-0F219729BB66}"/>
              </a:ext>
            </a:extLst>
          </p:cNvPr>
          <p:cNvSpPr/>
          <p:nvPr/>
        </p:nvSpPr>
        <p:spPr>
          <a:xfrm>
            <a:off x="8860221" y="1439917"/>
            <a:ext cx="651641" cy="189186"/>
          </a:xfrm>
          <a:prstGeom prst="rect">
            <a:avLst/>
          </a:prstGeom>
          <a:solidFill>
            <a:srgbClr val="FFFF00">
              <a:alpha val="4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15B5A5DA-A920-B7E0-3F4F-AD451E902B17}"/>
              </a:ext>
            </a:extLst>
          </p:cNvPr>
          <p:cNvSpPr/>
          <p:nvPr/>
        </p:nvSpPr>
        <p:spPr>
          <a:xfrm>
            <a:off x="10287881" y="1449404"/>
            <a:ext cx="651641" cy="189186"/>
          </a:xfrm>
          <a:prstGeom prst="rect">
            <a:avLst/>
          </a:prstGeom>
          <a:solidFill>
            <a:srgbClr val="FFFF00">
              <a:alpha val="4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1902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40611-9005-8CB9-F59F-AD056A03F4A3}"/>
              </a:ext>
            </a:extLst>
          </p:cNvPr>
          <p:cNvSpPr>
            <a:spLocks noGrp="1"/>
          </p:cNvSpPr>
          <p:nvPr>
            <p:ph type="title"/>
          </p:nvPr>
        </p:nvSpPr>
        <p:spPr>
          <a:xfrm>
            <a:off x="224885" y="109821"/>
            <a:ext cx="10515600" cy="1325563"/>
          </a:xfrm>
        </p:spPr>
        <p:txBody>
          <a:bodyPr/>
          <a:lstStyle/>
          <a:p>
            <a:r>
              <a:rPr lang="en-US" dirty="0">
                <a:latin typeface="Forma DJR Banner Light" pitchFamily="2" charset="77"/>
              </a:rPr>
              <a:t>Statistical Strength: Bootstrapping for Evaluation</a:t>
            </a:r>
          </a:p>
        </p:txBody>
      </p:sp>
      <p:pic>
        <p:nvPicPr>
          <p:cNvPr id="9" name="Picture 8">
            <a:extLst>
              <a:ext uri="{FF2B5EF4-FFF2-40B4-BE49-F238E27FC236}">
                <a16:creationId xmlns:a16="http://schemas.microsoft.com/office/drawing/2014/main" id="{2C348CB3-1B73-0095-D806-1D58A50BB83B}"/>
              </a:ext>
            </a:extLst>
          </p:cNvPr>
          <p:cNvPicPr>
            <a:picLocks noChangeAspect="1"/>
          </p:cNvPicPr>
          <p:nvPr/>
        </p:nvPicPr>
        <p:blipFill>
          <a:blip r:embed="rId3"/>
          <a:stretch>
            <a:fillRect/>
          </a:stretch>
        </p:blipFill>
        <p:spPr>
          <a:xfrm>
            <a:off x="391546" y="2268537"/>
            <a:ext cx="6593840" cy="4589463"/>
          </a:xfrm>
          <a:prstGeom prst="rect">
            <a:avLst/>
          </a:prstGeom>
        </p:spPr>
      </p:pic>
      <p:sp>
        <p:nvSpPr>
          <p:cNvPr id="3" name="TextBox 2">
            <a:extLst>
              <a:ext uri="{FF2B5EF4-FFF2-40B4-BE49-F238E27FC236}">
                <a16:creationId xmlns:a16="http://schemas.microsoft.com/office/drawing/2014/main" id="{67D310E5-056C-3520-8FBA-830AB3E795A2}"/>
              </a:ext>
            </a:extLst>
          </p:cNvPr>
          <p:cNvSpPr txBox="1"/>
          <p:nvPr/>
        </p:nvSpPr>
        <p:spPr>
          <a:xfrm>
            <a:off x="838200" y="1130204"/>
            <a:ext cx="10515600" cy="1015663"/>
          </a:xfrm>
          <a:prstGeom prst="rect">
            <a:avLst/>
          </a:prstGeom>
          <a:noFill/>
        </p:spPr>
        <p:txBody>
          <a:bodyPr wrap="square" rtlCol="0">
            <a:spAutoFit/>
          </a:bodyPr>
          <a:lstStyle/>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Sum the cells within diagonals to compute candidate score</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Shuffle indices to randomize positional information, perform diagonal growing again </a:t>
            </a:r>
          </a:p>
          <a:p>
            <a:pPr marL="285749" indent="-285749">
              <a:buFont typeface="Arial" panose="020B0604020202020204" pitchFamily="34" charset="0"/>
              <a:buChar char="•"/>
            </a:pPr>
            <a:r>
              <a:rPr lang="en-US" sz="2000" dirty="0">
                <a:latin typeface="Franklin Gothic Medium" panose="020B0603020102020204" pitchFamily="34" charset="0"/>
                <a:cs typeface="Aharoni" panose="02010803020104030203" pitchFamily="2" charset="-79"/>
              </a:rPr>
              <a:t>Compare our scores against this distribution of top scores in shuffled space </a:t>
            </a:r>
          </a:p>
        </p:txBody>
      </p:sp>
      <p:pic>
        <p:nvPicPr>
          <p:cNvPr id="4" name="Picture 3">
            <a:extLst>
              <a:ext uri="{FF2B5EF4-FFF2-40B4-BE49-F238E27FC236}">
                <a16:creationId xmlns:a16="http://schemas.microsoft.com/office/drawing/2014/main" id="{13D2B1BB-DD0A-99DA-90C7-CDA2479C937A}"/>
              </a:ext>
            </a:extLst>
          </p:cNvPr>
          <p:cNvPicPr>
            <a:picLocks noChangeAspect="1"/>
          </p:cNvPicPr>
          <p:nvPr/>
        </p:nvPicPr>
        <p:blipFill>
          <a:blip r:embed="rId4"/>
          <a:stretch>
            <a:fillRect/>
          </a:stretch>
        </p:blipFill>
        <p:spPr>
          <a:xfrm>
            <a:off x="7135857" y="2250524"/>
            <a:ext cx="4890992" cy="4204756"/>
          </a:xfrm>
          <a:prstGeom prst="rect">
            <a:avLst/>
          </a:prstGeom>
        </p:spPr>
      </p:pic>
      <p:cxnSp>
        <p:nvCxnSpPr>
          <p:cNvPr id="5" name="Straight Arrow Connector 4">
            <a:extLst>
              <a:ext uri="{FF2B5EF4-FFF2-40B4-BE49-F238E27FC236}">
                <a16:creationId xmlns:a16="http://schemas.microsoft.com/office/drawing/2014/main" id="{52ADDE20-A62A-18D3-DB54-09C4F6FE6BCB}"/>
              </a:ext>
            </a:extLst>
          </p:cNvPr>
          <p:cNvCxnSpPr>
            <a:cxnSpLocks/>
          </p:cNvCxnSpPr>
          <p:nvPr/>
        </p:nvCxnSpPr>
        <p:spPr>
          <a:xfrm>
            <a:off x="7785874" y="5159698"/>
            <a:ext cx="733406" cy="718568"/>
          </a:xfrm>
          <a:prstGeom prst="straightConnector1">
            <a:avLst/>
          </a:prstGeom>
          <a:ln w="34925">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064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A4CF0-841E-24B4-F3DE-1B0A732A14BE}"/>
            </a:ext>
          </a:extLst>
        </p:cNvPr>
        <p:cNvGrpSpPr/>
        <p:nvPr/>
      </p:nvGrpSpPr>
      <p:grpSpPr>
        <a:xfrm>
          <a:off x="0" y="0"/>
          <a:ext cx="0" cy="0"/>
          <a:chOff x="0" y="0"/>
          <a:chExt cx="0" cy="0"/>
        </a:xfrm>
      </p:grpSpPr>
      <p:cxnSp>
        <p:nvCxnSpPr>
          <p:cNvPr id="21" name="Straight Arrow Connector 20">
            <a:extLst>
              <a:ext uri="{FF2B5EF4-FFF2-40B4-BE49-F238E27FC236}">
                <a16:creationId xmlns:a16="http://schemas.microsoft.com/office/drawing/2014/main" id="{A120051C-A141-6AFF-6BA3-8E67432F85A3}"/>
              </a:ext>
            </a:extLst>
          </p:cNvPr>
          <p:cNvCxnSpPr>
            <a:cxnSpLocks/>
            <a:stCxn id="4" idx="2"/>
            <a:endCxn id="8" idx="0"/>
          </p:cNvCxnSpPr>
          <p:nvPr/>
        </p:nvCxnSpPr>
        <p:spPr>
          <a:xfrm>
            <a:off x="2057402" y="2114258"/>
            <a:ext cx="0" cy="3228116"/>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E33AB-49C1-15C9-7038-616DC038683F}"/>
              </a:ext>
            </a:extLst>
          </p:cNvPr>
          <p:cNvSpPr>
            <a:spLocks noGrp="1"/>
          </p:cNvSpPr>
          <p:nvPr>
            <p:ph type="title"/>
          </p:nvPr>
        </p:nvSpPr>
        <p:spPr>
          <a:xfrm>
            <a:off x="554180" y="29653"/>
            <a:ext cx="10515600" cy="1325563"/>
          </a:xfrm>
        </p:spPr>
        <p:txBody>
          <a:bodyPr/>
          <a:lstStyle/>
          <a:p>
            <a:r>
              <a:rPr lang="en-US" dirty="0">
                <a:latin typeface="Forma DJR Banner Light" pitchFamily="2" charset="77"/>
              </a:rPr>
              <a:t>Classifier Pipeline Overview</a:t>
            </a:r>
          </a:p>
        </p:txBody>
      </p:sp>
      <p:sp>
        <p:nvSpPr>
          <p:cNvPr id="4" name="Rectangle 3">
            <a:extLst>
              <a:ext uri="{FF2B5EF4-FFF2-40B4-BE49-F238E27FC236}">
                <a16:creationId xmlns:a16="http://schemas.microsoft.com/office/drawing/2014/main" id="{7D0AF5E7-6E31-3E86-5480-C942F23F8882}"/>
              </a:ext>
            </a:extLst>
          </p:cNvPr>
          <p:cNvSpPr/>
          <p:nvPr/>
        </p:nvSpPr>
        <p:spPr>
          <a:xfrm>
            <a:off x="1122220" y="1310694"/>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Compute PIC – JSD metric for pairwise indices</a:t>
            </a:r>
          </a:p>
        </p:txBody>
      </p:sp>
      <p:sp>
        <p:nvSpPr>
          <p:cNvPr id="5" name="Rectangle 4">
            <a:extLst>
              <a:ext uri="{FF2B5EF4-FFF2-40B4-BE49-F238E27FC236}">
                <a16:creationId xmlns:a16="http://schemas.microsoft.com/office/drawing/2014/main" id="{1630B41D-F23F-1847-4B4C-B8A86B1EFF98}"/>
              </a:ext>
            </a:extLst>
          </p:cNvPr>
          <p:cNvSpPr/>
          <p:nvPr/>
        </p:nvSpPr>
        <p:spPr>
          <a:xfrm>
            <a:off x="1122220" y="2306779"/>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Pick threshold for high metric</a:t>
            </a:r>
          </a:p>
        </p:txBody>
      </p:sp>
      <p:sp>
        <p:nvSpPr>
          <p:cNvPr id="6" name="Rectangle 5">
            <a:extLst>
              <a:ext uri="{FF2B5EF4-FFF2-40B4-BE49-F238E27FC236}">
                <a16:creationId xmlns:a16="http://schemas.microsoft.com/office/drawing/2014/main" id="{B6E512BA-C730-981A-2074-7386342A7932}"/>
              </a:ext>
            </a:extLst>
          </p:cNvPr>
          <p:cNvSpPr/>
          <p:nvPr/>
        </p:nvSpPr>
        <p:spPr>
          <a:xfrm>
            <a:off x="1122220" y="3302864"/>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Grow continuous diagonals and save candidates</a:t>
            </a:r>
          </a:p>
        </p:txBody>
      </p:sp>
      <p:sp>
        <p:nvSpPr>
          <p:cNvPr id="7" name="Rectangle 6">
            <a:extLst>
              <a:ext uri="{FF2B5EF4-FFF2-40B4-BE49-F238E27FC236}">
                <a16:creationId xmlns:a16="http://schemas.microsoft.com/office/drawing/2014/main" id="{4502FC5A-D1F1-0A77-1269-3A70F4C95523}"/>
              </a:ext>
            </a:extLst>
          </p:cNvPr>
          <p:cNvSpPr/>
          <p:nvPr/>
        </p:nvSpPr>
        <p:spPr>
          <a:xfrm>
            <a:off x="1122220" y="4322619"/>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Compare scores to bootstrap</a:t>
            </a:r>
          </a:p>
        </p:txBody>
      </p:sp>
      <p:sp>
        <p:nvSpPr>
          <p:cNvPr id="8" name="Rectangle 7">
            <a:extLst>
              <a:ext uri="{FF2B5EF4-FFF2-40B4-BE49-F238E27FC236}">
                <a16:creationId xmlns:a16="http://schemas.microsoft.com/office/drawing/2014/main" id="{7618FA44-499E-1588-A474-404BAC42499C}"/>
              </a:ext>
            </a:extLst>
          </p:cNvPr>
          <p:cNvSpPr/>
          <p:nvPr/>
        </p:nvSpPr>
        <p:spPr>
          <a:xfrm>
            <a:off x="1122220" y="5342374"/>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P-value</a:t>
            </a:r>
          </a:p>
        </p:txBody>
      </p:sp>
      <p:sp>
        <p:nvSpPr>
          <p:cNvPr id="10" name="Rectangle 9">
            <a:extLst>
              <a:ext uri="{FF2B5EF4-FFF2-40B4-BE49-F238E27FC236}">
                <a16:creationId xmlns:a16="http://schemas.microsoft.com/office/drawing/2014/main" id="{9422F60D-C2C9-99A4-D235-95A38ABAFE77}"/>
              </a:ext>
            </a:extLst>
          </p:cNvPr>
          <p:cNvSpPr/>
          <p:nvPr/>
        </p:nvSpPr>
        <p:spPr>
          <a:xfrm>
            <a:off x="4294909" y="3115826"/>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Do 2x per observation, DR and IR search</a:t>
            </a:r>
          </a:p>
        </p:txBody>
      </p:sp>
      <p:sp>
        <p:nvSpPr>
          <p:cNvPr id="11" name="Rectangle 10">
            <a:extLst>
              <a:ext uri="{FF2B5EF4-FFF2-40B4-BE49-F238E27FC236}">
                <a16:creationId xmlns:a16="http://schemas.microsoft.com/office/drawing/2014/main" id="{F6C96511-A253-58D5-0520-39A7AF4B1874}"/>
              </a:ext>
            </a:extLst>
          </p:cNvPr>
          <p:cNvSpPr/>
          <p:nvPr/>
        </p:nvSpPr>
        <p:spPr>
          <a:xfrm>
            <a:off x="6712530" y="3115826"/>
            <a:ext cx="1870364" cy="8035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Winner-takes-all: p &lt;= 0.05</a:t>
            </a:r>
          </a:p>
        </p:txBody>
      </p:sp>
      <p:sp>
        <p:nvSpPr>
          <p:cNvPr id="19" name="Right Brace 18">
            <a:extLst>
              <a:ext uri="{FF2B5EF4-FFF2-40B4-BE49-F238E27FC236}">
                <a16:creationId xmlns:a16="http://schemas.microsoft.com/office/drawing/2014/main" id="{40729643-8DE1-3882-7E09-E463ABC8ACD2}"/>
              </a:ext>
            </a:extLst>
          </p:cNvPr>
          <p:cNvSpPr/>
          <p:nvPr/>
        </p:nvSpPr>
        <p:spPr>
          <a:xfrm>
            <a:off x="2992584" y="1310694"/>
            <a:ext cx="1302325" cy="4835244"/>
          </a:xfrm>
          <a:prstGeom prst="rightBrace">
            <a:avLst>
              <a:gd name="adj1" fmla="val 0"/>
              <a:gd name="adj2" fmla="val 46848"/>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055279ED-BE41-AF2F-1DAB-928AB49C1667}"/>
              </a:ext>
            </a:extLst>
          </p:cNvPr>
          <p:cNvCxnSpPr>
            <a:cxnSpLocks/>
            <a:endCxn id="11" idx="1"/>
          </p:cNvCxnSpPr>
          <p:nvPr/>
        </p:nvCxnSpPr>
        <p:spPr>
          <a:xfrm>
            <a:off x="6165273" y="3517608"/>
            <a:ext cx="547257"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9830C6D9-EF7D-A83B-BEAA-7FEF518B3EDB}"/>
              </a:ext>
            </a:extLst>
          </p:cNvPr>
          <p:cNvCxnSpPr>
            <a:cxnSpLocks/>
            <a:endCxn id="37" idx="1"/>
          </p:cNvCxnSpPr>
          <p:nvPr/>
        </p:nvCxnSpPr>
        <p:spPr>
          <a:xfrm flipV="1">
            <a:off x="8582894" y="2115853"/>
            <a:ext cx="616522" cy="99449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A1835507-2D0A-51DB-A12D-B5A137971CDA}"/>
              </a:ext>
            </a:extLst>
          </p:cNvPr>
          <p:cNvCxnSpPr>
            <a:cxnSpLocks/>
            <a:endCxn id="38" idx="1"/>
          </p:cNvCxnSpPr>
          <p:nvPr/>
        </p:nvCxnSpPr>
        <p:spPr>
          <a:xfrm>
            <a:off x="8582894" y="3517608"/>
            <a:ext cx="616522" cy="0"/>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65FC1A0-126C-9467-64E6-668960E5E3E5}"/>
              </a:ext>
            </a:extLst>
          </p:cNvPr>
          <p:cNvCxnSpPr>
            <a:cxnSpLocks/>
            <a:endCxn id="40" idx="1"/>
          </p:cNvCxnSpPr>
          <p:nvPr/>
        </p:nvCxnSpPr>
        <p:spPr>
          <a:xfrm>
            <a:off x="8560678" y="3919390"/>
            <a:ext cx="638738" cy="991601"/>
          </a:xfrm>
          <a:prstGeom prst="straightConnector1">
            <a:avLst/>
          </a:prstGeom>
          <a:ln w="28575">
            <a:tailEnd type="triangle"/>
          </a:ln>
        </p:spPr>
        <p:style>
          <a:lnRef idx="2">
            <a:schemeClr val="accent1"/>
          </a:lnRef>
          <a:fillRef idx="0">
            <a:schemeClr val="accent1"/>
          </a:fillRef>
          <a:effectRef idx="1">
            <a:schemeClr val="accent1"/>
          </a:effectRef>
          <a:fontRef idx="minor">
            <a:schemeClr val="tx1"/>
          </a:fontRef>
        </p:style>
      </p:cxnSp>
      <p:sp>
        <p:nvSpPr>
          <p:cNvPr id="37" name="Rectangle 36">
            <a:extLst>
              <a:ext uri="{FF2B5EF4-FFF2-40B4-BE49-F238E27FC236}">
                <a16:creationId xmlns:a16="http://schemas.microsoft.com/office/drawing/2014/main" id="{0089458D-03D9-F2C3-11F1-3CBB41293C45}"/>
              </a:ext>
            </a:extLst>
          </p:cNvPr>
          <p:cNvSpPr/>
          <p:nvPr/>
        </p:nvSpPr>
        <p:spPr>
          <a:xfrm>
            <a:off x="9199416" y="1714071"/>
            <a:ext cx="1870364" cy="8035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Direct Repeat</a:t>
            </a:r>
          </a:p>
        </p:txBody>
      </p:sp>
      <p:sp>
        <p:nvSpPr>
          <p:cNvPr id="38" name="Rectangle 37">
            <a:extLst>
              <a:ext uri="{FF2B5EF4-FFF2-40B4-BE49-F238E27FC236}">
                <a16:creationId xmlns:a16="http://schemas.microsoft.com/office/drawing/2014/main" id="{81AC4D09-17CD-5D50-3350-99C1982F323D}"/>
              </a:ext>
            </a:extLst>
          </p:cNvPr>
          <p:cNvSpPr/>
          <p:nvPr/>
        </p:nvSpPr>
        <p:spPr>
          <a:xfrm>
            <a:off x="9199416" y="3115826"/>
            <a:ext cx="1870364" cy="8035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Inverted Repeat</a:t>
            </a:r>
          </a:p>
        </p:txBody>
      </p:sp>
      <p:sp>
        <p:nvSpPr>
          <p:cNvPr id="40" name="Rectangle 39">
            <a:extLst>
              <a:ext uri="{FF2B5EF4-FFF2-40B4-BE49-F238E27FC236}">
                <a16:creationId xmlns:a16="http://schemas.microsoft.com/office/drawing/2014/main" id="{E3D6A576-2FDD-3827-3958-88556C26E64A}"/>
              </a:ext>
            </a:extLst>
          </p:cNvPr>
          <p:cNvSpPr/>
          <p:nvPr/>
        </p:nvSpPr>
        <p:spPr>
          <a:xfrm>
            <a:off x="9199416" y="4509209"/>
            <a:ext cx="1870364" cy="8035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Franklin Gothic Medium" panose="020B0603020102020204" pitchFamily="34" charset="0"/>
              </a:rPr>
              <a:t>Neither/None</a:t>
            </a:r>
          </a:p>
        </p:txBody>
      </p:sp>
    </p:spTree>
    <p:extLst>
      <p:ext uri="{BB962C8B-B14F-4D97-AF65-F5344CB8AC3E}">
        <p14:creationId xmlns:p14="http://schemas.microsoft.com/office/powerpoint/2010/main" val="4197394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red and blue lines&#10;&#10;AI-generated content may be incorrect.">
            <a:extLst>
              <a:ext uri="{FF2B5EF4-FFF2-40B4-BE49-F238E27FC236}">
                <a16:creationId xmlns:a16="http://schemas.microsoft.com/office/drawing/2014/main" id="{F162666D-E66A-1B67-B747-8FE655C0E87A}"/>
              </a:ext>
            </a:extLst>
          </p:cNvPr>
          <p:cNvPicPr>
            <a:picLocks noChangeAspect="1"/>
          </p:cNvPicPr>
          <p:nvPr/>
        </p:nvPicPr>
        <p:blipFill>
          <a:blip r:embed="rId3"/>
          <a:stretch>
            <a:fillRect/>
          </a:stretch>
        </p:blipFill>
        <p:spPr>
          <a:xfrm>
            <a:off x="690316" y="1325563"/>
            <a:ext cx="6236352" cy="3867916"/>
          </a:xfrm>
          <a:prstGeom prst="rect">
            <a:avLst/>
          </a:prstGeom>
        </p:spPr>
      </p:pic>
      <p:pic>
        <p:nvPicPr>
          <p:cNvPr id="5" name="Picture 4" descr="A graph with lines and numbers&#10;&#10;AI-generated content may be incorrect.">
            <a:extLst>
              <a:ext uri="{FF2B5EF4-FFF2-40B4-BE49-F238E27FC236}">
                <a16:creationId xmlns:a16="http://schemas.microsoft.com/office/drawing/2014/main" id="{70A755F6-81E3-A08B-ECB7-2E8136B83D2E}"/>
              </a:ext>
            </a:extLst>
          </p:cNvPr>
          <p:cNvPicPr>
            <a:picLocks noChangeAspect="1"/>
          </p:cNvPicPr>
          <p:nvPr/>
        </p:nvPicPr>
        <p:blipFill>
          <a:blip r:embed="rId4"/>
          <a:stretch>
            <a:fillRect/>
          </a:stretch>
        </p:blipFill>
        <p:spPr>
          <a:xfrm>
            <a:off x="5955024" y="1325563"/>
            <a:ext cx="6236976" cy="3867916"/>
          </a:xfrm>
          <a:prstGeom prst="rect">
            <a:avLst/>
          </a:prstGeom>
          <a:ln>
            <a:noFill/>
          </a:ln>
        </p:spPr>
      </p:pic>
      <p:sp>
        <p:nvSpPr>
          <p:cNvPr id="3" name="Title 1">
            <a:extLst>
              <a:ext uri="{FF2B5EF4-FFF2-40B4-BE49-F238E27FC236}">
                <a16:creationId xmlns:a16="http://schemas.microsoft.com/office/drawing/2014/main" id="{A1DDDE7A-77F4-9C4B-73E1-7F0861EF026C}"/>
              </a:ext>
            </a:extLst>
          </p:cNvPr>
          <p:cNvSpPr>
            <a:spLocks noGrp="1"/>
          </p:cNvSpPr>
          <p:nvPr>
            <p:ph type="title"/>
          </p:nvPr>
        </p:nvSpPr>
        <p:spPr>
          <a:xfrm>
            <a:off x="224885" y="0"/>
            <a:ext cx="10515600" cy="1325563"/>
          </a:xfrm>
        </p:spPr>
        <p:txBody>
          <a:bodyPr/>
          <a:lstStyle/>
          <a:p>
            <a:r>
              <a:rPr lang="en-US" dirty="0">
                <a:latin typeface="Forma DJR Banner Light" pitchFamily="2" charset="77"/>
              </a:rPr>
              <a:t>Classification Impact of Percentile Threshold</a:t>
            </a:r>
          </a:p>
        </p:txBody>
      </p:sp>
      <p:sp>
        <p:nvSpPr>
          <p:cNvPr id="7" name="Content Placeholder 2">
            <a:extLst>
              <a:ext uri="{FF2B5EF4-FFF2-40B4-BE49-F238E27FC236}">
                <a16:creationId xmlns:a16="http://schemas.microsoft.com/office/drawing/2014/main" id="{86BC8B1E-7FF7-A076-5041-CF465EE3BC49}"/>
              </a:ext>
            </a:extLst>
          </p:cNvPr>
          <p:cNvSpPr>
            <a:spLocks noGrp="1"/>
          </p:cNvSpPr>
          <p:nvPr>
            <p:ph idx="1"/>
          </p:nvPr>
        </p:nvSpPr>
        <p:spPr>
          <a:xfrm>
            <a:off x="690316" y="5359399"/>
            <a:ext cx="10515600" cy="1296895"/>
          </a:xfrm>
        </p:spPr>
        <p:txBody>
          <a:bodyPr>
            <a:noAutofit/>
          </a:bodyPr>
          <a:lstStyle/>
          <a:p>
            <a:r>
              <a:rPr lang="en-US" sz="2000" dirty="0">
                <a:latin typeface="Franklin Gothic Medium" panose="020B0603020102020204" pitchFamily="34" charset="0"/>
              </a:rPr>
              <a:t>Defining a “high” metric value: user-selected parameter</a:t>
            </a:r>
          </a:p>
          <a:p>
            <a:r>
              <a:rPr lang="en-US" sz="2000" dirty="0">
                <a:latin typeface="Franklin Gothic Medium" panose="020B0603020102020204" pitchFamily="34" charset="0"/>
              </a:rPr>
              <a:t>Variable results, depends on goals of user (i.e., optimize for DR vs. IR)</a:t>
            </a:r>
          </a:p>
        </p:txBody>
      </p:sp>
    </p:spTree>
    <p:extLst>
      <p:ext uri="{BB962C8B-B14F-4D97-AF65-F5344CB8AC3E}">
        <p14:creationId xmlns:p14="http://schemas.microsoft.com/office/powerpoint/2010/main" val="875588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784D3-9502-F96B-21F1-DE8F68B50FB0}"/>
              </a:ext>
            </a:extLst>
          </p:cNvPr>
          <p:cNvSpPr>
            <a:spLocks noGrp="1"/>
          </p:cNvSpPr>
          <p:nvPr>
            <p:ph idx="1"/>
          </p:nvPr>
        </p:nvSpPr>
        <p:spPr>
          <a:xfrm>
            <a:off x="690316" y="1253331"/>
            <a:ext cx="10515600" cy="1073010"/>
          </a:xfrm>
        </p:spPr>
        <p:txBody>
          <a:bodyPr/>
          <a:lstStyle/>
          <a:p>
            <a:r>
              <a:rPr lang="en-US" dirty="0">
                <a:latin typeface="Franklin Gothic Medium" panose="020B0603020102020204" pitchFamily="34" charset="0"/>
              </a:rPr>
              <a:t>Greedy search: lower threshold = longer compute time</a:t>
            </a:r>
          </a:p>
          <a:p>
            <a:r>
              <a:rPr lang="en-US" dirty="0">
                <a:latin typeface="Franklin Gothic Medium" panose="020B0603020102020204" pitchFamily="34" charset="0"/>
              </a:rPr>
              <a:t>Lower threshold = lower concordance: GTAC…GTA</a:t>
            </a:r>
            <a:r>
              <a:rPr lang="en-US" dirty="0">
                <a:solidFill>
                  <a:srgbClr val="FF0000"/>
                </a:solidFill>
                <a:latin typeface="Franklin Gothic Medium" panose="020B0603020102020204" pitchFamily="34" charset="0"/>
              </a:rPr>
              <a:t>A </a:t>
            </a:r>
            <a:r>
              <a:rPr lang="en-US" dirty="0">
                <a:latin typeface="Franklin Gothic Medium" panose="020B0603020102020204" pitchFamily="34" charset="0"/>
              </a:rPr>
              <a:t>=</a:t>
            </a:r>
            <a:r>
              <a:rPr lang="en-US" dirty="0">
                <a:solidFill>
                  <a:srgbClr val="FF0000"/>
                </a:solidFill>
                <a:latin typeface="Franklin Gothic Medium" panose="020B0603020102020204" pitchFamily="34" charset="0"/>
              </a:rPr>
              <a:t> </a:t>
            </a:r>
            <a:r>
              <a:rPr lang="en-US" dirty="0">
                <a:latin typeface="Franklin Gothic Medium" panose="020B0603020102020204" pitchFamily="34" charset="0"/>
              </a:rPr>
              <a:t>75%</a:t>
            </a:r>
          </a:p>
        </p:txBody>
      </p:sp>
      <p:pic>
        <p:nvPicPr>
          <p:cNvPr id="4" name="Picture 3" descr="A graph with a line&#10;&#10;AI-generated content may be incorrect.">
            <a:extLst>
              <a:ext uri="{FF2B5EF4-FFF2-40B4-BE49-F238E27FC236}">
                <a16:creationId xmlns:a16="http://schemas.microsoft.com/office/drawing/2014/main" id="{635397D1-F2FC-C85A-597E-64CC3488A527}"/>
              </a:ext>
            </a:extLst>
          </p:cNvPr>
          <p:cNvPicPr>
            <a:picLocks noChangeAspect="1"/>
          </p:cNvPicPr>
          <p:nvPr/>
        </p:nvPicPr>
        <p:blipFill>
          <a:blip r:embed="rId3"/>
          <a:stretch>
            <a:fillRect/>
          </a:stretch>
        </p:blipFill>
        <p:spPr>
          <a:xfrm>
            <a:off x="6385508" y="2723417"/>
            <a:ext cx="5823089" cy="3739873"/>
          </a:xfrm>
          <a:prstGeom prst="rect">
            <a:avLst/>
          </a:prstGeom>
        </p:spPr>
      </p:pic>
      <p:pic>
        <p:nvPicPr>
          <p:cNvPr id="5" name="Picture 4" descr="A graph with a line going up&#10;&#10;AI-generated content may be incorrect.">
            <a:extLst>
              <a:ext uri="{FF2B5EF4-FFF2-40B4-BE49-F238E27FC236}">
                <a16:creationId xmlns:a16="http://schemas.microsoft.com/office/drawing/2014/main" id="{BE540564-5DAE-E400-F022-8DFCEF565D4B}"/>
              </a:ext>
            </a:extLst>
          </p:cNvPr>
          <p:cNvPicPr>
            <a:picLocks noChangeAspect="1"/>
          </p:cNvPicPr>
          <p:nvPr/>
        </p:nvPicPr>
        <p:blipFill>
          <a:blip r:embed="rId4"/>
          <a:stretch>
            <a:fillRect/>
          </a:stretch>
        </p:blipFill>
        <p:spPr>
          <a:xfrm>
            <a:off x="93463" y="2627171"/>
            <a:ext cx="6150958" cy="3932364"/>
          </a:xfrm>
          <a:prstGeom prst="rect">
            <a:avLst/>
          </a:prstGeom>
        </p:spPr>
      </p:pic>
      <p:sp>
        <p:nvSpPr>
          <p:cNvPr id="6" name="Title 1">
            <a:extLst>
              <a:ext uri="{FF2B5EF4-FFF2-40B4-BE49-F238E27FC236}">
                <a16:creationId xmlns:a16="http://schemas.microsoft.com/office/drawing/2014/main" id="{0D2A6620-FCFD-A83E-01B0-A4A20DBE91D0}"/>
              </a:ext>
            </a:extLst>
          </p:cNvPr>
          <p:cNvSpPr>
            <a:spLocks noGrp="1"/>
          </p:cNvSpPr>
          <p:nvPr>
            <p:ph type="title"/>
          </p:nvPr>
        </p:nvSpPr>
        <p:spPr>
          <a:xfrm>
            <a:off x="408141" y="176676"/>
            <a:ext cx="10515600" cy="1325563"/>
          </a:xfrm>
        </p:spPr>
        <p:txBody>
          <a:bodyPr/>
          <a:lstStyle/>
          <a:p>
            <a:r>
              <a:rPr lang="en-US" dirty="0">
                <a:latin typeface="Forma DJR Banner Light" pitchFamily="2" charset="77"/>
              </a:rPr>
              <a:t>Other Threshold Tuning Considerations</a:t>
            </a:r>
          </a:p>
        </p:txBody>
      </p:sp>
    </p:spTree>
    <p:extLst>
      <p:ext uri="{BB962C8B-B14F-4D97-AF65-F5344CB8AC3E}">
        <p14:creationId xmlns:p14="http://schemas.microsoft.com/office/powerpoint/2010/main" val="1052746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0B89505-F1FB-1E3F-7C9D-876DB4313122}"/>
              </a:ext>
            </a:extLst>
          </p:cNvPr>
          <p:cNvSpPr txBox="1"/>
          <p:nvPr/>
        </p:nvSpPr>
        <p:spPr>
          <a:xfrm>
            <a:off x="455658" y="11064"/>
            <a:ext cx="2463800" cy="292388"/>
          </a:xfrm>
          <a:prstGeom prst="rect">
            <a:avLst/>
          </a:prstGeom>
          <a:solidFill>
            <a:schemeClr val="bg1"/>
          </a:solidFill>
        </p:spPr>
        <p:txBody>
          <a:bodyPr wrap="square" rtlCol="0">
            <a:spAutoFit/>
          </a:bodyPr>
          <a:lstStyle/>
          <a:p>
            <a:r>
              <a:rPr lang="en-US" sz="1300" i="1" dirty="0">
                <a:latin typeface="Arial" panose="020B0604020202020204" pitchFamily="34" charset="0"/>
                <a:cs typeface="Arial" panose="020B0604020202020204" pitchFamily="34" charset="0"/>
              </a:rPr>
              <a:t>CollecTF, 40% Threshold</a:t>
            </a:r>
          </a:p>
        </p:txBody>
      </p:sp>
      <p:pic>
        <p:nvPicPr>
          <p:cNvPr id="10" name="Picture 9" descr="A comparison of a diagram&#10;&#10;AI-generated content may be incorrect.">
            <a:extLst>
              <a:ext uri="{FF2B5EF4-FFF2-40B4-BE49-F238E27FC236}">
                <a16:creationId xmlns:a16="http://schemas.microsoft.com/office/drawing/2014/main" id="{C7F94039-1D06-B9BD-5E39-519E6C1C4296}"/>
              </a:ext>
            </a:extLst>
          </p:cNvPr>
          <p:cNvPicPr>
            <a:picLocks noChangeAspect="1"/>
          </p:cNvPicPr>
          <p:nvPr/>
        </p:nvPicPr>
        <p:blipFill>
          <a:blip r:embed="rId3"/>
          <a:stretch>
            <a:fillRect/>
          </a:stretch>
        </p:blipFill>
        <p:spPr>
          <a:xfrm>
            <a:off x="742176" y="332576"/>
            <a:ext cx="7224990" cy="3096424"/>
          </a:xfrm>
          <a:prstGeom prst="rect">
            <a:avLst/>
          </a:prstGeom>
        </p:spPr>
      </p:pic>
      <p:sp>
        <p:nvSpPr>
          <p:cNvPr id="2" name="Content Placeholder 2">
            <a:extLst>
              <a:ext uri="{FF2B5EF4-FFF2-40B4-BE49-F238E27FC236}">
                <a16:creationId xmlns:a16="http://schemas.microsoft.com/office/drawing/2014/main" id="{06849187-F077-591A-EFA8-A0AC78DFB918}"/>
              </a:ext>
            </a:extLst>
          </p:cNvPr>
          <p:cNvSpPr>
            <a:spLocks noGrp="1"/>
          </p:cNvSpPr>
          <p:nvPr>
            <p:ph idx="1"/>
          </p:nvPr>
        </p:nvSpPr>
        <p:spPr>
          <a:xfrm>
            <a:off x="8252545" y="1482821"/>
            <a:ext cx="3512037" cy="3129951"/>
          </a:xfrm>
        </p:spPr>
        <p:txBody>
          <a:bodyPr>
            <a:normAutofit/>
          </a:bodyPr>
          <a:lstStyle/>
          <a:p>
            <a:r>
              <a:rPr lang="en-US" sz="2000" dirty="0">
                <a:latin typeface="Franklin Gothic Medium" panose="020B0603020102020204" pitchFamily="34" charset="0"/>
              </a:rPr>
              <a:t>In general, IR is better classified </a:t>
            </a:r>
          </a:p>
          <a:p>
            <a:r>
              <a:rPr lang="en-US" sz="2000" dirty="0">
                <a:latin typeface="Franklin Gothic Medium" panose="020B0603020102020204" pitchFamily="34" charset="0"/>
              </a:rPr>
              <a:t>Poorer performance in MEME set</a:t>
            </a:r>
          </a:p>
          <a:p>
            <a:r>
              <a:rPr lang="en-US" sz="2000" dirty="0">
                <a:latin typeface="Franklin Gothic Medium" panose="020B0603020102020204" pitchFamily="34" charset="0"/>
              </a:rPr>
              <a:t>Why: heavy class imbalance</a:t>
            </a:r>
          </a:p>
          <a:p>
            <a:r>
              <a:rPr lang="en-US" sz="2000" dirty="0">
                <a:latin typeface="Franklin Gothic Medium" panose="020B0603020102020204" pitchFamily="34" charset="0"/>
              </a:rPr>
              <a:t>CollecTF: 43 IR,  25 DR</a:t>
            </a:r>
          </a:p>
          <a:p>
            <a:r>
              <a:rPr lang="en-US" sz="2000" dirty="0">
                <a:latin typeface="Franklin Gothic Medium" panose="020B0603020102020204" pitchFamily="34" charset="0"/>
              </a:rPr>
              <a:t>MEME: 11 IR, 5 DR, 24 none</a:t>
            </a:r>
          </a:p>
        </p:txBody>
      </p:sp>
      <p:pic>
        <p:nvPicPr>
          <p:cNvPr id="3" name="Picture 2" descr="A comparison of a diagram&#10;&#10;AI-generated content may be incorrect.">
            <a:extLst>
              <a:ext uri="{FF2B5EF4-FFF2-40B4-BE49-F238E27FC236}">
                <a16:creationId xmlns:a16="http://schemas.microsoft.com/office/drawing/2014/main" id="{F31AAE13-4F65-790A-9C42-5335EEAAECD3}"/>
              </a:ext>
            </a:extLst>
          </p:cNvPr>
          <p:cNvPicPr>
            <a:picLocks noChangeAspect="1"/>
          </p:cNvPicPr>
          <p:nvPr/>
        </p:nvPicPr>
        <p:blipFill>
          <a:blip r:embed="rId4"/>
          <a:stretch>
            <a:fillRect/>
          </a:stretch>
        </p:blipFill>
        <p:spPr>
          <a:xfrm>
            <a:off x="742176" y="3716985"/>
            <a:ext cx="7305774" cy="3129951"/>
          </a:xfrm>
          <a:prstGeom prst="rect">
            <a:avLst/>
          </a:prstGeom>
        </p:spPr>
      </p:pic>
      <p:sp>
        <p:nvSpPr>
          <p:cNvPr id="4" name="TextBox 3">
            <a:extLst>
              <a:ext uri="{FF2B5EF4-FFF2-40B4-BE49-F238E27FC236}">
                <a16:creationId xmlns:a16="http://schemas.microsoft.com/office/drawing/2014/main" id="{73A547C3-949C-3048-FD69-804E5B4F72AC}"/>
              </a:ext>
            </a:extLst>
          </p:cNvPr>
          <p:cNvSpPr txBox="1"/>
          <p:nvPr/>
        </p:nvSpPr>
        <p:spPr>
          <a:xfrm>
            <a:off x="282938" y="3429000"/>
            <a:ext cx="2463800" cy="292388"/>
          </a:xfrm>
          <a:prstGeom prst="rect">
            <a:avLst/>
          </a:prstGeom>
          <a:solidFill>
            <a:schemeClr val="bg1"/>
          </a:solidFill>
        </p:spPr>
        <p:txBody>
          <a:bodyPr wrap="square" rtlCol="0">
            <a:spAutoFit/>
          </a:bodyPr>
          <a:lstStyle/>
          <a:p>
            <a:r>
              <a:rPr lang="en-US" sz="1300" i="1" dirty="0">
                <a:latin typeface="Arial" panose="020B0604020202020204" pitchFamily="34" charset="0"/>
                <a:cs typeface="Arial" panose="020B0604020202020204" pitchFamily="34" charset="0"/>
              </a:rPr>
              <a:t>MEME, 70% Threshold</a:t>
            </a:r>
          </a:p>
        </p:txBody>
      </p:sp>
      <p:sp>
        <p:nvSpPr>
          <p:cNvPr id="5" name="Title 1">
            <a:extLst>
              <a:ext uri="{FF2B5EF4-FFF2-40B4-BE49-F238E27FC236}">
                <a16:creationId xmlns:a16="http://schemas.microsoft.com/office/drawing/2014/main" id="{D7D9178D-F957-585E-8761-DF18658E5E87}"/>
              </a:ext>
            </a:extLst>
          </p:cNvPr>
          <p:cNvSpPr>
            <a:spLocks noGrp="1"/>
          </p:cNvSpPr>
          <p:nvPr>
            <p:ph type="title"/>
          </p:nvPr>
        </p:nvSpPr>
        <p:spPr>
          <a:xfrm>
            <a:off x="8426404" y="157258"/>
            <a:ext cx="2184855" cy="1325563"/>
          </a:xfrm>
        </p:spPr>
        <p:txBody>
          <a:bodyPr/>
          <a:lstStyle/>
          <a:p>
            <a:r>
              <a:rPr lang="en-US" dirty="0">
                <a:latin typeface="Forma DJR Banner Light" pitchFamily="2" charset="77"/>
              </a:rPr>
              <a:t>Results</a:t>
            </a:r>
          </a:p>
        </p:txBody>
      </p:sp>
    </p:spTree>
    <p:extLst>
      <p:ext uri="{BB962C8B-B14F-4D97-AF65-F5344CB8AC3E}">
        <p14:creationId xmlns:p14="http://schemas.microsoft.com/office/powerpoint/2010/main" val="41659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BEC58D-0994-4820-9C4A-A5F8B5DD59C1}"/>
              </a:ext>
            </a:extLst>
          </p:cNvPr>
          <p:cNvPicPr>
            <a:picLocks noChangeAspect="1"/>
          </p:cNvPicPr>
          <p:nvPr/>
        </p:nvPicPr>
        <p:blipFill>
          <a:blip r:embed="rId2"/>
          <a:stretch>
            <a:fillRect/>
          </a:stretch>
        </p:blipFill>
        <p:spPr>
          <a:xfrm>
            <a:off x="216877" y="31145"/>
            <a:ext cx="7772400" cy="6795709"/>
          </a:xfrm>
          <a:prstGeom prst="rect">
            <a:avLst/>
          </a:prstGeom>
        </p:spPr>
      </p:pic>
      <p:sp>
        <p:nvSpPr>
          <p:cNvPr id="2" name="Content Placeholder 2">
            <a:extLst>
              <a:ext uri="{FF2B5EF4-FFF2-40B4-BE49-F238E27FC236}">
                <a16:creationId xmlns:a16="http://schemas.microsoft.com/office/drawing/2014/main" id="{8B9C6AF9-0DEC-DCB3-D51D-F5CF35B1B207}"/>
              </a:ext>
            </a:extLst>
          </p:cNvPr>
          <p:cNvSpPr>
            <a:spLocks noGrp="1"/>
          </p:cNvSpPr>
          <p:nvPr>
            <p:ph idx="1"/>
          </p:nvPr>
        </p:nvSpPr>
        <p:spPr>
          <a:xfrm>
            <a:off x="8069581" y="1371337"/>
            <a:ext cx="4122420" cy="4465648"/>
          </a:xfrm>
        </p:spPr>
        <p:txBody>
          <a:bodyPr>
            <a:normAutofit/>
          </a:bodyPr>
          <a:lstStyle/>
          <a:p>
            <a:r>
              <a:rPr lang="en-US" sz="2000" dirty="0">
                <a:latin typeface="Forma DJR Banner" pitchFamily="2" charset="77"/>
              </a:rPr>
              <a:t>5 DR, 11 IR, and 24 none</a:t>
            </a:r>
          </a:p>
          <a:p>
            <a:r>
              <a:rPr lang="en-US" sz="2000" dirty="0">
                <a:latin typeface="Forma DJR Banner" pitchFamily="2" charset="77"/>
              </a:rPr>
              <a:t>Across both ROC and PR, the IR pattern is better classified </a:t>
            </a:r>
          </a:p>
          <a:p>
            <a:pPr lvl="1"/>
            <a:r>
              <a:rPr lang="en-US" sz="1600" dirty="0">
                <a:latin typeface="Forma DJR Banner" pitchFamily="2" charset="77"/>
              </a:rPr>
              <a:t>Why: class imbalance</a:t>
            </a:r>
          </a:p>
          <a:p>
            <a:r>
              <a:rPr lang="en-US" sz="2000" dirty="0">
                <a:latin typeface="Forma DJR Banner" pitchFamily="2" charset="77"/>
              </a:rPr>
              <a:t>Both CollecTF and MEME: combined system – better classification</a:t>
            </a:r>
          </a:p>
          <a:p>
            <a:pPr lvl="1"/>
            <a:r>
              <a:rPr lang="en-US" sz="1600" dirty="0">
                <a:latin typeface="Forma DJR Banner" pitchFamily="2" charset="77"/>
              </a:rPr>
              <a:t>“Inference” – force a decision between IR and DR search based on consensus p &lt;= 0.05 cutoff</a:t>
            </a:r>
          </a:p>
        </p:txBody>
      </p:sp>
    </p:spTree>
    <p:extLst>
      <p:ext uri="{BB962C8B-B14F-4D97-AF65-F5344CB8AC3E}">
        <p14:creationId xmlns:p14="http://schemas.microsoft.com/office/powerpoint/2010/main" val="7195340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6" name="Picture 15" descr="A diagram of a performance&#10;&#10;AI-generated content may be incorrect.">
            <a:extLst>
              <a:ext uri="{FF2B5EF4-FFF2-40B4-BE49-F238E27FC236}">
                <a16:creationId xmlns:a16="http://schemas.microsoft.com/office/drawing/2014/main" id="{F7D58D55-C40B-58C8-9DF4-8D7AA1A78C50}"/>
              </a:ext>
            </a:extLst>
          </p:cNvPr>
          <p:cNvPicPr>
            <a:picLocks noChangeAspect="1"/>
          </p:cNvPicPr>
          <p:nvPr/>
        </p:nvPicPr>
        <p:blipFill>
          <a:blip r:embed="rId3"/>
          <a:srcRect t="12674"/>
          <a:stretch>
            <a:fillRect/>
          </a:stretch>
        </p:blipFill>
        <p:spPr>
          <a:xfrm>
            <a:off x="1187195" y="3624818"/>
            <a:ext cx="8957446" cy="3233182"/>
          </a:xfrm>
          <a:prstGeom prst="rect">
            <a:avLst/>
          </a:prstGeom>
        </p:spPr>
      </p:pic>
      <p:pic>
        <p:nvPicPr>
          <p:cNvPr id="5" name="Picture 4" descr="A diagram of a performance&#10;&#10;AI-generated content may be incorrect.">
            <a:extLst>
              <a:ext uri="{FF2B5EF4-FFF2-40B4-BE49-F238E27FC236}">
                <a16:creationId xmlns:a16="http://schemas.microsoft.com/office/drawing/2014/main" id="{191C7477-5EBB-39C9-6C23-EB4EA618104C}"/>
              </a:ext>
            </a:extLst>
          </p:cNvPr>
          <p:cNvPicPr>
            <a:picLocks noChangeAspect="1"/>
          </p:cNvPicPr>
          <p:nvPr/>
        </p:nvPicPr>
        <p:blipFill>
          <a:blip r:embed="rId4"/>
          <a:stretch>
            <a:fillRect/>
          </a:stretch>
        </p:blipFill>
        <p:spPr>
          <a:xfrm>
            <a:off x="5424072" y="380424"/>
            <a:ext cx="4720569" cy="3371836"/>
          </a:xfrm>
          <a:prstGeom prst="rect">
            <a:avLst/>
          </a:prstGeom>
        </p:spPr>
      </p:pic>
      <p:pic>
        <p:nvPicPr>
          <p:cNvPr id="7" name="Picture 6" descr="A blue squares with white text&#10;&#10;AI-generated content may be incorrect.">
            <a:extLst>
              <a:ext uri="{FF2B5EF4-FFF2-40B4-BE49-F238E27FC236}">
                <a16:creationId xmlns:a16="http://schemas.microsoft.com/office/drawing/2014/main" id="{F9093BDE-DCCC-D20F-FCFB-ED550A41E0B9}"/>
              </a:ext>
            </a:extLst>
          </p:cNvPr>
          <p:cNvPicPr>
            <a:picLocks noChangeAspect="1"/>
          </p:cNvPicPr>
          <p:nvPr/>
        </p:nvPicPr>
        <p:blipFill>
          <a:blip r:embed="rId5"/>
          <a:stretch>
            <a:fillRect/>
          </a:stretch>
        </p:blipFill>
        <p:spPr>
          <a:xfrm>
            <a:off x="918075" y="389799"/>
            <a:ext cx="4720569" cy="3371836"/>
          </a:xfrm>
          <a:prstGeom prst="rect">
            <a:avLst/>
          </a:prstGeom>
        </p:spPr>
      </p:pic>
      <p:sp>
        <p:nvSpPr>
          <p:cNvPr id="8" name="TextBox 7">
            <a:extLst>
              <a:ext uri="{FF2B5EF4-FFF2-40B4-BE49-F238E27FC236}">
                <a16:creationId xmlns:a16="http://schemas.microsoft.com/office/drawing/2014/main" id="{BEEBBFB2-7609-E5FA-9E5A-0E5859A85C65}"/>
              </a:ext>
            </a:extLst>
          </p:cNvPr>
          <p:cNvSpPr txBox="1"/>
          <p:nvPr/>
        </p:nvSpPr>
        <p:spPr>
          <a:xfrm>
            <a:off x="172054" y="98590"/>
            <a:ext cx="2463800" cy="292388"/>
          </a:xfrm>
          <a:prstGeom prst="rect">
            <a:avLst/>
          </a:prstGeom>
          <a:solidFill>
            <a:schemeClr val="bg1"/>
          </a:solidFill>
        </p:spPr>
        <p:txBody>
          <a:bodyPr wrap="square" rtlCol="0">
            <a:spAutoFit/>
          </a:bodyPr>
          <a:lstStyle/>
          <a:p>
            <a:r>
              <a:rPr lang="en-US" sz="1300" i="1" dirty="0">
                <a:latin typeface="Arial" panose="020B0604020202020204" pitchFamily="34" charset="0"/>
                <a:cs typeface="Arial" panose="020B0604020202020204" pitchFamily="34" charset="0"/>
              </a:rPr>
              <a:t>CollecTF, 40% Threshold</a:t>
            </a:r>
          </a:p>
        </p:txBody>
      </p:sp>
      <p:sp>
        <p:nvSpPr>
          <p:cNvPr id="15" name="TextBox 14">
            <a:extLst>
              <a:ext uri="{FF2B5EF4-FFF2-40B4-BE49-F238E27FC236}">
                <a16:creationId xmlns:a16="http://schemas.microsoft.com/office/drawing/2014/main" id="{F927F9BD-87C3-4DC0-892A-495AFF5C425E}"/>
              </a:ext>
            </a:extLst>
          </p:cNvPr>
          <p:cNvSpPr txBox="1"/>
          <p:nvPr/>
        </p:nvSpPr>
        <p:spPr>
          <a:xfrm>
            <a:off x="230729" y="3478624"/>
            <a:ext cx="2286105" cy="292388"/>
          </a:xfrm>
          <a:prstGeom prst="rect">
            <a:avLst/>
          </a:prstGeom>
          <a:solidFill>
            <a:schemeClr val="bg1"/>
          </a:solidFill>
        </p:spPr>
        <p:txBody>
          <a:bodyPr wrap="square" rtlCol="0">
            <a:spAutoFit/>
          </a:bodyPr>
          <a:lstStyle/>
          <a:p>
            <a:r>
              <a:rPr lang="en-US" sz="1300" i="1" dirty="0">
                <a:latin typeface="Arial" panose="020B0604020202020204" pitchFamily="34" charset="0"/>
                <a:cs typeface="Arial" panose="020B0604020202020204" pitchFamily="34" charset="0"/>
              </a:rPr>
              <a:t>MEME, 70% Threshold</a:t>
            </a:r>
          </a:p>
        </p:txBody>
      </p:sp>
      <p:sp>
        <p:nvSpPr>
          <p:cNvPr id="2" name="Content Placeholder 2">
            <a:extLst>
              <a:ext uri="{FF2B5EF4-FFF2-40B4-BE49-F238E27FC236}">
                <a16:creationId xmlns:a16="http://schemas.microsoft.com/office/drawing/2014/main" id="{6A461395-BFC5-3A52-02C6-93D7007839E1}"/>
              </a:ext>
            </a:extLst>
          </p:cNvPr>
          <p:cNvSpPr>
            <a:spLocks noGrp="1"/>
          </p:cNvSpPr>
          <p:nvPr>
            <p:ph idx="1"/>
          </p:nvPr>
        </p:nvSpPr>
        <p:spPr>
          <a:xfrm>
            <a:off x="10105188" y="2888413"/>
            <a:ext cx="2406471" cy="1288736"/>
          </a:xfrm>
        </p:spPr>
        <p:txBody>
          <a:bodyPr>
            <a:normAutofit lnSpcReduction="10000"/>
          </a:bodyPr>
          <a:lstStyle/>
          <a:p>
            <a:pPr marL="0" indent="0">
              <a:buNone/>
            </a:pPr>
            <a:r>
              <a:rPr lang="en-US" sz="1600" dirty="0">
                <a:latin typeface="Forma DJR Banner" pitchFamily="2" charset="77"/>
              </a:rPr>
              <a:t>Must be either IR or DR </a:t>
            </a:r>
          </a:p>
          <a:p>
            <a:pPr marL="0" indent="0">
              <a:buNone/>
            </a:pPr>
            <a:endParaRPr lang="en-US" sz="1600" dirty="0">
              <a:latin typeface="Forma DJR Banner" pitchFamily="2" charset="77"/>
            </a:endParaRPr>
          </a:p>
          <a:p>
            <a:pPr marL="0" indent="0">
              <a:buNone/>
            </a:pPr>
            <a:endParaRPr lang="en-US" sz="1600" dirty="0">
              <a:latin typeface="Forma DJR Banner" pitchFamily="2" charset="77"/>
            </a:endParaRPr>
          </a:p>
          <a:p>
            <a:pPr marL="0" indent="0">
              <a:buNone/>
            </a:pPr>
            <a:r>
              <a:rPr lang="en-US" sz="1600" dirty="0">
                <a:latin typeface="Forma DJR Banner" pitchFamily="2" charset="77"/>
              </a:rPr>
              <a:t>vs. IR, DR, or none </a:t>
            </a:r>
          </a:p>
        </p:txBody>
      </p:sp>
    </p:spTree>
    <p:extLst>
      <p:ext uri="{BB962C8B-B14F-4D97-AF65-F5344CB8AC3E}">
        <p14:creationId xmlns:p14="http://schemas.microsoft.com/office/powerpoint/2010/main" val="4256473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D09C5-9A8A-C8E5-6529-A93F76BA0288}"/>
              </a:ext>
            </a:extLst>
          </p:cNvPr>
          <p:cNvSpPr>
            <a:spLocks noGrp="1"/>
          </p:cNvSpPr>
          <p:nvPr>
            <p:ph type="title"/>
          </p:nvPr>
        </p:nvSpPr>
        <p:spPr/>
        <p:txBody>
          <a:bodyPr/>
          <a:lstStyle/>
          <a:p>
            <a:r>
              <a:rPr lang="en-US" dirty="0">
                <a:latin typeface="Forma DJR Banner Light" pitchFamily="2" charset="77"/>
              </a:rPr>
              <a:t>Exceptions and Edge Cases</a:t>
            </a:r>
          </a:p>
        </p:txBody>
      </p:sp>
      <p:sp>
        <p:nvSpPr>
          <p:cNvPr id="3" name="Content Placeholder 2">
            <a:extLst>
              <a:ext uri="{FF2B5EF4-FFF2-40B4-BE49-F238E27FC236}">
                <a16:creationId xmlns:a16="http://schemas.microsoft.com/office/drawing/2014/main" id="{9CF16935-66F7-D85D-DFBD-503ADFE0A64E}"/>
              </a:ext>
            </a:extLst>
          </p:cNvPr>
          <p:cNvSpPr>
            <a:spLocks noGrp="1"/>
          </p:cNvSpPr>
          <p:nvPr>
            <p:ph idx="1"/>
          </p:nvPr>
        </p:nvSpPr>
        <p:spPr/>
        <p:txBody>
          <a:bodyPr/>
          <a:lstStyle/>
          <a:p>
            <a:r>
              <a:rPr lang="en-US" i="1" dirty="0">
                <a:latin typeface="Franklin Gothic Medium" panose="020B0603020102020204" pitchFamily="34" charset="0"/>
              </a:rPr>
              <a:t>Nostoc sp. PCC 7120,</a:t>
            </a:r>
            <a:r>
              <a:rPr lang="en-US" dirty="0">
                <a:latin typeface="Franklin Gothic Medium" panose="020B0603020102020204" pitchFamily="34" charset="0"/>
              </a:rPr>
              <a:t> transcription factor Q8YMM5 (</a:t>
            </a:r>
            <a:r>
              <a:rPr lang="en-US" dirty="0" err="1">
                <a:latin typeface="Franklin Gothic Medium" panose="020B0603020102020204" pitchFamily="34" charset="0"/>
              </a:rPr>
              <a:t>LexA</a:t>
            </a:r>
            <a:r>
              <a:rPr lang="en-US" dirty="0">
                <a:latin typeface="Franklin Gothic Medium" panose="020B0603020102020204" pitchFamily="34" charset="0"/>
              </a:rPr>
              <a:t> family)</a:t>
            </a:r>
          </a:p>
          <a:p>
            <a:r>
              <a:rPr lang="en-US" dirty="0">
                <a:latin typeface="Franklin Gothic Medium" panose="020B0603020102020204" pitchFamily="34" charset="0"/>
              </a:rPr>
              <a:t>Both a DR and IR</a:t>
            </a:r>
          </a:p>
          <a:p>
            <a:r>
              <a:rPr lang="en-US" dirty="0">
                <a:latin typeface="Franklin Gothic Medium" panose="020B0603020102020204" pitchFamily="34" charset="0"/>
              </a:rPr>
              <a:t>Evolutionary motivation: structural plasticity, more than a repressor</a:t>
            </a:r>
          </a:p>
          <a:p>
            <a:endParaRPr lang="en-US" dirty="0">
              <a:latin typeface="Franklin Gothic Medium" panose="020B0603020102020204" pitchFamily="34" charset="0"/>
            </a:endParaRPr>
          </a:p>
        </p:txBody>
      </p:sp>
      <p:pic>
        <p:nvPicPr>
          <p:cNvPr id="4" name="Picture 3" descr="A diagram of a number of letters&#10;&#10;AI-generated content may be incorrect.">
            <a:extLst>
              <a:ext uri="{FF2B5EF4-FFF2-40B4-BE49-F238E27FC236}">
                <a16:creationId xmlns:a16="http://schemas.microsoft.com/office/drawing/2014/main" id="{0EF04215-7D4C-AFC5-3761-186BDEF1DD29}"/>
              </a:ext>
            </a:extLst>
          </p:cNvPr>
          <p:cNvPicPr>
            <a:picLocks noChangeAspect="1"/>
          </p:cNvPicPr>
          <p:nvPr/>
        </p:nvPicPr>
        <p:blipFill>
          <a:blip r:embed="rId2"/>
          <a:stretch>
            <a:fillRect/>
          </a:stretch>
        </p:blipFill>
        <p:spPr>
          <a:xfrm>
            <a:off x="7928517" y="173952"/>
            <a:ext cx="3957924" cy="1497991"/>
          </a:xfrm>
          <a:prstGeom prst="rect">
            <a:avLst/>
          </a:prstGeom>
        </p:spPr>
      </p:pic>
      <p:pic>
        <p:nvPicPr>
          <p:cNvPr id="5" name="Picture 4">
            <a:extLst>
              <a:ext uri="{FF2B5EF4-FFF2-40B4-BE49-F238E27FC236}">
                <a16:creationId xmlns:a16="http://schemas.microsoft.com/office/drawing/2014/main" id="{7AEB1FF2-FC75-7413-E69E-1ED607A3C110}"/>
              </a:ext>
            </a:extLst>
          </p:cNvPr>
          <p:cNvPicPr>
            <a:picLocks noChangeAspect="1"/>
          </p:cNvPicPr>
          <p:nvPr/>
        </p:nvPicPr>
        <p:blipFill>
          <a:blip r:embed="rId3"/>
          <a:srcRect l="909" t="2706" r="1345" b="5359"/>
          <a:stretch>
            <a:fillRect/>
          </a:stretch>
        </p:blipFill>
        <p:spPr>
          <a:xfrm>
            <a:off x="2311078" y="4086462"/>
            <a:ext cx="7569844" cy="2090501"/>
          </a:xfrm>
          <a:prstGeom prst="rect">
            <a:avLst/>
          </a:prstGeom>
          <a:ln>
            <a:solidFill>
              <a:schemeClr val="tx1"/>
            </a:solidFill>
          </a:ln>
        </p:spPr>
      </p:pic>
    </p:spTree>
    <p:extLst>
      <p:ext uri="{BB962C8B-B14F-4D97-AF65-F5344CB8AC3E}">
        <p14:creationId xmlns:p14="http://schemas.microsoft.com/office/powerpoint/2010/main" val="2588786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C05CE-2AC7-EC30-8234-F7E63A22F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9B3F7-8574-6C2A-F790-E80A895F04B0}"/>
              </a:ext>
            </a:extLst>
          </p:cNvPr>
          <p:cNvSpPr>
            <a:spLocks noGrp="1"/>
          </p:cNvSpPr>
          <p:nvPr>
            <p:ph type="title"/>
          </p:nvPr>
        </p:nvSpPr>
        <p:spPr/>
        <p:txBody>
          <a:bodyPr/>
          <a:lstStyle/>
          <a:p>
            <a:r>
              <a:rPr lang="en-US" dirty="0">
                <a:latin typeface="Forma DJR Banner Light" pitchFamily="2" charset="77"/>
              </a:rPr>
              <a:t>Exceptions and Edge Cases</a:t>
            </a:r>
          </a:p>
        </p:txBody>
      </p:sp>
      <p:sp>
        <p:nvSpPr>
          <p:cNvPr id="3" name="Content Placeholder 2">
            <a:extLst>
              <a:ext uri="{FF2B5EF4-FFF2-40B4-BE49-F238E27FC236}">
                <a16:creationId xmlns:a16="http://schemas.microsoft.com/office/drawing/2014/main" id="{6DB06D58-36AB-3A4E-5BFD-43AE422DB909}"/>
              </a:ext>
            </a:extLst>
          </p:cNvPr>
          <p:cNvSpPr>
            <a:spLocks noGrp="1"/>
          </p:cNvSpPr>
          <p:nvPr>
            <p:ph idx="1"/>
          </p:nvPr>
        </p:nvSpPr>
        <p:spPr>
          <a:xfrm>
            <a:off x="838202" y="1411174"/>
            <a:ext cx="10515600" cy="4351338"/>
          </a:xfrm>
        </p:spPr>
        <p:txBody>
          <a:bodyPr/>
          <a:lstStyle/>
          <a:p>
            <a:r>
              <a:rPr lang="en-US" dirty="0">
                <a:latin typeface="Franklin Gothic Medium" panose="020B0603020102020204" pitchFamily="34" charset="0"/>
                <a:cs typeface="Aharoni" panose="02010803020104030203" pitchFamily="2" charset="-79"/>
              </a:rPr>
              <a:t>Data scarcity and poly-N confounding</a:t>
            </a:r>
          </a:p>
        </p:txBody>
      </p:sp>
      <p:pic>
        <p:nvPicPr>
          <p:cNvPr id="4" name="Picture 3">
            <a:extLst>
              <a:ext uri="{FF2B5EF4-FFF2-40B4-BE49-F238E27FC236}">
                <a16:creationId xmlns:a16="http://schemas.microsoft.com/office/drawing/2014/main" id="{0FBA5544-6DA7-CC67-F40A-52D7C410EE11}"/>
              </a:ext>
            </a:extLst>
          </p:cNvPr>
          <p:cNvPicPr>
            <a:picLocks noChangeAspect="1"/>
          </p:cNvPicPr>
          <p:nvPr/>
        </p:nvPicPr>
        <p:blipFill>
          <a:blip r:embed="rId3"/>
          <a:stretch>
            <a:fillRect/>
          </a:stretch>
        </p:blipFill>
        <p:spPr>
          <a:xfrm>
            <a:off x="2349500" y="2022392"/>
            <a:ext cx="7772400" cy="2305215"/>
          </a:xfrm>
          <a:prstGeom prst="rect">
            <a:avLst/>
          </a:prstGeom>
        </p:spPr>
      </p:pic>
      <p:pic>
        <p:nvPicPr>
          <p:cNvPr id="5" name="Picture 4">
            <a:extLst>
              <a:ext uri="{FF2B5EF4-FFF2-40B4-BE49-F238E27FC236}">
                <a16:creationId xmlns:a16="http://schemas.microsoft.com/office/drawing/2014/main" id="{76DA493B-15A9-0D12-5FF9-4E302F045817}"/>
              </a:ext>
            </a:extLst>
          </p:cNvPr>
          <p:cNvPicPr>
            <a:picLocks noChangeAspect="1"/>
          </p:cNvPicPr>
          <p:nvPr/>
        </p:nvPicPr>
        <p:blipFill>
          <a:blip r:embed="rId4"/>
          <a:stretch>
            <a:fillRect/>
          </a:stretch>
        </p:blipFill>
        <p:spPr>
          <a:xfrm>
            <a:off x="3352800" y="4327607"/>
            <a:ext cx="6489700" cy="2347927"/>
          </a:xfrm>
          <a:prstGeom prst="rect">
            <a:avLst/>
          </a:prstGeom>
        </p:spPr>
      </p:pic>
    </p:spTree>
    <p:extLst>
      <p:ext uri="{BB962C8B-B14F-4D97-AF65-F5344CB8AC3E}">
        <p14:creationId xmlns:p14="http://schemas.microsoft.com/office/powerpoint/2010/main" val="928452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AE3C5-7232-29FA-FB17-C59EB4B72DE5}"/>
              </a:ext>
            </a:extLst>
          </p:cNvPr>
          <p:cNvSpPr>
            <a:spLocks noGrp="1"/>
          </p:cNvSpPr>
          <p:nvPr>
            <p:ph type="title"/>
          </p:nvPr>
        </p:nvSpPr>
        <p:spPr>
          <a:xfrm>
            <a:off x="317502" y="0"/>
            <a:ext cx="10515600" cy="1325563"/>
          </a:xfrm>
        </p:spPr>
        <p:txBody>
          <a:bodyPr>
            <a:normAutofit/>
          </a:bodyPr>
          <a:lstStyle/>
          <a:p>
            <a:r>
              <a:rPr lang="en-US" sz="5000" dirty="0">
                <a:latin typeface="Forma DJR Banner Light" pitchFamily="2" charset="77"/>
              </a:rPr>
              <a:t>Conclusions</a:t>
            </a:r>
          </a:p>
        </p:txBody>
      </p:sp>
      <p:sp>
        <p:nvSpPr>
          <p:cNvPr id="3" name="Content Placeholder 2">
            <a:extLst>
              <a:ext uri="{FF2B5EF4-FFF2-40B4-BE49-F238E27FC236}">
                <a16:creationId xmlns:a16="http://schemas.microsoft.com/office/drawing/2014/main" id="{9D846387-4E0E-0275-8B5D-4BDFC5AFD978}"/>
              </a:ext>
            </a:extLst>
          </p:cNvPr>
          <p:cNvSpPr>
            <a:spLocks noGrp="1"/>
          </p:cNvSpPr>
          <p:nvPr>
            <p:ph idx="1"/>
          </p:nvPr>
        </p:nvSpPr>
        <p:spPr>
          <a:xfrm>
            <a:off x="580174" y="1139825"/>
            <a:ext cx="11036298" cy="3419475"/>
          </a:xfrm>
        </p:spPr>
        <p:txBody>
          <a:bodyPr>
            <a:normAutofit/>
          </a:bodyPr>
          <a:lstStyle/>
          <a:p>
            <a:r>
              <a:rPr lang="en-US" sz="2300" dirty="0">
                <a:latin typeface="Franklin Gothic Medium" panose="020B0603020102020204" pitchFamily="34" charset="0"/>
              </a:rPr>
              <a:t>Leveraged Bacteria domain context with simple information-grounded methods</a:t>
            </a:r>
          </a:p>
          <a:p>
            <a:r>
              <a:rPr lang="en-US" sz="2300" dirty="0">
                <a:latin typeface="Franklin Gothic Medium" panose="020B0603020102020204" pitchFamily="34" charset="0"/>
              </a:rPr>
              <a:t>Future research areas: handling edge cases, test other families/domains, larger inputs </a:t>
            </a:r>
          </a:p>
          <a:p>
            <a:r>
              <a:rPr lang="en-US" sz="2300" dirty="0">
                <a:latin typeface="Franklin Gothic Medium" panose="020B0603020102020204" pitchFamily="34" charset="0"/>
              </a:rPr>
              <a:t>Why not ML/DL – need lots of labeled data to perform classification and return candidates</a:t>
            </a:r>
          </a:p>
          <a:p>
            <a:r>
              <a:rPr lang="en-US" sz="2300" dirty="0">
                <a:latin typeface="Franklin Gothic Medium" panose="020B0603020102020204" pitchFamily="34" charset="0"/>
              </a:rPr>
              <a:t>Why not LLMs – single case took 2-3 minutes (vs. 0.6 s) &amp; inconsistent, but could improve with tool use</a:t>
            </a:r>
          </a:p>
        </p:txBody>
      </p:sp>
      <p:pic>
        <p:nvPicPr>
          <p:cNvPr id="10" name="Picture 9">
            <a:extLst>
              <a:ext uri="{FF2B5EF4-FFF2-40B4-BE49-F238E27FC236}">
                <a16:creationId xmlns:a16="http://schemas.microsoft.com/office/drawing/2014/main" id="{DFCB1141-4786-6DED-45DD-A64F7319E83D}"/>
              </a:ext>
            </a:extLst>
          </p:cNvPr>
          <p:cNvPicPr>
            <a:picLocks noChangeAspect="1"/>
          </p:cNvPicPr>
          <p:nvPr/>
        </p:nvPicPr>
        <p:blipFill>
          <a:blip r:embed="rId3"/>
          <a:stretch>
            <a:fillRect/>
          </a:stretch>
        </p:blipFill>
        <p:spPr>
          <a:xfrm>
            <a:off x="721272" y="4070694"/>
            <a:ext cx="3534628" cy="1447414"/>
          </a:xfrm>
          <a:prstGeom prst="rect">
            <a:avLst/>
          </a:prstGeom>
        </p:spPr>
      </p:pic>
      <p:pic>
        <p:nvPicPr>
          <p:cNvPr id="11" name="Picture 10">
            <a:extLst>
              <a:ext uri="{FF2B5EF4-FFF2-40B4-BE49-F238E27FC236}">
                <a16:creationId xmlns:a16="http://schemas.microsoft.com/office/drawing/2014/main" id="{89048698-DFA9-4467-879F-B0E3976EE6B4}"/>
              </a:ext>
            </a:extLst>
          </p:cNvPr>
          <p:cNvPicPr>
            <a:picLocks noChangeAspect="1"/>
          </p:cNvPicPr>
          <p:nvPr/>
        </p:nvPicPr>
        <p:blipFill>
          <a:blip r:embed="rId4"/>
          <a:stretch>
            <a:fillRect/>
          </a:stretch>
        </p:blipFill>
        <p:spPr>
          <a:xfrm>
            <a:off x="721272" y="5652705"/>
            <a:ext cx="4004528" cy="808515"/>
          </a:xfrm>
          <a:prstGeom prst="rect">
            <a:avLst/>
          </a:prstGeom>
        </p:spPr>
      </p:pic>
      <p:pic>
        <p:nvPicPr>
          <p:cNvPr id="12" name="Picture 11">
            <a:extLst>
              <a:ext uri="{FF2B5EF4-FFF2-40B4-BE49-F238E27FC236}">
                <a16:creationId xmlns:a16="http://schemas.microsoft.com/office/drawing/2014/main" id="{8B19FEA2-1B63-D6C0-3DF9-01F47F0E6F08}"/>
              </a:ext>
            </a:extLst>
          </p:cNvPr>
          <p:cNvPicPr>
            <a:picLocks noChangeAspect="1"/>
          </p:cNvPicPr>
          <p:nvPr/>
        </p:nvPicPr>
        <p:blipFill>
          <a:blip r:embed="rId5"/>
          <a:stretch>
            <a:fillRect/>
          </a:stretch>
        </p:blipFill>
        <p:spPr>
          <a:xfrm>
            <a:off x="5939575" y="5382927"/>
            <a:ext cx="3919276" cy="1348073"/>
          </a:xfrm>
          <a:prstGeom prst="rect">
            <a:avLst/>
          </a:prstGeom>
        </p:spPr>
      </p:pic>
      <p:pic>
        <p:nvPicPr>
          <p:cNvPr id="13" name="Picture 12">
            <a:extLst>
              <a:ext uri="{FF2B5EF4-FFF2-40B4-BE49-F238E27FC236}">
                <a16:creationId xmlns:a16="http://schemas.microsoft.com/office/drawing/2014/main" id="{2FC38270-D812-A08E-06E1-BC54760C5817}"/>
              </a:ext>
            </a:extLst>
          </p:cNvPr>
          <p:cNvPicPr>
            <a:picLocks noChangeAspect="1"/>
          </p:cNvPicPr>
          <p:nvPr/>
        </p:nvPicPr>
        <p:blipFill>
          <a:blip r:embed="rId6"/>
          <a:stretch>
            <a:fillRect/>
          </a:stretch>
        </p:blipFill>
        <p:spPr>
          <a:xfrm>
            <a:off x="5435600" y="3747240"/>
            <a:ext cx="6085621" cy="1756674"/>
          </a:xfrm>
          <a:prstGeom prst="rect">
            <a:avLst/>
          </a:prstGeom>
        </p:spPr>
      </p:pic>
    </p:spTree>
    <p:extLst>
      <p:ext uri="{BB962C8B-B14F-4D97-AF65-F5344CB8AC3E}">
        <p14:creationId xmlns:p14="http://schemas.microsoft.com/office/powerpoint/2010/main" val="3380507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FD136-502E-55AB-D185-B31F2BDF4A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70B7A-13BA-CE66-91BF-578586D30F4F}"/>
              </a:ext>
            </a:extLst>
          </p:cNvPr>
          <p:cNvSpPr>
            <a:spLocks noGrp="1"/>
          </p:cNvSpPr>
          <p:nvPr>
            <p:ph type="title"/>
          </p:nvPr>
        </p:nvSpPr>
        <p:spPr>
          <a:xfrm>
            <a:off x="317502" y="0"/>
            <a:ext cx="10515600" cy="1325563"/>
          </a:xfrm>
        </p:spPr>
        <p:txBody>
          <a:bodyPr>
            <a:normAutofit/>
          </a:bodyPr>
          <a:lstStyle/>
          <a:p>
            <a:r>
              <a:rPr lang="en-US" sz="5000" dirty="0">
                <a:latin typeface="Forma DJR Banner Light" pitchFamily="2" charset="77"/>
              </a:rPr>
              <a:t>Presentation Bibliography</a:t>
            </a:r>
          </a:p>
        </p:txBody>
      </p:sp>
      <p:sp>
        <p:nvSpPr>
          <p:cNvPr id="3" name="Content Placeholder 2">
            <a:extLst>
              <a:ext uri="{FF2B5EF4-FFF2-40B4-BE49-F238E27FC236}">
                <a16:creationId xmlns:a16="http://schemas.microsoft.com/office/drawing/2014/main" id="{5A8CF46D-B4E9-E314-C46E-1B919809C306}"/>
              </a:ext>
            </a:extLst>
          </p:cNvPr>
          <p:cNvSpPr>
            <a:spLocks noGrp="1"/>
          </p:cNvSpPr>
          <p:nvPr>
            <p:ph idx="1"/>
          </p:nvPr>
        </p:nvSpPr>
        <p:spPr>
          <a:xfrm>
            <a:off x="580174" y="1139825"/>
            <a:ext cx="11036298" cy="3419475"/>
          </a:xfrm>
        </p:spPr>
        <p:txBody>
          <a:bodyPr>
            <a:normAutofit lnSpcReduction="10000"/>
          </a:bodyPr>
          <a:lstStyle/>
          <a:p>
            <a:pPr marL="922338" indent="-922338">
              <a:buNone/>
            </a:pPr>
            <a:r>
              <a:rPr lang="en-US" sz="2000" dirty="0">
                <a:latin typeface="Franklin Gothic Medium" panose="020B0603020102020204" pitchFamily="34" charset="0"/>
              </a:rPr>
              <a:t>“Figure 13.1: Transcription and translation process. The picture shows...,” ResearchGate. Accessed: Jun. 11, 2026. [Online]. Available: </a:t>
            </a:r>
            <a:r>
              <a:rPr lang="en-US" sz="2000" dirty="0">
                <a:latin typeface="Franklin Gothic Medium" panose="020B0603020102020204" pitchFamily="34" charset="0"/>
                <a:hlinkClick r:id="rId3"/>
              </a:rPr>
              <a:t>https://www.researchgate.net/figure/Transcription-and-translation-process-The-picture-shows-the-transcription-factors-TF_fig7_249656139</a:t>
            </a:r>
            <a:endParaRPr lang="en-US" sz="2000" dirty="0">
              <a:latin typeface="Franklin Gothic Medium" panose="020B0603020102020204" pitchFamily="34" charset="0"/>
            </a:endParaRPr>
          </a:p>
          <a:p>
            <a:pPr marL="922338" indent="-922338">
              <a:buNone/>
            </a:pPr>
            <a:r>
              <a:rPr lang="en-US" sz="2000" dirty="0">
                <a:latin typeface="Franklin Gothic Medium" panose="020B0603020102020204" pitchFamily="34" charset="0"/>
              </a:rPr>
              <a:t>G. </a:t>
            </a:r>
            <a:r>
              <a:rPr lang="en-US" sz="2000" dirty="0" err="1">
                <a:latin typeface="Franklin Gothic Medium" panose="020B0603020102020204" pitchFamily="34" charset="0"/>
              </a:rPr>
              <a:t>Mazón</a:t>
            </a:r>
            <a:r>
              <a:rPr lang="en-US" sz="2000" dirty="0">
                <a:latin typeface="Franklin Gothic Medium" panose="020B0603020102020204" pitchFamily="34" charset="0"/>
              </a:rPr>
              <a:t>, I. </a:t>
            </a:r>
            <a:r>
              <a:rPr lang="en-US" sz="2000" dirty="0" err="1">
                <a:latin typeface="Franklin Gothic Medium" panose="020B0603020102020204" pitchFamily="34" charset="0"/>
              </a:rPr>
              <a:t>Erill</a:t>
            </a:r>
            <a:r>
              <a:rPr lang="en-US" sz="2000" dirty="0">
                <a:latin typeface="Franklin Gothic Medium" panose="020B0603020102020204" pitchFamily="34" charset="0"/>
              </a:rPr>
              <a:t>, S. Campoy, P. Cortés, E. </a:t>
            </a:r>
            <a:r>
              <a:rPr lang="en-US" sz="2000" dirty="0" err="1">
                <a:latin typeface="Franklin Gothic Medium" panose="020B0603020102020204" pitchFamily="34" charset="0"/>
              </a:rPr>
              <a:t>Forano</a:t>
            </a:r>
            <a:r>
              <a:rPr lang="en-US" sz="2000" dirty="0">
                <a:latin typeface="Franklin Gothic Medium" panose="020B0603020102020204" pitchFamily="34" charset="0"/>
              </a:rPr>
              <a:t>, and J. Barbé, “Reconstruction of the evolutionary history of the </a:t>
            </a:r>
            <a:r>
              <a:rPr lang="en-US" sz="2000" dirty="0" err="1">
                <a:latin typeface="Franklin Gothic Medium" panose="020B0603020102020204" pitchFamily="34" charset="0"/>
              </a:rPr>
              <a:t>LexA</a:t>
            </a:r>
            <a:r>
              <a:rPr lang="en-US" sz="2000" dirty="0">
                <a:latin typeface="Franklin Gothic Medium" panose="020B0603020102020204" pitchFamily="34" charset="0"/>
              </a:rPr>
              <a:t>-binding sequence,” Microbiology, vol. 150, no. 11, pp. 3783–3795, 2004, </a:t>
            </a:r>
            <a:r>
              <a:rPr lang="en-US" sz="2000" dirty="0" err="1">
                <a:latin typeface="Franklin Gothic Medium" panose="020B0603020102020204" pitchFamily="34" charset="0"/>
              </a:rPr>
              <a:t>doi</a:t>
            </a:r>
            <a:r>
              <a:rPr lang="en-US" sz="2000" dirty="0">
                <a:latin typeface="Franklin Gothic Medium" panose="020B0603020102020204" pitchFamily="34" charset="0"/>
              </a:rPr>
              <a:t>: 10.1099/mic.0.27315-0.</a:t>
            </a:r>
          </a:p>
          <a:p>
            <a:pPr marL="922338" indent="-922338">
              <a:buNone/>
            </a:pPr>
            <a:r>
              <a:rPr lang="en-US" sz="2000" dirty="0">
                <a:latin typeface="Franklin Gothic Medium" panose="020B0603020102020204" pitchFamily="34" charset="0"/>
              </a:rPr>
              <a:t>G. Tulin, N. Figueroa, S. Checa, and F. </a:t>
            </a:r>
            <a:r>
              <a:rPr lang="en-US" sz="2000" dirty="0" err="1">
                <a:latin typeface="Franklin Gothic Medium" panose="020B0603020102020204" pitchFamily="34" charset="0"/>
              </a:rPr>
              <a:t>Soncini</a:t>
            </a:r>
            <a:r>
              <a:rPr lang="en-US" sz="2000" dirty="0">
                <a:latin typeface="Franklin Gothic Medium" panose="020B0603020102020204" pitchFamily="34" charset="0"/>
              </a:rPr>
              <a:t>, “The multifarious </a:t>
            </a:r>
            <a:r>
              <a:rPr lang="en-US" sz="2000" dirty="0" err="1">
                <a:latin typeface="Franklin Gothic Medium" panose="020B0603020102020204" pitchFamily="34" charset="0"/>
              </a:rPr>
              <a:t>MerR</a:t>
            </a:r>
            <a:r>
              <a:rPr lang="en-US" sz="2000" dirty="0">
                <a:latin typeface="Franklin Gothic Medium" panose="020B0603020102020204" pitchFamily="34" charset="0"/>
              </a:rPr>
              <a:t> family of transcriptional regulators,” </a:t>
            </a:r>
            <a:r>
              <a:rPr lang="en-US" sz="2000" i="1" dirty="0">
                <a:latin typeface="Franklin Gothic Medium" panose="020B0603020102020204" pitchFamily="34" charset="0"/>
              </a:rPr>
              <a:t>Molecular Microbiology</a:t>
            </a:r>
            <a:r>
              <a:rPr lang="en-US" sz="2000" dirty="0">
                <a:latin typeface="Franklin Gothic Medium" panose="020B0603020102020204" pitchFamily="34" charset="0"/>
              </a:rPr>
              <a:t>, vol. 121, p. n/a-n/a, Dec. 2023, </a:t>
            </a:r>
            <a:r>
              <a:rPr lang="en-US" sz="2000" dirty="0" err="1">
                <a:latin typeface="Franklin Gothic Medium" panose="020B0603020102020204" pitchFamily="34" charset="0"/>
              </a:rPr>
              <a:t>doi</a:t>
            </a:r>
            <a:r>
              <a:rPr lang="en-US" sz="2000" dirty="0">
                <a:latin typeface="Franklin Gothic Medium" panose="020B0603020102020204" pitchFamily="34" charset="0"/>
              </a:rPr>
              <a:t>: </a:t>
            </a:r>
            <a:r>
              <a:rPr lang="en-US" sz="2000" dirty="0">
                <a:latin typeface="Franklin Gothic Medium" panose="020B0603020102020204" pitchFamily="34" charset="0"/>
                <a:hlinkClick r:id="rId4"/>
              </a:rPr>
              <a:t>10.1111/mmi.15212</a:t>
            </a:r>
            <a:r>
              <a:rPr lang="en-US" sz="2000" dirty="0">
                <a:latin typeface="Franklin Gothic Medium" panose="020B0603020102020204" pitchFamily="34" charset="0"/>
              </a:rPr>
              <a:t>.</a:t>
            </a:r>
          </a:p>
          <a:p>
            <a:pPr marL="922338" indent="-922338">
              <a:buNone/>
            </a:pPr>
            <a:r>
              <a:rPr lang="en-US" sz="2000" dirty="0">
                <a:latin typeface="Franklin Gothic Medium" panose="020B0603020102020204" pitchFamily="34" charset="0"/>
              </a:rPr>
              <a:t>T. L. Bailey and C. Elkan, “Fitting a mixture model by expectation maximization to discover motifs in biopolymers,” </a:t>
            </a:r>
            <a:r>
              <a:rPr lang="en-US" sz="2000" i="1" dirty="0">
                <a:latin typeface="Franklin Gothic Medium" panose="020B0603020102020204" pitchFamily="34" charset="0"/>
              </a:rPr>
              <a:t>Proc Int Conf Intell Syst Mol Biol</a:t>
            </a:r>
            <a:r>
              <a:rPr lang="en-US" sz="2000" dirty="0">
                <a:latin typeface="Franklin Gothic Medium" panose="020B0603020102020204" pitchFamily="34" charset="0"/>
              </a:rPr>
              <a:t>, vol. 2, pp. 28–36, 1994.</a:t>
            </a:r>
          </a:p>
          <a:p>
            <a:pPr marL="922338" indent="-922338">
              <a:buNone/>
            </a:pPr>
            <a:endParaRPr lang="en-US" sz="2000" dirty="0">
              <a:latin typeface="Franklin Gothic Medium" panose="020B0603020102020204" pitchFamily="34" charset="0"/>
            </a:endParaRPr>
          </a:p>
          <a:p>
            <a:pPr marL="922338" indent="-922338">
              <a:buNone/>
            </a:pPr>
            <a:endParaRPr lang="en-US" sz="2000" dirty="0">
              <a:latin typeface="Franklin Gothic Medium" panose="020B0603020102020204" pitchFamily="34" charset="0"/>
            </a:endParaRPr>
          </a:p>
        </p:txBody>
      </p:sp>
    </p:spTree>
    <p:extLst>
      <p:ext uri="{BB962C8B-B14F-4D97-AF65-F5344CB8AC3E}">
        <p14:creationId xmlns:p14="http://schemas.microsoft.com/office/powerpoint/2010/main" val="3702397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30607</TotalTime>
  <Words>1368</Words>
  <Application>Microsoft Macintosh PowerPoint</Application>
  <PresentationFormat>Widescreen</PresentationFormat>
  <Paragraphs>196</Paragraphs>
  <Slides>22</Slides>
  <Notes>12</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Aptos Display</vt:lpstr>
      <vt:lpstr>Arial</vt:lpstr>
      <vt:lpstr>Forma DJR Banner</vt:lpstr>
      <vt:lpstr>Forma DJR Banner Light</vt:lpstr>
      <vt:lpstr>Franklin Gothic Medium</vt:lpstr>
      <vt:lpstr>Office Theme</vt:lpstr>
      <vt:lpstr>Detecting motifs with “drippy”  (direct repeats and inverted patterns with python)</vt:lpstr>
      <vt:lpstr>Background: Central Dogma &amp; Motifs</vt:lpstr>
      <vt:lpstr>Why do we care about finding motifs?</vt:lpstr>
      <vt:lpstr>State of the Art in Motif Discovery</vt:lpstr>
      <vt:lpstr>The Problem</vt:lpstr>
      <vt:lpstr>Solution: Find Direct and Palindromic  Repeats</vt:lpstr>
      <vt:lpstr>Data Structure &amp; Inputs</vt:lpstr>
      <vt:lpstr>Methodology</vt:lpstr>
      <vt:lpstr>Quantifying Similarity &amp; Metrics Selection</vt:lpstr>
      <vt:lpstr>Metrics Selection: Quantifying Similarity</vt:lpstr>
      <vt:lpstr>Thresholding and Diagonal Growing</vt:lpstr>
      <vt:lpstr>Statistical Strength: Bootstrapping for Evaluation</vt:lpstr>
      <vt:lpstr>Classifier Pipeline Overview</vt:lpstr>
      <vt:lpstr>Classification Impact of Percentile Threshold</vt:lpstr>
      <vt:lpstr>Other Threshold Tuning Considerations</vt:lpstr>
      <vt:lpstr>Results</vt:lpstr>
      <vt:lpstr>PowerPoint Presentation</vt:lpstr>
      <vt:lpstr>PowerPoint Presentation</vt:lpstr>
      <vt:lpstr>Exceptions and Edge Cases</vt:lpstr>
      <vt:lpstr>Exceptions and Edge Cases</vt:lpstr>
      <vt:lpstr>Conclusions</vt:lpstr>
      <vt:lpstr>Presentation Bibliography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Enoch Shin</dc:creator>
  <cp:lastModifiedBy>Enoch Shin</cp:lastModifiedBy>
  <cp:revision>666</cp:revision>
  <dcterms:created xsi:type="dcterms:W3CDTF">2026-03-17T21:00:35Z</dcterms:created>
  <dcterms:modified xsi:type="dcterms:W3CDTF">2026-07-12T20:09:39Z</dcterms:modified>
</cp:coreProperties>
</file>