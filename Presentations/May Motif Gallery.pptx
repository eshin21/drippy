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3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3B8F8-7F9D-1718-D490-DB4CE56A62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20E75-B254-448F-BC4D-2A2F6E2C3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6D652-547C-0B9C-D2F1-975DE82BC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23F34-4619-2D93-9FA4-6840A97C3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DDF09-61B3-CFC2-FF35-03808DDE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63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37AE6-6554-E266-1630-87B14BDE9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B640E-B868-C3E3-135E-A9A68432C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6B7F-73CA-D97D-A8BF-AD3DEA636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7BA9B-7FBE-4CAE-CA44-EF3466B21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6319B-17C1-CEDE-ECA1-69DE3D172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416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FB517-7F8E-EDF7-6486-DD70525EB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0AE88-7DAF-16D9-9536-08BECB38E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3207E-0787-124D-3C68-F791CB19C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96D9-3D11-5A43-69BE-2B58B1966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7DCD35-69E6-4FE5-0494-7A1176729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459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E6575-3CF1-F069-C473-EE91AE10A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324D4-EFA1-8264-87FF-6ED64A5BD8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D77625-BB53-ADEA-EF94-6D768027F7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4B85B2-1FF8-FF0C-E625-4C4C3255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69A6DB-D383-8DCA-6D3D-779DCFDFB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79CF-911B-637D-E1EE-5E687294E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835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B228-100A-ABB1-1442-13943255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961E3F-EDF4-2FC4-7A13-3AB1482669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87283-C1C3-3E62-2337-6B0918362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79BCE-0AD4-C24E-0AF6-13210729B7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3D854C-CF2B-806A-F62E-B1C4DE0226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6504AF-B8E1-249B-3F07-325C7765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A0A283-50A2-96CB-1F81-F88C25FF6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10A784-3A73-92EC-464B-47D2B1C4F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289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4A585-1A96-39E9-6F2A-E2642C2FE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B9F99A-302B-550E-0FE9-AB0932CD5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D5CF3C-FE3A-BC5A-8830-834C2E57E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ADEF6A-B96B-3A09-468B-F86314601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13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E42B1-3D83-2C91-A2D4-6D0AE8D9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B6971-4362-E492-23D7-C7B9C962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0CE47-23F8-D330-0992-6886432B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36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1C37D-CD10-06EA-62F3-3BD1C3748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3842E-9B15-5AA2-BC6D-CD23B9327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5D32D7-01E7-37C1-F0F6-72DCAE928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E0EEA4-8FE0-A122-60E3-260CD4C49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95E73-2400-EA54-290D-2ED257764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3B984-3E40-BDC1-85D5-F80DFC5F9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192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9BA3-2839-A11B-AC2A-58FC2B406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D8E01-6C16-D307-2E89-86B6A1ECF2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B672D7-8D84-E914-05FC-EEA045EEEE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630A9-2685-5737-7810-7452490AC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7193B3-84B0-BBE5-F53D-72DE859E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6A1655-636D-F4E2-8198-9222D1A23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060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DC5FD-339C-8989-936B-436609DB3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BFF0AA-6FA8-96DD-AFA9-DD2EB3FDC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69C2C-1B73-9A02-D4E0-F0ED5FBFD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EE034-8A04-6C6D-8F21-4871030A7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AA621-4A72-91E6-3376-A3C2A43D9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17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3B88C8-4C38-C60C-5A7E-4AFB731018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B23E5E-4055-27C1-380A-1491C979F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ACB8-CE8E-8730-6AD9-A9F27D30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E4B8D-35BB-8AA4-79A3-3432DF692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D63881-2111-05E9-30BD-6DA1987C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850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F6A55-8E91-9184-746C-53B9B4FBA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EDE27F-AF79-6FB6-5ED6-65408D08C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36815-7702-09E4-82A9-1E8ED4C800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0BD87-46A1-BC47-9C77-7F721A56BA45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A5E85-5177-DBA6-87BE-F0900C1103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07BF98-A120-96B0-32AD-D1F4FDD4A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5805CA-6BF4-A843-82D6-65D98B087A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51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929BC-2F5A-8214-253E-9525EF4159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Motif Gallery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613D2-A6EE-D839-5FC0-AA5C7EBA05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06 May 2026</a:t>
            </a:r>
          </a:p>
        </p:txBody>
      </p:sp>
    </p:spTree>
    <p:extLst>
      <p:ext uri="{BB962C8B-B14F-4D97-AF65-F5344CB8AC3E}">
        <p14:creationId xmlns:p14="http://schemas.microsoft.com/office/powerpoint/2010/main" val="259676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95C2-1465-F740-E72B-EC1DA5FB2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13DCC-DF51-E414-CF3D-A5A38C84F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Metric</a:t>
            </a:r>
            <a:r>
              <a:rPr lang="en-US" dirty="0"/>
              <a:t>: a measure of conservation between two positions (e.g. PIC-JSD)</a:t>
            </a:r>
          </a:p>
          <a:p>
            <a:r>
              <a:rPr lang="en-US" i="1" dirty="0"/>
              <a:t>Score</a:t>
            </a:r>
            <a:r>
              <a:rPr lang="en-US" dirty="0"/>
              <a:t>: measure of diagonal strength between two or more positions</a:t>
            </a:r>
          </a:p>
          <a:p>
            <a:pPr marL="0" indent="0">
              <a:buNone/>
            </a:pPr>
            <a:br>
              <a:rPr lang="en-US" i="1" dirty="0"/>
            </a:br>
            <a:r>
              <a:rPr lang="en-US" i="1" dirty="0"/>
              <a:t>Tasks</a:t>
            </a:r>
          </a:p>
          <a:p>
            <a:r>
              <a:rPr lang="en-US" dirty="0"/>
              <a:t>Threshold more objectively using distribution of metrics </a:t>
            </a:r>
          </a:p>
          <a:p>
            <a:r>
              <a:rPr lang="en-US" dirty="0"/>
              <a:t>Deal with poly-N hits, more readable output (</a:t>
            </a:r>
            <a:r>
              <a:rPr lang="en-US" dirty="0" err="1"/>
              <a:t>map_back</a:t>
            </a:r>
            <a:r>
              <a:rPr lang="en-US" dirty="0"/>
              <a:t> function)</a:t>
            </a:r>
          </a:p>
          <a:p>
            <a:r>
              <a:rPr lang="en-US" dirty="0"/>
              <a:t>Demonstrate examples of direct and reverse detection</a:t>
            </a:r>
          </a:p>
          <a:p>
            <a:r>
              <a:rPr lang="en-US" dirty="0"/>
              <a:t>More integrated </a:t>
            </a:r>
            <a:r>
              <a:rPr lang="en-US" dirty="0" err="1"/>
              <a:t>BioMotif</a:t>
            </a:r>
            <a:r>
              <a:rPr lang="en-US" dirty="0"/>
              <a:t> object handling </a:t>
            </a:r>
          </a:p>
        </p:txBody>
      </p:sp>
    </p:spTree>
    <p:extLst>
      <p:ext uri="{BB962C8B-B14F-4D97-AF65-F5344CB8AC3E}">
        <p14:creationId xmlns:p14="http://schemas.microsoft.com/office/powerpoint/2010/main" val="3060313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BA28F-C146-60F6-53E3-F13A64D13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CEFD9-B71F-5AC0-C00E-EF846F100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Percentile based on matrix of conservation metric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00798E-CD17-4DD7-CDCE-D99062296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11" y="2614669"/>
            <a:ext cx="7772400" cy="1386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7999BE-8427-20A5-D878-6AE54D877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080" y="4675655"/>
            <a:ext cx="7772400" cy="120835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2A6FAAF-8235-1F18-7D62-5CD38F7FC56F}"/>
              </a:ext>
            </a:extLst>
          </p:cNvPr>
          <p:cNvCxnSpPr/>
          <p:nvPr/>
        </p:nvCxnSpPr>
        <p:spPr>
          <a:xfrm>
            <a:off x="2820318" y="4001294"/>
            <a:ext cx="374574" cy="89019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713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D60E1-568F-3C9E-6CA3-B2213B747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57" y="128003"/>
            <a:ext cx="10515600" cy="1325563"/>
          </a:xfrm>
        </p:spPr>
        <p:txBody>
          <a:bodyPr/>
          <a:lstStyle/>
          <a:p>
            <a:r>
              <a:rPr lang="en-US" dirty="0"/>
              <a:t>Poly-N / Mapping Back to Readable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86985-D642-904A-BA1B-887B087A1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29" y="1495119"/>
            <a:ext cx="10515600" cy="4351338"/>
          </a:xfrm>
        </p:spPr>
        <p:txBody>
          <a:bodyPr/>
          <a:lstStyle/>
          <a:p>
            <a:r>
              <a:rPr lang="en-US" dirty="0"/>
              <a:t>Function def </a:t>
            </a:r>
            <a:r>
              <a:rPr lang="en-US" dirty="0" err="1"/>
              <a:t>map_back</a:t>
            </a:r>
            <a:endParaRPr lang="en-US" dirty="0"/>
          </a:p>
          <a:p>
            <a:pPr lvl="1"/>
            <a:r>
              <a:rPr lang="en-US" dirty="0"/>
              <a:t>Input </a:t>
            </a:r>
            <a:r>
              <a:rPr lang="en-US" b="1" dirty="0"/>
              <a:t>motif</a:t>
            </a:r>
            <a:r>
              <a:rPr lang="en-US" dirty="0"/>
              <a:t>, array of </a:t>
            </a:r>
            <a:r>
              <a:rPr lang="en-US" b="1" dirty="0"/>
              <a:t>candidates </a:t>
            </a:r>
            <a:r>
              <a:rPr lang="en-US" dirty="0"/>
              <a:t>from </a:t>
            </a:r>
            <a:r>
              <a:rPr lang="en-US" dirty="0" err="1"/>
              <a:t>score_diagonals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1C0528-6C6A-FB9C-F46B-57362FAED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85" y="2737576"/>
            <a:ext cx="6423752" cy="3755299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23E2B6-DF23-1D1E-DFCC-CD2D49585F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64631"/>
              </p:ext>
            </p:extLst>
          </p:nvPr>
        </p:nvGraphicFramePr>
        <p:xfrm>
          <a:off x="6756401" y="2883694"/>
          <a:ext cx="5435599" cy="2309145"/>
        </p:xfrm>
        <a:graphic>
          <a:graphicData uri="http://schemas.openxmlformats.org/drawingml/2006/table">
            <a:tbl>
              <a:tblPr/>
              <a:tblGrid>
                <a:gridCol w="2128627">
                  <a:extLst>
                    <a:ext uri="{9D8B030D-6E8A-4147-A177-3AD203B41FA5}">
                      <a16:colId xmlns:a16="http://schemas.microsoft.com/office/drawing/2014/main" val="37850621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1901956362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55254511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615583227"/>
                    </a:ext>
                  </a:extLst>
                </a:gridCol>
                <a:gridCol w="826743">
                  <a:extLst>
                    <a:ext uri="{9D8B030D-6E8A-4147-A177-3AD203B41FA5}">
                      <a16:colId xmlns:a16="http://schemas.microsoft.com/office/drawing/2014/main" val="646774794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coords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length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score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group2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84458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[(16, 5), (17, 6), (18, 7), (19,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6.81434819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GTCA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81720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10), (12, 11), (13,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5.67136648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239175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[(9, 7), (10, 8)]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0634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[(10, 1), (11,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2.51581179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5622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[(11, 1), (12, 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2.48348188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40027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[(12, 10), (13,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3.76452051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85790"/>
                  </a:ext>
                </a:extLst>
              </a:tr>
              <a:tr h="2879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[(18, 9), (19, 10)]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3.5316342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66948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10), (22, 11)]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3.35063117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366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11), (22, 12)]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3.32919146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30791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[(21, 12), (22, 13)]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3.2029027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07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3188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98C8-58DC-CA29-554B-1051FBA20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Parameters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7C264-7E87-D5ED-7781-884C2A009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shuffle applied to rows and columns – do not shuffle both independently as the goal is to break the position-wise relationship </a:t>
            </a:r>
          </a:p>
          <a:p>
            <a:r>
              <a:rPr lang="en-US" dirty="0"/>
              <a:t>Initial errors – some iterations might have no output if no threshold met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2EA8DD-A3B4-EBEC-27EC-66CD750DC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023" y="4001294"/>
            <a:ext cx="7734300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925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9918-5D07-F058-6EF9-EA163DC1A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M1 E1</a:t>
            </a:r>
          </a:p>
        </p:txBody>
      </p:sp>
      <p:pic>
        <p:nvPicPr>
          <p:cNvPr id="5" name="Content Placeholder 4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2230BED8-C963-AAF5-984A-F282B2D775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48270" y="220718"/>
            <a:ext cx="5517614" cy="1469970"/>
          </a:xfrm>
        </p:spPr>
      </p:pic>
    </p:spTree>
    <p:extLst>
      <p:ext uri="{BB962C8B-B14F-4D97-AF65-F5344CB8AC3E}">
        <p14:creationId xmlns:p14="http://schemas.microsoft.com/office/powerpoint/2010/main" val="1537526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297</Words>
  <Application>Microsoft Macintosh PowerPoint</Application>
  <PresentationFormat>Widescreen</PresentationFormat>
  <Paragraphs>74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Aptos Narrow</vt:lpstr>
      <vt:lpstr>Arial</vt:lpstr>
      <vt:lpstr>Office Theme</vt:lpstr>
      <vt:lpstr>Motif Gallery</vt:lpstr>
      <vt:lpstr>Goals</vt:lpstr>
      <vt:lpstr>Thresholding</vt:lpstr>
      <vt:lpstr>Poly-N / Mapping Back to Readable Output</vt:lpstr>
      <vt:lpstr>Bootstrapping Parameters </vt:lpstr>
      <vt:lpstr>M1 E1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Enoch Shin</dc:creator>
  <cp:lastModifiedBy>Enoch Shin</cp:lastModifiedBy>
  <cp:revision>15</cp:revision>
  <dcterms:created xsi:type="dcterms:W3CDTF">2026-05-05T16:09:09Z</dcterms:created>
  <dcterms:modified xsi:type="dcterms:W3CDTF">2026-05-05T17:58:40Z</dcterms:modified>
</cp:coreProperties>
</file>