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1" r:id="rId6"/>
    <p:sldId id="265" r:id="rId7"/>
    <p:sldId id="260" r:id="rId8"/>
    <p:sldId id="262" r:id="rId9"/>
    <p:sldId id="263" r:id="rId10"/>
    <p:sldId id="264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8"/>
    <p:restoredTop sz="94658"/>
  </p:normalViewPr>
  <p:slideViewPr>
    <p:cSldViewPr snapToGrid="0">
      <p:cViewPr>
        <p:scale>
          <a:sx n="105" d="100"/>
          <a:sy n="105" d="100"/>
        </p:scale>
        <p:origin x="232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5846FF-D9D8-F644-971D-9D9A7741D920}" type="datetimeFigureOut">
              <a:rPr lang="en-US" smtClean="0"/>
              <a:t>5/5/26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1815C7-3430-1D47-896C-791E6467C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95484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17,8  -- 16, 9 – 15, 10</a:t>
            </a:r>
            <a:br>
              <a:rPr lang="en-US" dirty="0"/>
            </a:b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1815C7-3430-1D47-896C-791E6467C6C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49984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93B8F8-7F9D-1718-D490-DB4CE56A62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120E75-B254-448F-BC4D-2A2F6E2C34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C6D652-547C-0B9C-D2F1-975DE82BC5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0BD87-46A1-BC47-9C77-7F721A56BA45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E23F34-4619-2D93-9FA4-6840A97C3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0DDF09-61B3-CFC2-FF35-03808DDE6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805CA-6BF4-A843-82D6-65D98B087A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86325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E37AE6-6554-E266-1630-87B14BDE9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2B640E-B868-C3E3-135E-A9A68432C0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746B7F-73CA-D97D-A8BF-AD3DEA6362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0BD87-46A1-BC47-9C77-7F721A56BA45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B7BA9B-7FBE-4CAE-CA44-EF3466B218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E6319B-17C1-CEDE-ECA1-69DE3D172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805CA-6BF4-A843-82D6-65D98B087A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74168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1FB517-7F8E-EDF7-6486-DD70525EB7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E0AE88-7DAF-16D9-9536-08BECB38E4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D3207E-0787-124D-3C68-F791CB19C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0BD87-46A1-BC47-9C77-7F721A56BA45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D196D9-3D11-5A43-69BE-2B58B19666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7DCD35-69E6-4FE5-0494-7A11767291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805CA-6BF4-A843-82D6-65D98B087A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84592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0E6575-3CF1-F069-C473-EE91AE10AF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6324D4-EFA1-8264-87FF-6ED64A5BD8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D77625-BB53-ADEA-EF94-6D768027F7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4B85B2-1FF8-FF0C-E625-4C4C32550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0BD87-46A1-BC47-9C77-7F721A56BA45}" type="datetimeFigureOut">
              <a:rPr lang="en-US" smtClean="0"/>
              <a:t>5/5/26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69A6DB-D383-8DCA-6D3D-779DCFDFB5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5E79CF-911B-637D-E1EE-5E687294E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805CA-6BF4-A843-82D6-65D98B087A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18357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6B228-100A-ABB1-1442-139432551E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961E3F-EDF4-2FC4-7A13-3AB1482669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487283-C1C3-3E62-2337-6B09183624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279BCE-0AD4-C24E-0AF6-13210729B76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63D854C-CF2B-806A-F62E-B1C4DE0226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E6504AF-B8E1-249B-3F07-325C77654A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0BD87-46A1-BC47-9C77-7F721A56BA45}" type="datetimeFigureOut">
              <a:rPr lang="en-US" smtClean="0"/>
              <a:t>5/5/26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DA0A283-50A2-96CB-1F81-F88C25FF6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710A784-3A73-92EC-464B-47D2B1C4F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805CA-6BF4-A843-82D6-65D98B087A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12893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94A585-1A96-39E9-6F2A-E2642C2FEE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AB9F99A-302B-550E-0FE9-AB0932CD5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0BD87-46A1-BC47-9C77-7F721A56BA45}" type="datetimeFigureOut">
              <a:rPr lang="en-US" smtClean="0"/>
              <a:t>5/5/26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D5CF3C-FE3A-BC5A-8830-834C2E57EF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ADEF6A-B96B-3A09-468B-F86314601C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805CA-6BF4-A843-82D6-65D98B087A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3133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DE42B1-3D83-2C91-A2D4-6D0AE8D98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0BD87-46A1-BC47-9C77-7F721A56BA45}" type="datetimeFigureOut">
              <a:rPr lang="en-US" smtClean="0"/>
              <a:t>5/5/26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CB6971-4362-E492-23D7-C7B9C96231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80CE47-23F8-D330-0992-6886432B7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805CA-6BF4-A843-82D6-65D98B087A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43603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1C37D-CD10-06EA-62F3-3BD1C37483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33842E-9B15-5AA2-BC6D-CD23B93279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5D32D7-01E7-37C1-F0F6-72DCAE9288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E0EEA4-8FE0-A122-60E3-260CD4C495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0BD87-46A1-BC47-9C77-7F721A56BA45}" type="datetimeFigureOut">
              <a:rPr lang="en-US" smtClean="0"/>
              <a:t>5/5/26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795E73-2400-EA54-290D-2ED2577643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A3B984-3E40-BDC1-85D5-F80DFC5F9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805CA-6BF4-A843-82D6-65D98B087A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51924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BB9BA3-2839-A11B-AC2A-58FC2B4065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D8E01-6C16-D307-2E89-86B6A1ECF26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AB672D7-8D84-E914-05FC-EEA045EEEE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C630A9-2685-5737-7810-7452490AC7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0BD87-46A1-BC47-9C77-7F721A56BA45}" type="datetimeFigureOut">
              <a:rPr lang="en-US" smtClean="0"/>
              <a:t>5/5/26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7193B3-84B0-BBE5-F53D-72DE859E2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6A1655-636D-F4E2-8198-9222D1A23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805CA-6BF4-A843-82D6-65D98B087A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00608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FDC5FD-339C-8989-936B-436609DB3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5BFF0AA-6FA8-96DD-AFA9-DD2EB3FDC1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A69C2C-1B73-9A02-D4E0-F0ED5FBFDD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0BD87-46A1-BC47-9C77-7F721A56BA45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3EE034-8A04-6C6D-8F21-4871030A71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1AA621-4A72-91E6-3376-A3C2A43D9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805CA-6BF4-A843-82D6-65D98B087A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50179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73B88C8-4C38-C60C-5A7E-4AFB7310189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B23E5E-4055-27C1-380A-1491C979FC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ACB8-CE8E-8730-6AD9-A9F27D30AF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0BD87-46A1-BC47-9C77-7F721A56BA45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8E4B8D-35BB-8AA4-79A3-3432DF6927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D63881-2111-05E9-30BD-6DA1987C0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805CA-6BF4-A843-82D6-65D98B087A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58509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D9F6A55-8E91-9184-746C-53B9B4FBA4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EDE27F-AF79-6FB6-5ED6-65408D08C9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A36815-7702-09E4-82A9-1E8ED4C800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80BD87-46A1-BC47-9C77-7F721A56BA45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1A5E85-5177-DBA6-87BE-F0900C1103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07BF98-A120-96B0-32AD-D1F4FDD4A0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5805CA-6BF4-A843-82D6-65D98B087A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65129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1929BC-2F5A-8214-253E-9525EF4159D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Motif Gallery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7613D2-A6EE-D839-5FC0-AA5C7EBA051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06 May 2026</a:t>
            </a:r>
          </a:p>
        </p:txBody>
      </p:sp>
    </p:spTree>
    <p:extLst>
      <p:ext uri="{BB962C8B-B14F-4D97-AF65-F5344CB8AC3E}">
        <p14:creationId xmlns:p14="http://schemas.microsoft.com/office/powerpoint/2010/main" val="2596762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E295C2-1465-F740-E72B-EC1DA5FB2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E13DCC-DF51-E414-CF3D-A5A38C84F2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i="1" dirty="0"/>
              <a:t>Metric</a:t>
            </a:r>
            <a:r>
              <a:rPr lang="en-US" dirty="0"/>
              <a:t>: a measure of conservation between two positions (e.g. PIC-JSD)</a:t>
            </a:r>
          </a:p>
          <a:p>
            <a:r>
              <a:rPr lang="en-US" i="1" dirty="0"/>
              <a:t>Score</a:t>
            </a:r>
            <a:r>
              <a:rPr lang="en-US" dirty="0"/>
              <a:t>: measure of diagonal strength between two or more positions</a:t>
            </a:r>
          </a:p>
          <a:p>
            <a:pPr marL="0" indent="0">
              <a:buNone/>
            </a:pPr>
            <a:br>
              <a:rPr lang="en-US" i="1" dirty="0"/>
            </a:br>
            <a:r>
              <a:rPr lang="en-US" i="1" dirty="0"/>
              <a:t>Tasks</a:t>
            </a:r>
          </a:p>
          <a:p>
            <a:r>
              <a:rPr lang="en-US" dirty="0"/>
              <a:t>Threshold more objectively using distribution of metrics </a:t>
            </a:r>
          </a:p>
          <a:p>
            <a:r>
              <a:rPr lang="en-US" dirty="0"/>
              <a:t>Deal with poly-N hits, more readable output (</a:t>
            </a:r>
            <a:r>
              <a:rPr lang="en-US" dirty="0" err="1"/>
              <a:t>map_back</a:t>
            </a:r>
            <a:r>
              <a:rPr lang="en-US" dirty="0"/>
              <a:t> function)</a:t>
            </a:r>
          </a:p>
          <a:p>
            <a:r>
              <a:rPr lang="en-US" dirty="0"/>
              <a:t>Demonstrate examples of direct and reverse detection</a:t>
            </a:r>
          </a:p>
          <a:p>
            <a:r>
              <a:rPr lang="en-US" dirty="0"/>
              <a:t>More integrated </a:t>
            </a:r>
            <a:r>
              <a:rPr lang="en-US" dirty="0" err="1"/>
              <a:t>BioMotif</a:t>
            </a:r>
            <a:r>
              <a:rPr lang="en-US" dirty="0"/>
              <a:t> object handling </a:t>
            </a:r>
          </a:p>
        </p:txBody>
      </p:sp>
    </p:spTree>
    <p:extLst>
      <p:ext uri="{BB962C8B-B14F-4D97-AF65-F5344CB8AC3E}">
        <p14:creationId xmlns:p14="http://schemas.microsoft.com/office/powerpoint/2010/main" val="30603131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DBA28F-C146-60F6-53E3-F13A64D13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Thresholding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5CEFD9-B71F-5AC0-C00E-EF846F100F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Percentile based on matrix of conservation metric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200798E-CD17-4DD7-CDCE-D990622961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911" y="2614669"/>
            <a:ext cx="7772400" cy="138662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77999BE-8427-20A5-D878-6AE54D8773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6080" y="4675655"/>
            <a:ext cx="7772400" cy="1208357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2A6FAAF-8235-1F18-7D62-5CD38F7FC56F}"/>
              </a:ext>
            </a:extLst>
          </p:cNvPr>
          <p:cNvCxnSpPr/>
          <p:nvPr/>
        </p:nvCxnSpPr>
        <p:spPr>
          <a:xfrm>
            <a:off x="2820318" y="4001294"/>
            <a:ext cx="374574" cy="890195"/>
          </a:xfrm>
          <a:prstGeom prst="straightConnector1">
            <a:avLst/>
          </a:prstGeom>
          <a:ln w="38100"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127136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D60E1-568F-3C9E-6CA3-B2213B7474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357" y="128003"/>
            <a:ext cx="10515600" cy="1325563"/>
          </a:xfrm>
        </p:spPr>
        <p:txBody>
          <a:bodyPr/>
          <a:lstStyle/>
          <a:p>
            <a:r>
              <a:rPr lang="en-US" dirty="0"/>
              <a:t>Poly-N / Mapping Back to Readable 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786985-D642-904A-BA1B-887B087A1E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829" y="1495119"/>
            <a:ext cx="10515600" cy="4351338"/>
          </a:xfrm>
        </p:spPr>
        <p:txBody>
          <a:bodyPr/>
          <a:lstStyle/>
          <a:p>
            <a:r>
              <a:rPr lang="en-US" dirty="0"/>
              <a:t>Function def </a:t>
            </a:r>
            <a:r>
              <a:rPr lang="en-US" dirty="0" err="1"/>
              <a:t>map_back</a:t>
            </a:r>
            <a:endParaRPr lang="en-US" dirty="0"/>
          </a:p>
          <a:p>
            <a:pPr lvl="1"/>
            <a:r>
              <a:rPr lang="en-US" dirty="0"/>
              <a:t>Input </a:t>
            </a:r>
            <a:r>
              <a:rPr lang="en-US" b="1" dirty="0"/>
              <a:t>motif</a:t>
            </a:r>
            <a:r>
              <a:rPr lang="en-US" dirty="0"/>
              <a:t>, array of </a:t>
            </a:r>
            <a:r>
              <a:rPr lang="en-US" b="1" dirty="0"/>
              <a:t>candidates </a:t>
            </a:r>
            <a:r>
              <a:rPr lang="en-US" dirty="0"/>
              <a:t>from </a:t>
            </a:r>
            <a:r>
              <a:rPr lang="en-US" dirty="0" err="1"/>
              <a:t>score_diagonals</a:t>
            </a:r>
            <a:endParaRPr lang="en-US" dirty="0"/>
          </a:p>
          <a:p>
            <a:r>
              <a:rPr lang="en-US" dirty="0"/>
              <a:t>Use this to filter out poly-N patterns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91C0528-6C6A-FB9C-F46B-57362FAEDF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185" y="2974698"/>
            <a:ext cx="6423752" cy="3755299"/>
          </a:xfrm>
          <a:prstGeom prst="rect">
            <a:avLst/>
          </a:prstGeom>
        </p:spPr>
      </p:pic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123E2B6-DF23-1D1E-DFCC-CD2D49585F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5062159"/>
              </p:ext>
            </p:extLst>
          </p:nvPr>
        </p:nvGraphicFramePr>
        <p:xfrm>
          <a:off x="6756401" y="2883694"/>
          <a:ext cx="5435599" cy="2309145"/>
        </p:xfrm>
        <a:graphic>
          <a:graphicData uri="http://schemas.openxmlformats.org/drawingml/2006/table">
            <a:tbl>
              <a:tblPr/>
              <a:tblGrid>
                <a:gridCol w="2128627">
                  <a:extLst>
                    <a:ext uri="{9D8B030D-6E8A-4147-A177-3AD203B41FA5}">
                      <a16:colId xmlns:a16="http://schemas.microsoft.com/office/drawing/2014/main" val="378506217"/>
                    </a:ext>
                  </a:extLst>
                </a:gridCol>
                <a:gridCol w="826743">
                  <a:extLst>
                    <a:ext uri="{9D8B030D-6E8A-4147-A177-3AD203B41FA5}">
                      <a16:colId xmlns:a16="http://schemas.microsoft.com/office/drawing/2014/main" val="1901956362"/>
                    </a:ext>
                  </a:extLst>
                </a:gridCol>
                <a:gridCol w="826743">
                  <a:extLst>
                    <a:ext uri="{9D8B030D-6E8A-4147-A177-3AD203B41FA5}">
                      <a16:colId xmlns:a16="http://schemas.microsoft.com/office/drawing/2014/main" val="552545117"/>
                    </a:ext>
                  </a:extLst>
                </a:gridCol>
                <a:gridCol w="826743">
                  <a:extLst>
                    <a:ext uri="{9D8B030D-6E8A-4147-A177-3AD203B41FA5}">
                      <a16:colId xmlns:a16="http://schemas.microsoft.com/office/drawing/2014/main" val="615583227"/>
                    </a:ext>
                  </a:extLst>
                </a:gridCol>
                <a:gridCol w="826743">
                  <a:extLst>
                    <a:ext uri="{9D8B030D-6E8A-4147-A177-3AD203B41FA5}">
                      <a16:colId xmlns:a16="http://schemas.microsoft.com/office/drawing/2014/main" val="646774794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coords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length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score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group1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group2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0844581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[(16, 5), (17, 6), (18, 7), (19, 8)]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6.81434819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GTCA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GTCA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6817202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[(11, 10), (12, 11), (13, 12)]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5.67136648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AAA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AAA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2391751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[(9, 7), (10, 8)]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3.5316342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806346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[(10, 1), (11, 2)]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2.51581179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556221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[(11, 1), (12, 2)]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2.48348188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2400279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[(12, 10), (13, 11)]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3.76452051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7885790"/>
                  </a:ext>
                </a:extLst>
              </a:tr>
              <a:tr h="2879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[(18, 9), (19, 10)]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3.5316342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2669489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[(21, 10), (22, 11)]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3.35063117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63660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[(21, 11), (22, 12)]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3.32919146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307914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[(21, 12), (22, 13)]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3.2029027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0077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831887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898C8-58DC-CA29-554B-1051FBA20C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4841"/>
            <a:ext cx="10515600" cy="1325563"/>
          </a:xfrm>
        </p:spPr>
        <p:txBody>
          <a:bodyPr/>
          <a:lstStyle/>
          <a:p>
            <a:r>
              <a:rPr lang="en-US" dirty="0"/>
              <a:t>Bootstrapping Notes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F7C264-7E87-D5ED-7781-884C2A0099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6845" y="1042720"/>
            <a:ext cx="10515600" cy="4351338"/>
          </a:xfrm>
        </p:spPr>
        <p:txBody>
          <a:bodyPr/>
          <a:lstStyle/>
          <a:p>
            <a:r>
              <a:rPr lang="en-US" dirty="0"/>
              <a:t>Concept – is our set of diagonal candidates nonrandom, conditional on the observed score distribution </a:t>
            </a:r>
          </a:p>
          <a:p>
            <a:r>
              <a:rPr lang="en-US" dirty="0"/>
              <a:t>Same shuffle applied to rows and columns – do not shuffle both independently as the goal is to break the position-wise relationship </a:t>
            </a:r>
          </a:p>
          <a:p>
            <a:r>
              <a:rPr lang="en-US" dirty="0"/>
              <a:t>Initial missteps</a:t>
            </a:r>
          </a:p>
          <a:p>
            <a:pPr lvl="1"/>
            <a:r>
              <a:rPr lang="en-US" dirty="0"/>
              <a:t>Some iterations might have no output if threshold met – fix with default to zero</a:t>
            </a:r>
          </a:p>
          <a:p>
            <a:pPr lvl="1"/>
            <a:r>
              <a:rPr lang="en-US" i="1" dirty="0"/>
              <a:t>Carrying down same threshold from original metrics</a:t>
            </a:r>
            <a:endParaRPr lang="en-US" dirty="0"/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2EA8DD-A3B4-EBEC-27EC-66CD750DC8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500" y="4893064"/>
            <a:ext cx="7734300" cy="12827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CDAF189-A650-BF6B-ED9F-E59E2DD99F7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457" t="13806" r="4937"/>
          <a:stretch>
            <a:fillRect/>
          </a:stretch>
        </p:blipFill>
        <p:spPr>
          <a:xfrm>
            <a:off x="6488935" y="5674769"/>
            <a:ext cx="5563518" cy="1271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99251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85E851-A635-B5C3-D346-4CBE13617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8C1608-E5B8-C870-0948-8E0738EF43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4841"/>
            <a:ext cx="10515600" cy="1325563"/>
          </a:xfrm>
        </p:spPr>
        <p:txBody>
          <a:bodyPr/>
          <a:lstStyle/>
          <a:p>
            <a:r>
              <a:rPr lang="en-US" dirty="0"/>
              <a:t>Function Library Directory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641B11F-37BD-4C1C-0FF4-A2D7B5E9C1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2564" y="1035915"/>
            <a:ext cx="10515600" cy="4351338"/>
          </a:xfrm>
        </p:spPr>
        <p:txBody>
          <a:bodyPr>
            <a:normAutofit fontScale="85000" lnSpcReduction="20000"/>
          </a:bodyPr>
          <a:lstStyle/>
          <a:p>
            <a:r>
              <a:rPr lang="en-US" dirty="0" err="1"/>
              <a:t>make_ppm</a:t>
            </a:r>
            <a:r>
              <a:rPr lang="en-US" dirty="0"/>
              <a:t>  - compute base proportions in aligned sequences</a:t>
            </a:r>
          </a:p>
          <a:p>
            <a:r>
              <a:rPr lang="en-US" dirty="0" err="1"/>
              <a:t>complement_ppm</a:t>
            </a:r>
            <a:r>
              <a:rPr lang="en-US" dirty="0"/>
              <a:t> – simply rearrange bases ATCG </a:t>
            </a:r>
            <a:r>
              <a:rPr lang="en-US" dirty="0">
                <a:sym typeface="Wingdings" pitchFamily="2" charset="2"/>
              </a:rPr>
              <a:t> GCTA</a:t>
            </a:r>
          </a:p>
          <a:p>
            <a:r>
              <a:rPr lang="en-US" dirty="0" err="1"/>
              <a:t>compute_metrics</a:t>
            </a:r>
            <a:r>
              <a:rPr lang="en-US" dirty="0"/>
              <a:t> – PIC-JSD, PIC, JSD, Pearson</a:t>
            </a:r>
          </a:p>
          <a:p>
            <a:pPr lvl="1"/>
            <a:r>
              <a:rPr lang="en-US" dirty="0" err="1"/>
              <a:t>positional_information_content</a:t>
            </a:r>
            <a:endParaRPr lang="en-US" dirty="0"/>
          </a:p>
          <a:p>
            <a:pPr lvl="1"/>
            <a:r>
              <a:rPr lang="en-US" dirty="0" err="1"/>
              <a:t>jensen_shannon</a:t>
            </a:r>
            <a:endParaRPr lang="en-US" dirty="0"/>
          </a:p>
          <a:p>
            <a:pPr lvl="1"/>
            <a:r>
              <a:rPr lang="en-US" dirty="0"/>
              <a:t>Pearson</a:t>
            </a:r>
          </a:p>
          <a:p>
            <a:r>
              <a:rPr lang="en-US" dirty="0" err="1"/>
              <a:t>score_diagonals</a:t>
            </a:r>
            <a:endParaRPr lang="en-US" dirty="0"/>
          </a:p>
          <a:p>
            <a:r>
              <a:rPr lang="en-US" dirty="0" err="1"/>
              <a:t>shuffle_metrics</a:t>
            </a:r>
            <a:endParaRPr lang="en-US" dirty="0"/>
          </a:p>
          <a:p>
            <a:r>
              <a:rPr lang="en-US" dirty="0" err="1"/>
              <a:t>scoring_bootstrap</a:t>
            </a:r>
            <a:endParaRPr lang="en-US" dirty="0"/>
          </a:p>
          <a:p>
            <a:r>
              <a:rPr lang="en-US" dirty="0" err="1"/>
              <a:t>visualize_matrix</a:t>
            </a:r>
            <a:endParaRPr lang="en-US" dirty="0"/>
          </a:p>
          <a:p>
            <a:r>
              <a:rPr lang="en-US" dirty="0" err="1"/>
              <a:t>histogram_scores</a:t>
            </a:r>
            <a:endParaRPr lang="en-US" dirty="0"/>
          </a:p>
          <a:p>
            <a:r>
              <a:rPr lang="en-US" dirty="0" err="1"/>
              <a:t>map_back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44568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B9918-5D07-F058-6EF9-EA163DC1A6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114" y="103630"/>
            <a:ext cx="10515600" cy="1325563"/>
          </a:xfrm>
        </p:spPr>
        <p:txBody>
          <a:bodyPr/>
          <a:lstStyle/>
          <a:p>
            <a:r>
              <a:rPr lang="en-US" dirty="0"/>
              <a:t>Ex1 Mo1 80pct threshold</a:t>
            </a:r>
          </a:p>
        </p:txBody>
      </p:sp>
      <p:pic>
        <p:nvPicPr>
          <p:cNvPr id="5" name="Content Placeholder 4" descr="A colorful text on a black background&#10;&#10;AI-generated content may be incorrect.">
            <a:extLst>
              <a:ext uri="{FF2B5EF4-FFF2-40B4-BE49-F238E27FC236}">
                <a16:creationId xmlns:a16="http://schemas.microsoft.com/office/drawing/2014/main" id="{2230BED8-C963-AAF5-984A-F282B2D775D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57755" y="-40777"/>
            <a:ext cx="5517614" cy="1469970"/>
          </a:xfr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637EE45-EB45-F46D-546E-DB7E35F29D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7755" y="1429193"/>
            <a:ext cx="6172200" cy="545522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2D793EC-E7A1-B323-D639-2CE3E906B4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282" y="1573600"/>
            <a:ext cx="6336077" cy="4341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75262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E534E-5428-97F9-158B-213466378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6D5DE-1B81-9F08-D3EF-DD68CCE933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114" y="103630"/>
            <a:ext cx="10515600" cy="1325563"/>
          </a:xfrm>
        </p:spPr>
        <p:txBody>
          <a:bodyPr/>
          <a:lstStyle/>
          <a:p>
            <a:r>
              <a:rPr lang="en-US" dirty="0"/>
              <a:t>Ex1 Mo1 Output</a:t>
            </a:r>
          </a:p>
        </p:txBody>
      </p:sp>
      <p:pic>
        <p:nvPicPr>
          <p:cNvPr id="5" name="Content Placeholder 4" descr="A colorful text on a black background&#10;&#10;AI-generated content may be incorrect.">
            <a:extLst>
              <a:ext uri="{FF2B5EF4-FFF2-40B4-BE49-F238E27FC236}">
                <a16:creationId xmlns:a16="http://schemas.microsoft.com/office/drawing/2014/main" id="{CBF17B16-A857-5A22-A46B-60FC6CEC4FA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57755" y="-40777"/>
            <a:ext cx="5517614" cy="1469970"/>
          </a:xfrm>
        </p:spPr>
      </p:pic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5574BC4-7BE7-5965-5C4C-3DF1145718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3190523"/>
              </p:ext>
            </p:extLst>
          </p:nvPr>
        </p:nvGraphicFramePr>
        <p:xfrm>
          <a:off x="456544" y="1867138"/>
          <a:ext cx="4917370" cy="2664309"/>
        </p:xfrm>
        <a:graphic>
          <a:graphicData uri="http://schemas.openxmlformats.org/drawingml/2006/table">
            <a:tbl>
              <a:tblPr/>
              <a:tblGrid>
                <a:gridCol w="1708502">
                  <a:extLst>
                    <a:ext uri="{9D8B030D-6E8A-4147-A177-3AD203B41FA5}">
                      <a16:colId xmlns:a16="http://schemas.microsoft.com/office/drawing/2014/main" val="3691229965"/>
                    </a:ext>
                  </a:extLst>
                </a:gridCol>
                <a:gridCol w="443428">
                  <a:extLst>
                    <a:ext uri="{9D8B030D-6E8A-4147-A177-3AD203B41FA5}">
                      <a16:colId xmlns:a16="http://schemas.microsoft.com/office/drawing/2014/main" val="1150817240"/>
                    </a:ext>
                  </a:extLst>
                </a:gridCol>
                <a:gridCol w="971333">
                  <a:extLst>
                    <a:ext uri="{9D8B030D-6E8A-4147-A177-3AD203B41FA5}">
                      <a16:colId xmlns:a16="http://schemas.microsoft.com/office/drawing/2014/main" val="2630234833"/>
                    </a:ext>
                  </a:extLst>
                </a:gridCol>
                <a:gridCol w="982759">
                  <a:extLst>
                    <a:ext uri="{9D8B030D-6E8A-4147-A177-3AD203B41FA5}">
                      <a16:colId xmlns:a16="http://schemas.microsoft.com/office/drawing/2014/main" val="1519388509"/>
                    </a:ext>
                  </a:extLst>
                </a:gridCol>
                <a:gridCol w="811348">
                  <a:extLst>
                    <a:ext uri="{9D8B030D-6E8A-4147-A177-3AD203B41FA5}">
                      <a16:colId xmlns:a16="http://schemas.microsoft.com/office/drawing/2014/main" val="2584995775"/>
                    </a:ext>
                  </a:extLst>
                </a:gridCol>
              </a:tblGrid>
              <a:tr h="21789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coords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length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score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group1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group2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8527904"/>
                  </a:ext>
                </a:extLst>
              </a:tr>
              <a:tr h="29960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[(16, 5), (17, 6), (18, 7), (19, 8)]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6.814348186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GTCA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GTCA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9749146"/>
                  </a:ext>
                </a:extLst>
              </a:tr>
              <a:tr h="23012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[(11, 10), (12, 11), (13, 12)]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5.671366478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AAA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AAA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4965673"/>
                  </a:ext>
                </a:extLst>
              </a:tr>
              <a:tr h="23012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[(9, 7), (10, 8)]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3.531634204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3633278"/>
                  </a:ext>
                </a:extLst>
              </a:tr>
              <a:tr h="23012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[(10, 1), (11, 2)]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2.515811795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1062359"/>
                  </a:ext>
                </a:extLst>
              </a:tr>
              <a:tr h="23012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[(11, 1), (12, 2)]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2.483481881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2893479"/>
                  </a:ext>
                </a:extLst>
              </a:tr>
              <a:tr h="23012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[(12, 10), (13, 11)]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3.764520512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6203766"/>
                  </a:ext>
                </a:extLst>
              </a:tr>
              <a:tr h="23012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[(18, 9), (19, 10)]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3.531634204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0683687"/>
                  </a:ext>
                </a:extLst>
              </a:tr>
              <a:tr h="23012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[(21, 10), (22, 11)]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3.350631165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37902431"/>
                  </a:ext>
                </a:extLst>
              </a:tr>
              <a:tr h="23012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[(21, 11), (22, 12)]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3.329191463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3134100"/>
                  </a:ext>
                </a:extLst>
              </a:tr>
              <a:tr h="23012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[(21, 12), (22, 13)]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3.202902699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3702534"/>
                  </a:ext>
                </a:extLst>
              </a:tr>
            </a:tbl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44EFBF8B-B223-9C68-EE0A-22D56B90D5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2909" y="2387302"/>
            <a:ext cx="6541310" cy="4367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76320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471207-1026-3D11-05AE-FF5BB70D7A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BB0E8A-7B3E-B5C5-D8A1-EAFBC481C9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114" y="103630"/>
            <a:ext cx="10515600" cy="1325563"/>
          </a:xfrm>
        </p:spPr>
        <p:txBody>
          <a:bodyPr/>
          <a:lstStyle/>
          <a:p>
            <a:r>
              <a:rPr lang="en-US" dirty="0"/>
              <a:t>Ex1 Mo1 80pct threshold</a:t>
            </a:r>
          </a:p>
        </p:txBody>
      </p:sp>
      <p:pic>
        <p:nvPicPr>
          <p:cNvPr id="5" name="Content Placeholder 4" descr="A colorful text on a black background&#10;&#10;AI-generated content may be incorrect.">
            <a:extLst>
              <a:ext uri="{FF2B5EF4-FFF2-40B4-BE49-F238E27FC236}">
                <a16:creationId xmlns:a16="http://schemas.microsoft.com/office/drawing/2014/main" id="{0066D877-4822-F903-FECC-587672BBE9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257755" y="-40777"/>
            <a:ext cx="5517614" cy="1469970"/>
          </a:xfr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32D034A-398E-1332-F401-2CD716CE15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803978"/>
            <a:ext cx="5863359" cy="418811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1F0A666-3BF6-F65D-540D-B5D0867E10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7755" y="1547092"/>
            <a:ext cx="5691790" cy="5030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34405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29DEC7-FB21-014C-B4CC-8651C38538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B96DE-85CE-A966-EF16-35CA833FC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114" y="103630"/>
            <a:ext cx="10515600" cy="1325563"/>
          </a:xfrm>
        </p:spPr>
        <p:txBody>
          <a:bodyPr/>
          <a:lstStyle/>
          <a:p>
            <a:r>
              <a:rPr lang="en-US" dirty="0"/>
              <a:t>Ex1 Mo1 Output</a:t>
            </a:r>
          </a:p>
        </p:txBody>
      </p:sp>
      <p:pic>
        <p:nvPicPr>
          <p:cNvPr id="5" name="Content Placeholder 4" descr="A colorful text on a black background&#10;&#10;AI-generated content may be incorrect.">
            <a:extLst>
              <a:ext uri="{FF2B5EF4-FFF2-40B4-BE49-F238E27FC236}">
                <a16:creationId xmlns:a16="http://schemas.microsoft.com/office/drawing/2014/main" id="{0F2762BE-E800-D8F0-D73C-725FF753F03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57755" y="-40777"/>
            <a:ext cx="5517614" cy="1469970"/>
          </a:xfr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6FE1903-28A5-B8A1-A084-874365B481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5680" y="1576648"/>
            <a:ext cx="6596320" cy="4657344"/>
          </a:xfrm>
          <a:prstGeom prst="rect">
            <a:avLst/>
          </a:prstGeom>
        </p:spPr>
      </p:pic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6EC69C4-D738-32CC-4E00-BAFDB76722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3269083"/>
              </p:ext>
            </p:extLst>
          </p:nvPr>
        </p:nvGraphicFramePr>
        <p:xfrm>
          <a:off x="206564" y="1832324"/>
          <a:ext cx="5291580" cy="319335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8316">
                  <a:extLst>
                    <a:ext uri="{9D8B030D-6E8A-4147-A177-3AD203B41FA5}">
                      <a16:colId xmlns:a16="http://schemas.microsoft.com/office/drawing/2014/main" val="99855957"/>
                    </a:ext>
                  </a:extLst>
                </a:gridCol>
                <a:gridCol w="1058316">
                  <a:extLst>
                    <a:ext uri="{9D8B030D-6E8A-4147-A177-3AD203B41FA5}">
                      <a16:colId xmlns:a16="http://schemas.microsoft.com/office/drawing/2014/main" val="3845515663"/>
                    </a:ext>
                  </a:extLst>
                </a:gridCol>
                <a:gridCol w="1058316">
                  <a:extLst>
                    <a:ext uri="{9D8B030D-6E8A-4147-A177-3AD203B41FA5}">
                      <a16:colId xmlns:a16="http://schemas.microsoft.com/office/drawing/2014/main" val="2214412405"/>
                    </a:ext>
                  </a:extLst>
                </a:gridCol>
                <a:gridCol w="1058316">
                  <a:extLst>
                    <a:ext uri="{9D8B030D-6E8A-4147-A177-3AD203B41FA5}">
                      <a16:colId xmlns:a16="http://schemas.microsoft.com/office/drawing/2014/main" val="1736718770"/>
                    </a:ext>
                  </a:extLst>
                </a:gridCol>
                <a:gridCol w="1058316">
                  <a:extLst>
                    <a:ext uri="{9D8B030D-6E8A-4147-A177-3AD203B41FA5}">
                      <a16:colId xmlns:a16="http://schemas.microsoft.com/office/drawing/2014/main" val="3524787438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coords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length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score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group1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group2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extLst>
                  <a:ext uri="{0D108BD9-81ED-4DB2-BD59-A6C34878D82A}">
                    <a16:rowId xmlns:a16="http://schemas.microsoft.com/office/drawing/2014/main" val="12709276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[(14, 9), (15, 8), (16, 7)]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4.206712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GTG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CAC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65852453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[(15, 10), (16, 9), (17, 8)]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4.993712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TGT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ACA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9473006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[(8, 6), (9, 5)]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2.783439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TG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85412396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[(18, 16), (19, 15)]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3.340354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CA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65754412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[(22, 20), (23, 19)]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2.154894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TA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56754407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[(23, 11), (24, 10)]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2.186579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TT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AA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3030124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[(23, 12), (24, 11)]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2.196703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TT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AA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8194735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[(23, 13), (24, 12)]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2.10655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TT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AA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131575644"/>
                  </a:ext>
                </a:extLst>
              </a:tr>
              <a:tr h="39871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[(23, 22), (24, 21)]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1.991468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TT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6591749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498573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310</TotalTime>
  <Words>717</Words>
  <Application>Microsoft Macintosh PowerPoint</Application>
  <PresentationFormat>Widescreen</PresentationFormat>
  <Paragraphs>201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Aptos</vt:lpstr>
      <vt:lpstr>Aptos Display</vt:lpstr>
      <vt:lpstr>Aptos Narrow</vt:lpstr>
      <vt:lpstr>Arial</vt:lpstr>
      <vt:lpstr>Calibri</vt:lpstr>
      <vt:lpstr>Wingdings</vt:lpstr>
      <vt:lpstr>Office Theme</vt:lpstr>
      <vt:lpstr>Motif Gallery</vt:lpstr>
      <vt:lpstr>Goals</vt:lpstr>
      <vt:lpstr>Thresholding</vt:lpstr>
      <vt:lpstr>Poly-N / Mapping Back to Readable Output</vt:lpstr>
      <vt:lpstr>Bootstrapping Notes </vt:lpstr>
      <vt:lpstr>Function Library Directory</vt:lpstr>
      <vt:lpstr>Ex1 Mo1 80pct threshold</vt:lpstr>
      <vt:lpstr>Ex1 Mo1 Output</vt:lpstr>
      <vt:lpstr>Ex1 Mo1 80pct threshold</vt:lpstr>
      <vt:lpstr>Ex1 Mo1 Output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Enoch Shin</dc:creator>
  <cp:lastModifiedBy>Enoch Shin</cp:lastModifiedBy>
  <cp:revision>36</cp:revision>
  <dcterms:created xsi:type="dcterms:W3CDTF">2026-05-05T16:09:09Z</dcterms:created>
  <dcterms:modified xsi:type="dcterms:W3CDTF">2026-05-05T21:20:07Z</dcterms:modified>
</cp:coreProperties>
</file>