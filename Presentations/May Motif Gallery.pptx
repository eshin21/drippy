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1" r:id="rId6"/>
    <p:sldId id="265" r:id="rId7"/>
    <p:sldId id="260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65"/>
    <p:restoredTop sz="94853"/>
  </p:normalViewPr>
  <p:slideViewPr>
    <p:cSldViewPr snapToGrid="0">
      <p:cViewPr>
        <p:scale>
          <a:sx n="89" d="100"/>
          <a:sy n="89" d="100"/>
        </p:scale>
        <p:origin x="152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846FF-D9D8-F644-971D-9D9A7741D920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815C7-3430-1D47-896C-791E6467C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48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17,8  -- 16, 9 – 15, 10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815C7-3430-1D47-896C-791E6467C6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98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www.researchgate.net</a:t>
            </a:r>
            <a:r>
              <a:rPr lang="en-US" dirty="0"/>
              <a:t>/figure/LexA-repressor-dimer-bound-to-its-cognate-SOS-boxes-PDB-code-3JSO-a-Schematic_fig11_263936900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815C7-3430-1D47-896C-791E6467C6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37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3B8F8-7F9D-1718-D490-DB4CE56A6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20E75-B254-448F-BC4D-2A2F6E2C3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6D652-547C-0B9C-D2F1-975DE82BC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23F34-4619-2D93-9FA4-6840A97C3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DDF09-61B3-CFC2-FF35-03808DDE6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32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37AE6-6554-E266-1630-87B14BDE9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B640E-B868-C3E3-135E-A9A68432C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46B7F-73CA-D97D-A8BF-AD3DEA636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7BA9B-7FBE-4CAE-CA44-EF3466B21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6319B-17C1-CEDE-ECA1-69DE3D17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1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FB517-7F8E-EDF7-6486-DD70525EB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0AE88-7DAF-16D9-9536-08BECB38E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3207E-0787-124D-3C68-F791CB19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196D9-3D11-5A43-69BE-2B58B1966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DCD35-69E6-4FE5-0494-7A1176729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59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E6575-3CF1-F069-C473-EE91AE10A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324D4-EFA1-8264-87FF-6ED64A5BD8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7625-BB53-ADEA-EF94-6D768027F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B85B2-1FF8-FF0C-E625-4C4C32550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9A6DB-D383-8DCA-6D3D-779DCFDFB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E79CF-911B-637D-E1EE-5E687294E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835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B228-100A-ABB1-1442-139432551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61E3F-EDF4-2FC4-7A13-3AB148266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87283-C1C3-3E62-2337-6B0918362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279BCE-0AD4-C24E-0AF6-13210729B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3D854C-CF2B-806A-F62E-B1C4DE0226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6504AF-B8E1-249B-3F07-325C77654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A0A283-50A2-96CB-1F81-F88C25FF6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10A784-3A73-92EC-464B-47D2B1C4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89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4A585-1A96-39E9-6F2A-E2642C2FE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B9F99A-302B-550E-0FE9-AB0932CD5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5CF3C-FE3A-BC5A-8830-834C2E57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DEF6A-B96B-3A09-468B-F86314601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13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E42B1-3D83-2C91-A2D4-6D0AE8D98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B6971-4362-E492-23D7-C7B9C962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0CE47-23F8-D330-0992-6886432B7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6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1C37D-CD10-06EA-62F3-3BD1C3748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3842E-9B15-5AA2-BC6D-CD23B9327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5D32D7-01E7-37C1-F0F6-72DCAE928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0EEA4-8FE0-A122-60E3-260CD4C49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95E73-2400-EA54-290D-2ED257764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3B984-3E40-BDC1-85D5-F80DFC5F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9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9BA3-2839-A11B-AC2A-58FC2B40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D8E01-6C16-D307-2E89-86B6A1ECF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672D7-8D84-E914-05FC-EEA045EEE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630A9-2685-5737-7810-7452490AC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193B3-84B0-BBE5-F53D-72DE859E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A1655-636D-F4E2-8198-9222D1A23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060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DC5FD-339C-8989-936B-436609DB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BFF0AA-6FA8-96DD-AFA9-DD2EB3FDC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69C2C-1B73-9A02-D4E0-F0ED5FBFD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EE034-8A04-6C6D-8F21-4871030A7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AA621-4A72-91E6-3376-A3C2A43D9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017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3B88C8-4C38-C60C-5A7E-4AFB73101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23E5E-4055-27C1-380A-1491C979F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ACB8-CE8E-8730-6AD9-A9F27D30A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E4B8D-35BB-8AA4-79A3-3432DF692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63881-2111-05E9-30BD-6DA1987C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50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F6A55-8E91-9184-746C-53B9B4FBA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DE27F-AF79-6FB6-5ED6-65408D08C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36815-7702-09E4-82A9-1E8ED4C80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80BD87-46A1-BC47-9C77-7F721A56BA4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A5E85-5177-DBA6-87BE-F0900C1103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7BF98-A120-96B0-32AD-D1F4FDD4A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1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929BC-2F5A-8214-253E-9525EF4159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Motif Gallery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613D2-A6EE-D839-5FC0-AA5C7EBA05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12 May 2026</a:t>
            </a:r>
          </a:p>
        </p:txBody>
      </p:sp>
    </p:spTree>
    <p:extLst>
      <p:ext uri="{BB962C8B-B14F-4D97-AF65-F5344CB8AC3E}">
        <p14:creationId xmlns:p14="http://schemas.microsoft.com/office/powerpoint/2010/main" val="259676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295C2-1465-F740-E72B-EC1DA5FB2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13DCC-DF51-E414-CF3D-A5A38C84F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211" y="1835095"/>
            <a:ext cx="7174878" cy="4322818"/>
          </a:xfrm>
        </p:spPr>
        <p:txBody>
          <a:bodyPr>
            <a:normAutofit fontScale="77500" lnSpcReduction="20000"/>
          </a:bodyPr>
          <a:lstStyle/>
          <a:p>
            <a:r>
              <a:rPr lang="en-US" i="1" dirty="0"/>
              <a:t>Metric</a:t>
            </a:r>
            <a:r>
              <a:rPr lang="en-US" dirty="0"/>
              <a:t>: a measure of conservation between two positions (e.g. information content and other derivatives)</a:t>
            </a:r>
          </a:p>
          <a:p>
            <a:r>
              <a:rPr lang="en-US" i="1" dirty="0"/>
              <a:t>Score</a:t>
            </a:r>
            <a:r>
              <a:rPr lang="en-US" dirty="0"/>
              <a:t>: measure of continuous diagonal strength among 2+ consecutive positions</a:t>
            </a:r>
          </a:p>
          <a:p>
            <a:pPr marL="0" indent="0">
              <a:buNone/>
            </a:pPr>
            <a:br>
              <a:rPr lang="en-US" i="1" dirty="0"/>
            </a:br>
            <a:r>
              <a:rPr lang="en-US" i="1" dirty="0"/>
              <a:t>Tasks</a:t>
            </a:r>
          </a:p>
          <a:p>
            <a:r>
              <a:rPr lang="en-US" dirty="0"/>
              <a:t>Threshold more adaptively with distribution of metrics </a:t>
            </a:r>
          </a:p>
          <a:p>
            <a:r>
              <a:rPr lang="en-US" dirty="0"/>
              <a:t>Deal with poly-N hits, more readable output (</a:t>
            </a:r>
            <a:r>
              <a:rPr lang="en-US" dirty="0" err="1"/>
              <a:t>map_back</a:t>
            </a:r>
            <a:r>
              <a:rPr lang="en-US" dirty="0"/>
              <a:t> function)</a:t>
            </a:r>
          </a:p>
          <a:p>
            <a:r>
              <a:rPr lang="en-US" dirty="0"/>
              <a:t>Demonstrate examples of direct and reverse detection</a:t>
            </a:r>
          </a:p>
          <a:p>
            <a:r>
              <a:rPr lang="en-US" dirty="0"/>
              <a:t>More integrated </a:t>
            </a:r>
            <a:r>
              <a:rPr lang="en-US" dirty="0" err="1"/>
              <a:t>BioMotif</a:t>
            </a:r>
            <a:r>
              <a:rPr lang="en-US" dirty="0"/>
              <a:t> object handling </a:t>
            </a:r>
          </a:p>
        </p:txBody>
      </p:sp>
      <p:pic>
        <p:nvPicPr>
          <p:cNvPr id="4" name="Content Placeholder 4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46766235-D5DF-94E6-FC75-B044E3E07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442" y="220718"/>
            <a:ext cx="5517614" cy="14699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B5184E-092C-97C9-D0A1-2B480D5097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782"/>
          <a:stretch>
            <a:fillRect/>
          </a:stretch>
        </p:blipFill>
        <p:spPr>
          <a:xfrm>
            <a:off x="7811453" y="2040394"/>
            <a:ext cx="4102100" cy="277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313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BA28F-C146-60F6-53E3-F13A64D13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247705"/>
            <a:ext cx="10515600" cy="1325563"/>
          </a:xfrm>
        </p:spPr>
        <p:txBody>
          <a:bodyPr/>
          <a:lstStyle/>
          <a:p>
            <a:r>
              <a:rPr lang="en-US" dirty="0"/>
              <a:t>Thresholding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CEFD9-B71F-5AC0-C00E-EF846F100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138"/>
            <a:ext cx="10515600" cy="4351338"/>
          </a:xfrm>
        </p:spPr>
        <p:txBody>
          <a:bodyPr/>
          <a:lstStyle/>
          <a:p>
            <a:r>
              <a:rPr lang="en-US" dirty="0"/>
              <a:t>Before: fixed information content constant </a:t>
            </a:r>
          </a:p>
          <a:p>
            <a:r>
              <a:rPr lang="en-US" dirty="0"/>
              <a:t>Now: Percentile based on matrix of conservation metric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00798E-CD17-4DD7-CDCE-D99062296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911" y="2614669"/>
            <a:ext cx="7772400" cy="1386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7999BE-8427-20A5-D878-6AE54D877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080" y="4675655"/>
            <a:ext cx="7772400" cy="120835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A6FAAF-8235-1F18-7D62-5CD38F7FC56F}"/>
              </a:ext>
            </a:extLst>
          </p:cNvPr>
          <p:cNvCxnSpPr/>
          <p:nvPr/>
        </p:nvCxnSpPr>
        <p:spPr>
          <a:xfrm>
            <a:off x="2820318" y="4001294"/>
            <a:ext cx="374574" cy="89019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713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D60E1-568F-3C9E-6CA3-B2213B747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57" y="128003"/>
            <a:ext cx="10515600" cy="1325563"/>
          </a:xfrm>
        </p:spPr>
        <p:txBody>
          <a:bodyPr/>
          <a:lstStyle/>
          <a:p>
            <a:r>
              <a:rPr lang="en-US" dirty="0"/>
              <a:t>Poly-N / Mapping Back to Readable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86985-D642-904A-BA1B-887B087A1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829" y="1495119"/>
            <a:ext cx="10515600" cy="4351338"/>
          </a:xfrm>
        </p:spPr>
        <p:txBody>
          <a:bodyPr/>
          <a:lstStyle/>
          <a:p>
            <a:r>
              <a:rPr lang="en-US" dirty="0"/>
              <a:t>Function def </a:t>
            </a:r>
            <a:r>
              <a:rPr lang="en-US" dirty="0" err="1"/>
              <a:t>map_back</a:t>
            </a:r>
            <a:endParaRPr lang="en-US" dirty="0"/>
          </a:p>
          <a:p>
            <a:pPr lvl="1"/>
            <a:r>
              <a:rPr lang="en-US" dirty="0"/>
              <a:t>Input </a:t>
            </a:r>
            <a:r>
              <a:rPr lang="en-US" b="1" dirty="0"/>
              <a:t>motif</a:t>
            </a:r>
            <a:r>
              <a:rPr lang="en-US" dirty="0"/>
              <a:t>, array of </a:t>
            </a:r>
            <a:r>
              <a:rPr lang="en-US" b="1" dirty="0"/>
              <a:t>candidates </a:t>
            </a:r>
            <a:r>
              <a:rPr lang="en-US" dirty="0"/>
              <a:t>from </a:t>
            </a:r>
            <a:r>
              <a:rPr lang="en-US" dirty="0" err="1"/>
              <a:t>score_diagonals</a:t>
            </a:r>
            <a:endParaRPr lang="en-US" dirty="0"/>
          </a:p>
          <a:p>
            <a:r>
              <a:rPr lang="en-US" dirty="0"/>
              <a:t>Use this to filter out poly-N patterns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1C0528-6C6A-FB9C-F46B-57362FAED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85" y="2974698"/>
            <a:ext cx="6423752" cy="3755299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23E2B6-DF23-1D1E-DFCC-CD2D49585F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673342"/>
              </p:ext>
            </p:extLst>
          </p:nvPr>
        </p:nvGraphicFramePr>
        <p:xfrm>
          <a:off x="6665398" y="2840702"/>
          <a:ext cx="5435599" cy="2298350"/>
        </p:xfrm>
        <a:graphic>
          <a:graphicData uri="http://schemas.openxmlformats.org/drawingml/2006/table">
            <a:tbl>
              <a:tblPr/>
              <a:tblGrid>
                <a:gridCol w="2128627">
                  <a:extLst>
                    <a:ext uri="{9D8B030D-6E8A-4147-A177-3AD203B41FA5}">
                      <a16:colId xmlns:a16="http://schemas.microsoft.com/office/drawing/2014/main" val="378506217"/>
                    </a:ext>
                  </a:extLst>
                </a:gridCol>
                <a:gridCol w="826743">
                  <a:extLst>
                    <a:ext uri="{9D8B030D-6E8A-4147-A177-3AD203B41FA5}">
                      <a16:colId xmlns:a16="http://schemas.microsoft.com/office/drawing/2014/main" val="1901956362"/>
                    </a:ext>
                  </a:extLst>
                </a:gridCol>
                <a:gridCol w="826743">
                  <a:extLst>
                    <a:ext uri="{9D8B030D-6E8A-4147-A177-3AD203B41FA5}">
                      <a16:colId xmlns:a16="http://schemas.microsoft.com/office/drawing/2014/main" val="552545117"/>
                    </a:ext>
                  </a:extLst>
                </a:gridCol>
                <a:gridCol w="826743">
                  <a:extLst>
                    <a:ext uri="{9D8B030D-6E8A-4147-A177-3AD203B41FA5}">
                      <a16:colId xmlns:a16="http://schemas.microsoft.com/office/drawing/2014/main" val="615583227"/>
                    </a:ext>
                  </a:extLst>
                </a:gridCol>
                <a:gridCol w="826743">
                  <a:extLst>
                    <a:ext uri="{9D8B030D-6E8A-4147-A177-3AD203B41FA5}">
                      <a16:colId xmlns:a16="http://schemas.microsoft.com/office/drawing/2014/main" val="64677479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coords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length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score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group1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group2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84458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[(16, 5), (17, 6), (18, 7), (19, 8)]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6.81434819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GTCA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GTCA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8172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[(11, 10), (12, 11), (13, 12)]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5.67136648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39175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[(9, 7), (10, 8)]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3.5316342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0634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[(10, 1), (11, 2)]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2.51581179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56221"/>
                  </a:ext>
                </a:extLst>
              </a:tr>
              <a:tr h="1722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[(11, 1), (12, 2)]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2.48348188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40027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[(12, 10), (13, 11)]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3.76452051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885790"/>
                  </a:ext>
                </a:extLst>
              </a:tr>
              <a:tr h="2879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[(18, 9), (19, 10)]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3.5316342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66948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[(21, 10), (22, 11)]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3.35063117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366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[(21, 11), (22, 12)]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3.32919146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0791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[(21, 12), (22, 13)]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3.2029027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07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3188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898C8-58DC-CA29-554B-1051FBA20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38" y="0"/>
            <a:ext cx="10515600" cy="1099870"/>
          </a:xfrm>
        </p:spPr>
        <p:txBody>
          <a:bodyPr/>
          <a:lstStyle/>
          <a:p>
            <a:r>
              <a:rPr lang="en-US" dirty="0"/>
              <a:t>Bootstrapping 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7C264-7E87-D5ED-7781-884C2A009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133" y="879474"/>
            <a:ext cx="10515600" cy="4351338"/>
          </a:xfrm>
        </p:spPr>
        <p:txBody>
          <a:bodyPr/>
          <a:lstStyle/>
          <a:p>
            <a:r>
              <a:rPr lang="en-US" dirty="0"/>
              <a:t>Concept – is our set of diagonal candidates nonrandom, conditional on the observed score distribution?</a:t>
            </a:r>
          </a:p>
          <a:p>
            <a:r>
              <a:rPr lang="en-US" dirty="0"/>
              <a:t>Same shuffle applied to rows and columns – do not shuffle both axes </a:t>
            </a:r>
            <a:r>
              <a:rPr lang="en-US" i="1" dirty="0"/>
              <a:t>independently, </a:t>
            </a:r>
            <a:r>
              <a:rPr lang="en-US" dirty="0"/>
              <a:t>as the goal is to break the position-wise relationship </a:t>
            </a:r>
          </a:p>
          <a:p>
            <a:r>
              <a:rPr lang="en-US" dirty="0"/>
              <a:t>Initial missteps</a:t>
            </a:r>
          </a:p>
          <a:p>
            <a:pPr lvl="1"/>
            <a:r>
              <a:rPr lang="en-US" dirty="0"/>
              <a:t>Thresholding with IC-JSD – want a more objective threshold, go for information only </a:t>
            </a:r>
          </a:p>
          <a:p>
            <a:pPr lvl="1"/>
            <a:r>
              <a:rPr lang="en-US" dirty="0"/>
              <a:t>Some iterations might have no output if threshold isn’t met – fix with default zero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2EA8DD-A3B4-EBEC-27EC-66CD750DC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38" y="4933950"/>
            <a:ext cx="6384925" cy="10589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DAF189-A650-BF6B-ED9F-E59E2DD99F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57" t="13806" r="4937"/>
          <a:stretch>
            <a:fillRect/>
          </a:stretch>
        </p:blipFill>
        <p:spPr>
          <a:xfrm>
            <a:off x="6405193" y="5575300"/>
            <a:ext cx="5613769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925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5E851-A635-B5C3-D346-4CBE13617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C1608-E5B8-C870-0948-8E0738EF4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841"/>
            <a:ext cx="10515600" cy="1325563"/>
          </a:xfrm>
        </p:spPr>
        <p:txBody>
          <a:bodyPr/>
          <a:lstStyle/>
          <a:p>
            <a:r>
              <a:rPr lang="en-US" dirty="0"/>
              <a:t>Function Library Directory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41B11F-37BD-4C1C-0FF4-A2D7B5E9C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64" y="1035914"/>
            <a:ext cx="10515600" cy="5193435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make_ppm</a:t>
            </a:r>
            <a:r>
              <a:rPr lang="en-US" dirty="0"/>
              <a:t>  - compute BP proportions in aligned sequences</a:t>
            </a:r>
          </a:p>
          <a:p>
            <a:r>
              <a:rPr lang="en-US" dirty="0" err="1"/>
              <a:t>complement_ppm</a:t>
            </a:r>
            <a:r>
              <a:rPr lang="en-US" dirty="0"/>
              <a:t> – simply rearrange bases ATCG </a:t>
            </a:r>
            <a:r>
              <a:rPr lang="en-US" dirty="0">
                <a:sym typeface="Wingdings" pitchFamily="2" charset="2"/>
              </a:rPr>
              <a:t> GCTA</a:t>
            </a:r>
          </a:p>
          <a:p>
            <a:r>
              <a:rPr lang="en-US" dirty="0" err="1"/>
              <a:t>compute_metrics</a:t>
            </a:r>
            <a:r>
              <a:rPr lang="en-US" dirty="0"/>
              <a:t> – PIC-JSD, PIC, JSD, Pearson</a:t>
            </a:r>
          </a:p>
          <a:p>
            <a:pPr lvl="1"/>
            <a:r>
              <a:rPr lang="en-US" dirty="0" err="1"/>
              <a:t>positional_information_content</a:t>
            </a:r>
            <a:endParaRPr lang="en-US" dirty="0"/>
          </a:p>
          <a:p>
            <a:pPr lvl="1"/>
            <a:r>
              <a:rPr lang="en-US" dirty="0" err="1"/>
              <a:t>jensen_shannon</a:t>
            </a:r>
            <a:endParaRPr lang="en-US" dirty="0"/>
          </a:p>
          <a:p>
            <a:pPr lvl="1"/>
            <a:r>
              <a:rPr lang="en-US" dirty="0" err="1"/>
              <a:t>pearson</a:t>
            </a:r>
            <a:endParaRPr lang="en-US" dirty="0"/>
          </a:p>
          <a:p>
            <a:r>
              <a:rPr lang="en-US" dirty="0" err="1"/>
              <a:t>score_diagonals</a:t>
            </a:r>
            <a:endParaRPr lang="en-US" dirty="0"/>
          </a:p>
          <a:p>
            <a:r>
              <a:rPr lang="en-US" dirty="0" err="1"/>
              <a:t>shuffle_metrics</a:t>
            </a:r>
            <a:endParaRPr lang="en-US" dirty="0"/>
          </a:p>
          <a:p>
            <a:r>
              <a:rPr lang="en-US" dirty="0" err="1"/>
              <a:t>scoring_bootstrap</a:t>
            </a:r>
            <a:endParaRPr lang="en-US" dirty="0"/>
          </a:p>
          <a:p>
            <a:r>
              <a:rPr lang="en-US" dirty="0" err="1"/>
              <a:t>visualize_matrix</a:t>
            </a:r>
            <a:endParaRPr lang="en-US" dirty="0"/>
          </a:p>
          <a:p>
            <a:r>
              <a:rPr lang="en-US" dirty="0" err="1"/>
              <a:t>histogram_scores</a:t>
            </a:r>
            <a:endParaRPr lang="en-US" dirty="0"/>
          </a:p>
          <a:p>
            <a:r>
              <a:rPr lang="en-US" dirty="0" err="1"/>
              <a:t>map_back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456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9918-5D07-F058-6EF9-EA163DC1A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14" y="103630"/>
            <a:ext cx="10515600" cy="1325563"/>
          </a:xfrm>
        </p:spPr>
        <p:txBody>
          <a:bodyPr/>
          <a:lstStyle/>
          <a:p>
            <a:r>
              <a:rPr lang="en-US" dirty="0"/>
              <a:t>Ex1 Mo1 80pct threshold</a:t>
            </a:r>
          </a:p>
        </p:txBody>
      </p:sp>
      <p:pic>
        <p:nvPicPr>
          <p:cNvPr id="5" name="Content Placeholder 4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2230BED8-C963-AAF5-984A-F282B2D775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7755" y="-40777"/>
            <a:ext cx="5517614" cy="146997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37EE45-EB45-F46D-546E-DB7E35F29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755" y="1429193"/>
            <a:ext cx="6172200" cy="54552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D793EC-E7A1-B323-D639-2CE3E906B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82" y="1573600"/>
            <a:ext cx="6336077" cy="434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526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E534E-5428-97F9-158B-213466378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D5DE-1B81-9F08-D3EF-DD68CCE93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14" y="103630"/>
            <a:ext cx="10515600" cy="1325563"/>
          </a:xfrm>
        </p:spPr>
        <p:txBody>
          <a:bodyPr/>
          <a:lstStyle/>
          <a:p>
            <a:r>
              <a:rPr lang="en-US" dirty="0"/>
              <a:t>Ex1 Mo1 Output</a:t>
            </a:r>
          </a:p>
        </p:txBody>
      </p:sp>
      <p:pic>
        <p:nvPicPr>
          <p:cNvPr id="5" name="Content Placeholder 4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CBF17B16-A857-5A22-A46B-60FC6CEC4F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7755" y="-40777"/>
            <a:ext cx="5517614" cy="1469970"/>
          </a:xfr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5574BC4-7BE7-5965-5C4C-3DF114571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190523"/>
              </p:ext>
            </p:extLst>
          </p:nvPr>
        </p:nvGraphicFramePr>
        <p:xfrm>
          <a:off x="456544" y="1867138"/>
          <a:ext cx="4917370" cy="2664309"/>
        </p:xfrm>
        <a:graphic>
          <a:graphicData uri="http://schemas.openxmlformats.org/drawingml/2006/table">
            <a:tbl>
              <a:tblPr/>
              <a:tblGrid>
                <a:gridCol w="1708502">
                  <a:extLst>
                    <a:ext uri="{9D8B030D-6E8A-4147-A177-3AD203B41FA5}">
                      <a16:colId xmlns:a16="http://schemas.microsoft.com/office/drawing/2014/main" val="3691229965"/>
                    </a:ext>
                  </a:extLst>
                </a:gridCol>
                <a:gridCol w="443428">
                  <a:extLst>
                    <a:ext uri="{9D8B030D-6E8A-4147-A177-3AD203B41FA5}">
                      <a16:colId xmlns:a16="http://schemas.microsoft.com/office/drawing/2014/main" val="1150817240"/>
                    </a:ext>
                  </a:extLst>
                </a:gridCol>
                <a:gridCol w="971333">
                  <a:extLst>
                    <a:ext uri="{9D8B030D-6E8A-4147-A177-3AD203B41FA5}">
                      <a16:colId xmlns:a16="http://schemas.microsoft.com/office/drawing/2014/main" val="2630234833"/>
                    </a:ext>
                  </a:extLst>
                </a:gridCol>
                <a:gridCol w="982759">
                  <a:extLst>
                    <a:ext uri="{9D8B030D-6E8A-4147-A177-3AD203B41FA5}">
                      <a16:colId xmlns:a16="http://schemas.microsoft.com/office/drawing/2014/main" val="1519388509"/>
                    </a:ext>
                  </a:extLst>
                </a:gridCol>
                <a:gridCol w="811348">
                  <a:extLst>
                    <a:ext uri="{9D8B030D-6E8A-4147-A177-3AD203B41FA5}">
                      <a16:colId xmlns:a16="http://schemas.microsoft.com/office/drawing/2014/main" val="2584995775"/>
                    </a:ext>
                  </a:extLst>
                </a:gridCol>
              </a:tblGrid>
              <a:tr h="2178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coords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length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score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group1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group2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527904"/>
                  </a:ext>
                </a:extLst>
              </a:tr>
              <a:tr h="2996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[(16, 5), (17, 6), (18, 7), (19, 8)]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6.814348186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GTCA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GTCA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749146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[(11, 10), (12, 11), (13, 12)]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5.671366478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965673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[(9, 7), (10, 8)]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3.531634204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633278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[(10, 1), (11, 2)]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2.515811795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062359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[(11, 1), (12, 2)]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2.483481881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893479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[(12, 10), (13, 11)]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3.764520512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203766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[(18, 9), (19, 10)]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3.531634204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683687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[(21, 10), (22, 11)]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3.350631165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902431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[(21, 11), (22, 12)]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3.329191463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134100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[(21, 12), (22, 13)]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3.202902699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70253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4EFBF8B-B223-9C68-EE0A-22D56B90D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909" y="2387302"/>
            <a:ext cx="6541310" cy="436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632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71207-1026-3D11-05AE-FF5BB70D7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B0E8A-7B3E-B5C5-D8A1-EAFBC481C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14" y="103630"/>
            <a:ext cx="10515600" cy="1325563"/>
          </a:xfrm>
        </p:spPr>
        <p:txBody>
          <a:bodyPr/>
          <a:lstStyle/>
          <a:p>
            <a:r>
              <a:rPr lang="en-US" dirty="0"/>
              <a:t>Ex1 Mo1 80pct Reverse</a:t>
            </a:r>
          </a:p>
        </p:txBody>
      </p:sp>
      <p:pic>
        <p:nvPicPr>
          <p:cNvPr id="5" name="Content Placeholder 4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0066D877-4822-F903-FECC-587672BBE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7755" y="-40777"/>
            <a:ext cx="5517614" cy="1469970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2D034A-398E-1332-F401-2CD716CE1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03978"/>
            <a:ext cx="5863359" cy="41881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F0A666-3BF6-F65D-540D-B5D0867E10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755" y="1547092"/>
            <a:ext cx="5691790" cy="503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440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29DEC7-FB21-014C-B4CC-8651C3853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B96DE-85CE-A966-EF16-35CA833FC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14" y="103630"/>
            <a:ext cx="5818132" cy="1325563"/>
          </a:xfrm>
        </p:spPr>
        <p:txBody>
          <a:bodyPr/>
          <a:lstStyle/>
          <a:p>
            <a:r>
              <a:rPr lang="en-US" dirty="0"/>
              <a:t>Ex1 Mo1 Output – </a:t>
            </a:r>
            <a:r>
              <a:rPr lang="en-US" dirty="0">
                <a:solidFill>
                  <a:srgbClr val="FF0000"/>
                </a:solidFill>
              </a:rPr>
              <a:t>Try Reverse</a:t>
            </a:r>
          </a:p>
        </p:txBody>
      </p:sp>
      <p:pic>
        <p:nvPicPr>
          <p:cNvPr id="5" name="Content Placeholder 4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0F2762BE-E800-D8F0-D73C-725FF753F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7755" y="-40777"/>
            <a:ext cx="5517614" cy="146997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FE1903-28A5-B8A1-A084-874365B48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680" y="1576648"/>
            <a:ext cx="6596320" cy="465734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6EC69C4-D738-32CC-4E00-BAFDB76722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553433"/>
              </p:ext>
            </p:extLst>
          </p:nvPr>
        </p:nvGraphicFramePr>
        <p:xfrm>
          <a:off x="206564" y="1832324"/>
          <a:ext cx="5291580" cy="32345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8316">
                  <a:extLst>
                    <a:ext uri="{9D8B030D-6E8A-4147-A177-3AD203B41FA5}">
                      <a16:colId xmlns:a16="http://schemas.microsoft.com/office/drawing/2014/main" val="99855957"/>
                    </a:ext>
                  </a:extLst>
                </a:gridCol>
                <a:gridCol w="1058316">
                  <a:extLst>
                    <a:ext uri="{9D8B030D-6E8A-4147-A177-3AD203B41FA5}">
                      <a16:colId xmlns:a16="http://schemas.microsoft.com/office/drawing/2014/main" val="3845515663"/>
                    </a:ext>
                  </a:extLst>
                </a:gridCol>
                <a:gridCol w="1058316">
                  <a:extLst>
                    <a:ext uri="{9D8B030D-6E8A-4147-A177-3AD203B41FA5}">
                      <a16:colId xmlns:a16="http://schemas.microsoft.com/office/drawing/2014/main" val="2214412405"/>
                    </a:ext>
                  </a:extLst>
                </a:gridCol>
                <a:gridCol w="1058316">
                  <a:extLst>
                    <a:ext uri="{9D8B030D-6E8A-4147-A177-3AD203B41FA5}">
                      <a16:colId xmlns:a16="http://schemas.microsoft.com/office/drawing/2014/main" val="1736718770"/>
                    </a:ext>
                  </a:extLst>
                </a:gridCol>
                <a:gridCol w="1058316">
                  <a:extLst>
                    <a:ext uri="{9D8B030D-6E8A-4147-A177-3AD203B41FA5}">
                      <a16:colId xmlns:a16="http://schemas.microsoft.com/office/drawing/2014/main" val="352478743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coords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length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score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group1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group2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2709276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[(14, 9), (15, 8), (16, 7)]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4.206712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GTG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CAC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85245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[(15, 10), (16, 9), (17, 8)]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4.993712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TGT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947300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[(8, 6), (9, 5)]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2.783439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54123964"/>
                  </a:ext>
                </a:extLst>
              </a:tr>
              <a:tr h="3860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[(18, 16), (19, 15)]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3.340354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575441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[(22, 20), (23, 19)]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2.154894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675440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[(23, 11), (24, 10)]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2.186579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3012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[(23, 12), (24, 11)]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2.196703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94735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[(23, 13), (24, 12)]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2.10655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31575644"/>
                  </a:ext>
                </a:extLst>
              </a:tr>
              <a:tr h="3987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[(23, 22), (24, 21)]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1.991468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9174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857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D0574-A427-3EA3-47B0-6C553CE84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916DD-E081-56D1-3FFB-B006C12F9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14" y="103630"/>
            <a:ext cx="10515600" cy="1325563"/>
          </a:xfrm>
        </p:spPr>
        <p:txBody>
          <a:bodyPr/>
          <a:lstStyle/>
          <a:p>
            <a:r>
              <a:rPr lang="en-US" dirty="0"/>
              <a:t>Ex1 Mo2 80pct threshold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BC85C0-340B-B282-2F28-15200F75D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748" y="179389"/>
            <a:ext cx="6052138" cy="1617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D8090F-205D-669F-B248-A93B5E327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44" y="1737185"/>
            <a:ext cx="6052138" cy="42731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E6A6FB-F989-B04E-D44D-8E39C16DD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064" y="1950956"/>
            <a:ext cx="50292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91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149FE7-0381-D0D4-FD03-5BCEC6CE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CDC4E-1DED-199E-9591-D74A75986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14" y="103630"/>
            <a:ext cx="10515600" cy="1325563"/>
          </a:xfrm>
        </p:spPr>
        <p:txBody>
          <a:bodyPr/>
          <a:lstStyle/>
          <a:p>
            <a:r>
              <a:rPr lang="en-US" dirty="0"/>
              <a:t>Ex1 Mo2 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D75105-2895-1E8A-7E20-CD2C93121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064" y="-167039"/>
            <a:ext cx="6985000" cy="18669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615C7E9-4BFF-7486-96EE-4DE69F8F6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886088"/>
              </p:ext>
            </p:extLst>
          </p:nvPr>
        </p:nvGraphicFramePr>
        <p:xfrm>
          <a:off x="147781" y="2387302"/>
          <a:ext cx="5502910" cy="24513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0582">
                  <a:extLst>
                    <a:ext uri="{9D8B030D-6E8A-4147-A177-3AD203B41FA5}">
                      <a16:colId xmlns:a16="http://schemas.microsoft.com/office/drawing/2014/main" val="2034673502"/>
                    </a:ext>
                  </a:extLst>
                </a:gridCol>
                <a:gridCol w="1100582">
                  <a:extLst>
                    <a:ext uri="{9D8B030D-6E8A-4147-A177-3AD203B41FA5}">
                      <a16:colId xmlns:a16="http://schemas.microsoft.com/office/drawing/2014/main" val="2388367810"/>
                    </a:ext>
                  </a:extLst>
                </a:gridCol>
                <a:gridCol w="1100582">
                  <a:extLst>
                    <a:ext uri="{9D8B030D-6E8A-4147-A177-3AD203B41FA5}">
                      <a16:colId xmlns:a16="http://schemas.microsoft.com/office/drawing/2014/main" val="3194324290"/>
                    </a:ext>
                  </a:extLst>
                </a:gridCol>
                <a:gridCol w="1100582">
                  <a:extLst>
                    <a:ext uri="{9D8B030D-6E8A-4147-A177-3AD203B41FA5}">
                      <a16:colId xmlns:a16="http://schemas.microsoft.com/office/drawing/2014/main" val="1823193689"/>
                    </a:ext>
                  </a:extLst>
                </a:gridCol>
                <a:gridCol w="1100582">
                  <a:extLst>
                    <a:ext uri="{9D8B030D-6E8A-4147-A177-3AD203B41FA5}">
                      <a16:colId xmlns:a16="http://schemas.microsoft.com/office/drawing/2014/main" val="5193029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coords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length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score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group1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group2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9561797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[(21, 0), (22, 1), (23, 2), (24, 3), (25, 4)]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9.649394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GTAAA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GTAAA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437093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[(3, 2), (4, 3)]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3.649394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847434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[(10, 0), (11, 1)]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3.896872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89433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[(13, 1), (14, 2)]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2.17438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321569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[(14, 4), (15, 5)]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1.86434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535525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[(21, 10), (22, 11)]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3.896872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11916048"/>
                  </a:ext>
                </a:extLst>
              </a:tr>
              <a:tr h="2377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[(22, 13), (23, 14)]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2.365965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82911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[(23, 3), (24, 4)]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323853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[(24, 2), (25, 3)]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3.649394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87079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[(24, 23), (25, 24)]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05461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56B8753A-B308-4C70-5C2B-D106972D0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058" y="1970530"/>
            <a:ext cx="5777277" cy="402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399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0473F-6F18-3D2F-A670-DF720CEBE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7FB9B-86A5-3166-9459-A085F7FFB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14" y="103630"/>
            <a:ext cx="10515600" cy="1325563"/>
          </a:xfrm>
        </p:spPr>
        <p:txBody>
          <a:bodyPr/>
          <a:lstStyle/>
          <a:p>
            <a:r>
              <a:rPr lang="en-US" dirty="0"/>
              <a:t>Ex1 Mo2 80pct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Try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Reverse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EE1E0F-4D00-400D-19C3-1BFE1C3A4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748" y="179389"/>
            <a:ext cx="6052138" cy="16175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819213-7076-D375-D987-FDDCDE349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53" y="1950956"/>
            <a:ext cx="6052137" cy="42731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1782D7-41D7-6D15-B37A-8F1993A52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217" y="1796960"/>
            <a:ext cx="50292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922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DA8FFC-07E8-79BA-DCD1-CA786EA11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D0EDD-02B5-FC5E-1F89-01D1386E1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14" y="103630"/>
            <a:ext cx="10515600" cy="1325563"/>
          </a:xfrm>
        </p:spPr>
        <p:txBody>
          <a:bodyPr/>
          <a:lstStyle/>
          <a:p>
            <a:r>
              <a:rPr lang="en-US" dirty="0"/>
              <a:t>Ex1 Mo2 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6BE39A-9469-034C-637F-740072778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064" y="-167039"/>
            <a:ext cx="6985000" cy="186690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92EF70-E752-AB0F-DB28-911BA92AA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270437"/>
              </p:ext>
            </p:extLst>
          </p:nvPr>
        </p:nvGraphicFramePr>
        <p:xfrm>
          <a:off x="340929" y="1603273"/>
          <a:ext cx="5133596" cy="40211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6990">
                  <a:extLst>
                    <a:ext uri="{9D8B030D-6E8A-4147-A177-3AD203B41FA5}">
                      <a16:colId xmlns:a16="http://schemas.microsoft.com/office/drawing/2014/main" val="746880658"/>
                    </a:ext>
                  </a:extLst>
                </a:gridCol>
                <a:gridCol w="766449">
                  <a:extLst>
                    <a:ext uri="{9D8B030D-6E8A-4147-A177-3AD203B41FA5}">
                      <a16:colId xmlns:a16="http://schemas.microsoft.com/office/drawing/2014/main" val="1832088274"/>
                    </a:ext>
                  </a:extLst>
                </a:gridCol>
                <a:gridCol w="1026719">
                  <a:extLst>
                    <a:ext uri="{9D8B030D-6E8A-4147-A177-3AD203B41FA5}">
                      <a16:colId xmlns:a16="http://schemas.microsoft.com/office/drawing/2014/main" val="16369540"/>
                    </a:ext>
                  </a:extLst>
                </a:gridCol>
                <a:gridCol w="1026719">
                  <a:extLst>
                    <a:ext uri="{9D8B030D-6E8A-4147-A177-3AD203B41FA5}">
                      <a16:colId xmlns:a16="http://schemas.microsoft.com/office/drawing/2014/main" val="2356201576"/>
                    </a:ext>
                  </a:extLst>
                </a:gridCol>
                <a:gridCol w="1026719">
                  <a:extLst>
                    <a:ext uri="{9D8B030D-6E8A-4147-A177-3AD203B41FA5}">
                      <a16:colId xmlns:a16="http://schemas.microsoft.com/office/drawing/2014/main" val="3615731050"/>
                    </a:ext>
                  </a:extLst>
                </a:gridCol>
              </a:tblGrid>
              <a:tr h="29117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coords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length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score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group1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group2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287575119"/>
                  </a:ext>
                </a:extLst>
              </a:tr>
              <a:tr h="527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[(20, 10), (21, 9), (22, 8)]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3.33551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CGT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4981752"/>
                  </a:ext>
                </a:extLst>
              </a:tr>
              <a:tr h="291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[(8, 1), (9, 0)]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1.860874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9759804"/>
                  </a:ext>
                </a:extLst>
              </a:tr>
              <a:tr h="291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[(9, 7), (10, 6)]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1.479916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05101117"/>
                  </a:ext>
                </a:extLst>
              </a:tr>
              <a:tr h="291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[(10, 9), (11, 8)]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1.881161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GT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40721197"/>
                  </a:ext>
                </a:extLst>
              </a:tr>
              <a:tr h="291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[(11, 2), (12, 1)]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2.108458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62759408"/>
                  </a:ext>
                </a:extLst>
              </a:tr>
              <a:tr h="291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[(13, 2), (14, 1)]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2.227702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39924083"/>
                  </a:ext>
                </a:extLst>
              </a:tr>
              <a:tr h="291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[(13, 12), (14, 11)]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1.545232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46666785"/>
                  </a:ext>
                </a:extLst>
              </a:tr>
              <a:tr h="291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[(20, 7), (21, 6)]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1.204598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85462789"/>
                  </a:ext>
                </a:extLst>
              </a:tr>
              <a:tr h="291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[(22, 2), (23, 1)]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3.649394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7817292"/>
                  </a:ext>
                </a:extLst>
              </a:tr>
              <a:tr h="291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[(22, 12), (23, 11)]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2.457249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61361615"/>
                  </a:ext>
                </a:extLst>
              </a:tr>
              <a:tr h="291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[(22, 14), (23, 13)]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2.365965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1347675"/>
                  </a:ext>
                </a:extLst>
              </a:tr>
              <a:tr h="291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663185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008464A-0270-7122-41DA-242BA3EAA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739" y="1970530"/>
            <a:ext cx="6097650" cy="430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63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LexA repressor dimer bound to its cognate SOS boxes (PDB code 3JSO). (... |  Download Scientific Diagram">
            <a:extLst>
              <a:ext uri="{FF2B5EF4-FFF2-40B4-BE49-F238E27FC236}">
                <a16:creationId xmlns:a16="http://schemas.microsoft.com/office/drawing/2014/main" id="{CC5F115B-ECC5-97A4-5F4B-10DB946DAE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17" y="1068090"/>
            <a:ext cx="41021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49F7AF-F7A4-1720-6E52-B4094643EAC4}"/>
              </a:ext>
            </a:extLst>
          </p:cNvPr>
          <p:cNvSpPr txBox="1"/>
          <p:nvPr/>
        </p:nvSpPr>
        <p:spPr>
          <a:xfrm>
            <a:off x="5101272" y="1331367"/>
            <a:ext cx="6404611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i="1" dirty="0"/>
              <a:t>These all bind as dimers – expect inverted repeats: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500" b="1" i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 err="1"/>
              <a:t>LexA</a:t>
            </a:r>
            <a:r>
              <a:rPr lang="en-US" sz="1500" dirty="0"/>
              <a:t> – When damage is detected, </a:t>
            </a:r>
            <a:r>
              <a:rPr lang="en-US" sz="1500" dirty="0" err="1"/>
              <a:t>LexA</a:t>
            </a:r>
            <a:r>
              <a:rPr lang="en-US" sz="1500" dirty="0"/>
              <a:t> is destroyed, turning the repair genes "on".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/>
              <a:t>FNR</a:t>
            </a:r>
            <a:r>
              <a:rPr lang="en-US" sz="1500" dirty="0"/>
              <a:t> – Senses oxygen. Helps switch between breathing aerobic and anaerobic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/>
              <a:t>CRP</a:t>
            </a:r>
            <a:r>
              <a:rPr lang="en-US" sz="1500" dirty="0"/>
              <a:t> – activates &gt;100 genes in energy metabolism. If a bacterium runs out of glucose, CRP turns on genes to digest other secondary sugars (like lactose)</a:t>
            </a:r>
          </a:p>
          <a:p>
            <a:endParaRPr lang="en-US" sz="1500" dirty="0"/>
          </a:p>
          <a:p>
            <a:r>
              <a:rPr lang="en-US" sz="1500" b="1" i="1" dirty="0"/>
              <a:t>A stranger case: Fur</a:t>
            </a:r>
          </a:p>
          <a:p>
            <a:endParaRPr lang="en-US" sz="15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/>
              <a:t>Ferric Uptake Regulator -- controls how bacteria handle iron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500" dirty="0"/>
              <a:t>If a cell absorbs too much iron, Fur binds to DNA to shut down iron-absorbing genes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/>
              <a:t>For decades, scientists argued about what the Fur motif looked like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/>
              <a:t>19-bp palindrome model  with one dimer </a:t>
            </a:r>
            <a:r>
              <a:rPr lang="en-US" sz="1500" dirty="0">
                <a:sym typeface="Wingdings" pitchFamily="2" charset="2"/>
              </a:rPr>
              <a:t> subset heptamer inverted repeats (7-1-7)² overlapping internal structure with 21-bp sequence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sym typeface="Wingdings" pitchFamily="2" charset="2"/>
              </a:rPr>
              <a:t>Basically, Fur’s binding site isn’t just a fixed concrete set – need to check for internal subset symmetry too  captures real biological chaos from multiple dimers </a:t>
            </a:r>
          </a:p>
          <a:p>
            <a:endParaRPr lang="en-US" sz="1200" dirty="0">
              <a:sym typeface="Wingdings" pitchFamily="2" charset="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6B24D4-E8E6-72F9-878D-1EBC7CE35A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782"/>
          <a:stretch>
            <a:fillRect/>
          </a:stretch>
        </p:blipFill>
        <p:spPr>
          <a:xfrm>
            <a:off x="681990" y="4047620"/>
            <a:ext cx="4102100" cy="27772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2091ED-2912-577D-C031-69FA50B3E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760" y="0"/>
            <a:ext cx="10515600" cy="1325563"/>
          </a:xfrm>
        </p:spPr>
        <p:txBody>
          <a:bodyPr/>
          <a:lstStyle/>
          <a:p>
            <a:r>
              <a:rPr lang="en-US" dirty="0" err="1"/>
              <a:t>CollecTF</a:t>
            </a:r>
            <a:r>
              <a:rPr lang="en-US" dirty="0"/>
              <a:t> - Experimental test cases</a:t>
            </a:r>
          </a:p>
        </p:txBody>
      </p:sp>
    </p:spTree>
    <p:extLst>
      <p:ext uri="{BB962C8B-B14F-4D97-AF65-F5344CB8AC3E}">
        <p14:creationId xmlns:p14="http://schemas.microsoft.com/office/powerpoint/2010/main" val="957486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9357-FA68-30A4-04A3-E863D9D87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58" y="0"/>
            <a:ext cx="10515600" cy="1325563"/>
          </a:xfrm>
        </p:spPr>
        <p:txBody>
          <a:bodyPr/>
          <a:lstStyle/>
          <a:p>
            <a:r>
              <a:rPr lang="en-US" dirty="0"/>
              <a:t>File I/O to process bulk .</a:t>
            </a:r>
            <a:r>
              <a:rPr lang="en-US" dirty="0" err="1"/>
              <a:t>fas</a:t>
            </a:r>
            <a:r>
              <a:rPr lang="en-US" dirty="0"/>
              <a:t>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17ABA-ED97-6F33-273C-5E6C87A0E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660" y="1258252"/>
            <a:ext cx="11864340" cy="434149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General structure from </a:t>
            </a:r>
            <a:r>
              <a:rPr lang="en-US" dirty="0" err="1"/>
              <a:t>CollecTF</a:t>
            </a:r>
            <a:r>
              <a:rPr lang="en-US" dirty="0"/>
              <a:t> &gt;TF_{protein}_{</a:t>
            </a:r>
            <a:r>
              <a:rPr lang="en-US" dirty="0" err="1"/>
              <a:t>UniProt_ID</a:t>
            </a:r>
            <a:r>
              <a:rPr lang="en-US" dirty="0"/>
              <a:t>}|genome_{accession} {organism}|start={n}|end={n}|strand={direction}</a:t>
            </a:r>
          </a:p>
          <a:p>
            <a:r>
              <a:rPr lang="en-US" dirty="0"/>
              <a:t>E.g.</a:t>
            </a:r>
          </a:p>
          <a:p>
            <a:pPr lvl="1"/>
            <a:r>
              <a:rPr lang="en-US" dirty="0"/>
              <a:t>&gt;TF_Fur_P0C6C8|genome_NC_002505.1 Vibrio cholerae O1 biovar El Tor str. N16961|start=...|end=...|strand=...</a:t>
            </a:r>
          </a:p>
          <a:p>
            <a:r>
              <a:rPr lang="en-US" dirty="0"/>
              <a:t>3 keys:</a:t>
            </a:r>
          </a:p>
          <a:p>
            <a:pPr lvl="1"/>
            <a:r>
              <a:rPr lang="en-US" dirty="0"/>
              <a:t>P0C6C8 — </a:t>
            </a:r>
            <a:r>
              <a:rPr lang="en-US" dirty="0" err="1"/>
              <a:t>UniProt</a:t>
            </a:r>
            <a:r>
              <a:rPr lang="en-US" dirty="0"/>
              <a:t> ID (unique protein)</a:t>
            </a:r>
          </a:p>
          <a:p>
            <a:pPr lvl="1"/>
            <a:r>
              <a:rPr lang="en-US" dirty="0"/>
              <a:t>NC_002505.1 — genome accession (unique assembly)</a:t>
            </a:r>
          </a:p>
          <a:p>
            <a:pPr lvl="1"/>
            <a:r>
              <a:rPr lang="en-US" dirty="0"/>
              <a:t>Vibrio cholerae O1 biovar El Tor str. N16961 — organism name (human-readable)</a:t>
            </a:r>
          </a:p>
          <a:p>
            <a:r>
              <a:rPr lang="en-US" dirty="0"/>
              <a:t>Settled file structure:</a:t>
            </a:r>
          </a:p>
          <a:p>
            <a:pPr marL="457200" lvl="1" indent="0">
              <a:buNone/>
            </a:pPr>
            <a:r>
              <a:rPr lang="en-US" dirty="0" err="1"/>
              <a:t>CollectTF_FASTA</a:t>
            </a:r>
            <a:r>
              <a:rPr lang="en-US" dirty="0"/>
              <a:t> / Fur / Vibrio_cholerae_O1_biovar… /  </a:t>
            </a:r>
            <a:r>
              <a:rPr lang="en-US" b="1" dirty="0">
                <a:solidFill>
                  <a:srgbClr val="FF0000"/>
                </a:solidFill>
              </a:rPr>
              <a:t>TF_Fur_P0C6C8.fas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E2F353-7073-3CEB-380C-317754A24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584" y="5377543"/>
            <a:ext cx="7772400" cy="148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477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FA3C-879E-E1DF-6610-B4D98D216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377" y="-126929"/>
            <a:ext cx="10515600" cy="1325563"/>
          </a:xfrm>
        </p:spPr>
        <p:txBody>
          <a:bodyPr/>
          <a:lstStyle/>
          <a:p>
            <a:r>
              <a:rPr lang="en-US" dirty="0"/>
              <a:t>Initial test case – Staph Q9L4P1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D6A368-9916-BDC5-FFE3-BDA6F0DA7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9" y="3746500"/>
            <a:ext cx="4356100" cy="311150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CFB449E-33EA-B534-25CB-A8567C3F7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485378"/>
              </p:ext>
            </p:extLst>
          </p:nvPr>
        </p:nvGraphicFramePr>
        <p:xfrm>
          <a:off x="5500248" y="1198634"/>
          <a:ext cx="5772589" cy="5587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3502">
                  <a:extLst>
                    <a:ext uri="{9D8B030D-6E8A-4147-A177-3AD203B41FA5}">
                      <a16:colId xmlns:a16="http://schemas.microsoft.com/office/drawing/2014/main" val="2842497698"/>
                    </a:ext>
                  </a:extLst>
                </a:gridCol>
                <a:gridCol w="439709">
                  <a:extLst>
                    <a:ext uri="{9D8B030D-6E8A-4147-A177-3AD203B41FA5}">
                      <a16:colId xmlns:a16="http://schemas.microsoft.com/office/drawing/2014/main" val="954903060"/>
                    </a:ext>
                  </a:extLst>
                </a:gridCol>
                <a:gridCol w="803084">
                  <a:extLst>
                    <a:ext uri="{9D8B030D-6E8A-4147-A177-3AD203B41FA5}">
                      <a16:colId xmlns:a16="http://schemas.microsoft.com/office/drawing/2014/main" val="1037236549"/>
                    </a:ext>
                  </a:extLst>
                </a:gridCol>
                <a:gridCol w="962098">
                  <a:extLst>
                    <a:ext uri="{9D8B030D-6E8A-4147-A177-3AD203B41FA5}">
                      <a16:colId xmlns:a16="http://schemas.microsoft.com/office/drawing/2014/main" val="3164434672"/>
                    </a:ext>
                  </a:extLst>
                </a:gridCol>
                <a:gridCol w="962098">
                  <a:extLst>
                    <a:ext uri="{9D8B030D-6E8A-4147-A177-3AD203B41FA5}">
                      <a16:colId xmlns:a16="http://schemas.microsoft.com/office/drawing/2014/main" val="530295114"/>
                    </a:ext>
                  </a:extLst>
                </a:gridCol>
                <a:gridCol w="962098">
                  <a:extLst>
                    <a:ext uri="{9D8B030D-6E8A-4147-A177-3AD203B41FA5}">
                      <a16:colId xmlns:a16="http://schemas.microsoft.com/office/drawing/2014/main" val="3896224713"/>
                    </a:ext>
                  </a:extLst>
                </a:gridCol>
              </a:tblGrid>
              <a:tr h="19883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coords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length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score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group1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group2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p_value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111213703"/>
                  </a:ext>
                </a:extLst>
              </a:tr>
              <a:tr h="359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[(8, 5), (9, 4), (10, 3), (11, 2), (12, 1)]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7.930041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TGTTC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ACAAG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789491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3FAF4C2D-3B3F-DA08-EA13-5EBE66085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403" y="2121711"/>
            <a:ext cx="5168020" cy="4711250"/>
          </a:xfrm>
          <a:prstGeom prst="rect">
            <a:avLst/>
          </a:prstGeom>
        </p:spPr>
      </p:pic>
      <p:sp>
        <p:nvSpPr>
          <p:cNvPr id="13" name="Gerader Verbinder 12">
            <a:extLst>
              <a:ext uri="{FF2B5EF4-FFF2-40B4-BE49-F238E27FC236}">
                <a16:creationId xmlns:a16="http://schemas.microsoft.com/office/drawing/2014/main" id="{54DB1744-B2F5-44CA-8E3F-1159C340D009}"/>
              </a:ext>
            </a:extLst>
          </p:cNvPr>
          <p:cNvSpPr/>
          <p:nvPr/>
        </p:nvSpPr>
        <p:spPr>
          <a:xfrm rot="8154506">
            <a:off x="5545951" y="5468760"/>
            <a:ext cx="2011680" cy="0"/>
          </a:xfrm>
          <a:prstGeom prst="line">
            <a:avLst/>
          </a:prstGeom>
          <a:solidFill>
            <a:srgbClr val="FF0066">
              <a:alpha val="5000"/>
            </a:srgbClr>
          </a:solidFill>
          <a:ln w="12600">
            <a:solidFill>
              <a:srgbClr val="FF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fr-FR">
              <a:solidFill>
                <a:srgbClr val="FF0066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7BAFE4-510D-03D8-CF3F-E3522C4CE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77" y="924932"/>
            <a:ext cx="4548051" cy="250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340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9FB33-AC88-85FF-ABCD-9FB856C90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1A934-8E8D-29C8-F6C4-B713B2AB6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5AB56C-0F68-5680-AE67-D4475B8CB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105" y="681037"/>
            <a:ext cx="7988475" cy="556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555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291D-C0AA-4270-1239-564A04BF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C11D6-7ABA-E6FA-F2CC-30A616C87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8" y="1557339"/>
            <a:ext cx="4167828" cy="46910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Test more real cases </a:t>
            </a:r>
          </a:p>
          <a:p>
            <a:r>
              <a:rPr lang="en-US" dirty="0"/>
              <a:t>Behavior in one or low-sample cases</a:t>
            </a:r>
          </a:p>
          <a:p>
            <a:r>
              <a:rPr lang="en-US" dirty="0"/>
              <a:t>Null cases (truly no signal)</a:t>
            </a:r>
          </a:p>
          <a:p>
            <a:r>
              <a:rPr lang="en-US" dirty="0"/>
              <a:t>Mapping back to consensus sequence – check robustly to ambiguity</a:t>
            </a:r>
          </a:p>
          <a:p>
            <a:r>
              <a:rPr lang="en-US" dirty="0"/>
              <a:t>IR map back for better readability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2FB658-C691-AA34-B26F-FE882A46E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684" y="770583"/>
            <a:ext cx="7071616" cy="26365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5D9DBE-86D3-27C8-B574-A8AA8C5CF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515" y="3661086"/>
            <a:ext cx="4846946" cy="26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7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FC05B-5A4A-8AB7-3B9F-F48DF440F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case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B3DA9-8B13-5A3D-6B28-803EDFCC9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 random sequences of length N</a:t>
            </a:r>
          </a:p>
          <a:p>
            <a:r>
              <a:rPr lang="en-US" dirty="0"/>
              <a:t>Create a motif and compute the IC </a:t>
            </a:r>
          </a:p>
          <a:p>
            <a:r>
              <a:rPr lang="en-US" dirty="0"/>
              <a:t>Select one random position from one of the sequences, and change the base pair </a:t>
            </a:r>
          </a:p>
          <a:p>
            <a:r>
              <a:rPr lang="en-US" dirty="0"/>
              <a:t>Compute IC. If the IC is greater then discard the change, if not, discard the change </a:t>
            </a:r>
          </a:p>
          <a:p>
            <a:r>
              <a:rPr lang="en-US" dirty="0"/>
              <a:t>Goal is to make the IC go up high to a total of X bits </a:t>
            </a:r>
          </a:p>
          <a:p>
            <a:r>
              <a:rPr lang="en-US" dirty="0"/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2932112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9882</TotalTime>
  <Words>1544</Words>
  <Application>Microsoft Macintosh PowerPoint</Application>
  <PresentationFormat>Widescreen</PresentationFormat>
  <Paragraphs>374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Aptos Narrow</vt:lpstr>
      <vt:lpstr>Arial</vt:lpstr>
      <vt:lpstr>Calibri</vt:lpstr>
      <vt:lpstr>Wingdings</vt:lpstr>
      <vt:lpstr>Office Theme</vt:lpstr>
      <vt:lpstr>Motif Gallery</vt:lpstr>
      <vt:lpstr>Goals</vt:lpstr>
      <vt:lpstr>Thresholding</vt:lpstr>
      <vt:lpstr>Poly-N / Mapping Back to Readable Output</vt:lpstr>
      <vt:lpstr>Bootstrapping Scores</vt:lpstr>
      <vt:lpstr>Function Library Directory</vt:lpstr>
      <vt:lpstr>Ex1 Mo1 80pct threshold</vt:lpstr>
      <vt:lpstr>Ex1 Mo1 Output</vt:lpstr>
      <vt:lpstr>Ex1 Mo1 80pct Reverse</vt:lpstr>
      <vt:lpstr>Ex1 Mo1 Output – Try Reverse</vt:lpstr>
      <vt:lpstr>Ex1 Mo2 80pct threshold</vt:lpstr>
      <vt:lpstr>Ex1 Mo2 Output</vt:lpstr>
      <vt:lpstr>Ex1 Mo2 80pct  Try Reverse</vt:lpstr>
      <vt:lpstr>Ex1 Mo2 Output</vt:lpstr>
      <vt:lpstr>CollecTF - Experimental test cases</vt:lpstr>
      <vt:lpstr>File I/O to process bulk .fas files</vt:lpstr>
      <vt:lpstr>Initial test case – Staph Q9L4P1 </vt:lpstr>
      <vt:lpstr>PowerPoint Presentation</vt:lpstr>
      <vt:lpstr>Next steps</vt:lpstr>
      <vt:lpstr>Null case generator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Enoch Shin</dc:creator>
  <cp:lastModifiedBy>Enoch Shin</cp:lastModifiedBy>
  <cp:revision>104</cp:revision>
  <dcterms:created xsi:type="dcterms:W3CDTF">2026-05-05T16:09:09Z</dcterms:created>
  <dcterms:modified xsi:type="dcterms:W3CDTF">2026-05-12T13:55:39Z</dcterms:modified>
</cp:coreProperties>
</file>