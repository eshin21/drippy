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64" r:id="rId4"/>
    <p:sldId id="257" r:id="rId5"/>
    <p:sldId id="262" r:id="rId6"/>
    <p:sldId id="260" r:id="rId7"/>
    <p:sldId id="263" r:id="rId8"/>
    <p:sldId id="265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45"/>
    <p:restoredTop sz="94652"/>
  </p:normalViewPr>
  <p:slideViewPr>
    <p:cSldViewPr snapToGrid="0">
      <p:cViewPr varScale="1">
        <p:scale>
          <a:sx n="86" d="100"/>
          <a:sy n="86" d="100"/>
        </p:scale>
        <p:origin x="224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3:58:56.349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2594 389 24575,'-9'10'0,"-5"4"0,-5 4 0,1-1 0,5-2 0,5-4 0,1-3 0,-2 1 0,-3 1 0,-1 3 0,2-1 0,2-2 0,2-4 0,2-2 0,0 0 0,-1 2 0,-3 2 0,-4 5 0,-1-1 0,1-1 0,1-1 0,5-5 0,-1 0 0,4 0 0,-1-2 0,0 4 0,0-1 0,-4 2 0,0 1 0,-1 0 0,1-2 0,0 1 0,0-1 0,0 1 0,-2 0 0,1 0 0,-1-1 0,-1 0 0,-1 0 0,0 2 0,1-1 0,2 0 0,0 1 0,-1-2 0,2 1 0,1-1 0,-1 0 0,-1 1 0,0-1 0,0 0 0,-1 1 0,2-2 0,-1 3 0,-2 1 0,-2 1 0,-3 3 0,-1 0 0,0-2 0,2-1 0,3-3 0,4 0 0,-1-1 0,2 1 0,-3 1 0,-1 1 0,1 0 0,-2-1 0,3 0 0,1-2 0,2 0 0,0-2 0,0 1 0,1-1 0,-1 1 0,-1 3 0,-1 1 0,0 0 0,-1-1 0,2 0 0,-1 0 0,0 1 0,1 2 0,0-1 0,0-1 0,1-2 0,1-1 0,-1 2 0,-1 1 0,-3 2 0,0 2 0,-2 0 0,1 2 0,0 1 0,0 1 0,-1 3 0,0-1 0,1 0 0,-1-2 0,1-2 0,1-2 0,-1 2 0,-1 3 0,-1 4 0,-3 3 0,-1 2 0,-1 0 0,0 0 0,2 0 0,0-3 0,2-2 0,2-3 0,1 0 0,0-1 0,-2 2 0,1-3 0,1-1 0,-3 2 0,-1 0 0,-1 3 0,2-2 0,3-2 0,2-3 0,0-1 0,-1-1 0,-1 3 0,0 0 0,-2 2 0,-1 1 0,1 0 0,1-1 0,-1-2 0,-1 2 0,-1-1 0,-1 2 0,2-1 0,0 0 0,-1 2 0,-1-1 0,0 2 0,-1-1 0,1 1 0,-1 2 0,0-2 0,2-2 0,1-3 0,1-2 0,2 0 0,-4 2 0,0 0 0,-1 0 0,-1 2 0,0-1 0,-1-1 0,-2 1 0,3-3 0,-2 1 0,0-1 0,-1 1 0,1 0 0,2-2 0,4-2 0,2-3 0,-2-1 0,-1 0 0,-1-1 0,2 1 0,1-1 0,-1 0 0,-4-1 0,-5 3 0,-3 2 0,-2 0 0,2-1 0,0-1 0,4-4 0,4-1 0,2-1 0,2-2 0,1 0 0,-2 0 0,1 0 0,-3 0 0,0 0 0,1 0 0,0 0 0,4 0 0,0 0 0,2 0 0,0 0 0,1 0 0,0 0 0,0 0 0,1 0 0,-1-1 0,2-1 0,2-4 0,-1-4 0,-1-2 0,0-3 0,-2-1 0,0-3 0,1 1 0,1 3 0,2 1 0,2 4 0,0 0 0,-2-2 0,2-1 0,-2 0 0,1 1 0,0 0 0,1-2 0,0 1 0,0-2 0,1 1 0,0 2 0,2-4 0,-1 0 0,-1 0 0,0-2 0,0 1 0,2-1 0,0 2 0,0 1 0,0 1 0,0 2 0,0-3 0,0 0 0,0 1 0,0 0 0,0 1 0,0 0 0,0 3 0,0 0 0,2 0 0,0-4 0,1-5 0,2 2 0,0 1 0,0 4 0,0 0 0,2-5 0,1-3 0,3-1 0,0 4 0,0 4 0,-1 3 0,1 2 0,-2 1 0,2-1 0,-1 0 0,0-1 0,2 1 0,-2 2 0,2-1 0,-1-1 0,0 0 0,-2 1 0,-2 2 0,-2 2 0,-2 1 0,2-2 0,-1 1 0,1 0 0,1-2 0,0 0 0,2 0 0,1-3 0,1 1 0,-2 0 0,0 2 0,-1 0 0,0 1 0,-1-2 0,1 0 0,1-1 0,2-1 0,1 0 0,-1 1 0,-2-1 0,0 1 0,-1-1 0,0 1 0,-2 1 0,0 3 0,-2-1 0,1 1 0,0 0 0,0-1 0,2-1 0,5-4 0,3-3 0,0-1 0,0 0 0,-3 4 0,-1 0 0,1-1 0,2 0 0,0-2 0,1 1 0,0 1 0,-1 0 0,0-1 0,-1 1 0,0 0 0,0 0 0,1-1 0,1 1 0,0-1 0,0 1 0,-1 0 0,1 0 0,0 2 0,0-1 0,-1 1 0,1-1 0,0-1 0,-2 1 0,0 0 0,0 2 0,0-2 0,2-1 0,-1-2 0,-1-2 0,-2 2 0,1 0 0,-2 1 0,0 0 0,0 0 0,0 1 0,0 0 0,1-1 0,0-1 0,-1 3 0,-1-1 0,-1 1 0,1 1 0,0-1 0,0 1 0,0-1 0,0 1 0,-1-1 0,2 0 0,1 1 0,1-1 0,1 1 0,0-1 0,0-2 0,1 1 0,-1 0 0,-2 3 0,-2 1 0,-1-1 0,-2 0 0,1-1 0,1 1 0,1-1 0,2-2 0,1 1 0,0-1 0,1 0 0,0-1 0,2-1 0,4-1 0,0-1 0,1 1 0,-3 1 0,-1 1 0,-1 2 0,-1 1 0,-1 0 0,0-1 0,0 0 0,0-1 0,0 1 0,0-2 0,-1-1 0,2-2 0,1-1 0,0 1 0,0 1 0,0 2 0,0 1 0,0-1 0,-1 2 0,1 0 0,0-1 0,-1 1 0,1-1 0,0 1 0,0 2 0,-1-2 0,3 0 0,0 0 0,1 0 0,-2 1 0,-1-1 0,-2 1 0,0-1 0,-2 2 0,0-1 0,2-1 0,-1 1 0,0-1 0,1 0 0,0 1 0,-1 0 0,0-1 0,-1 0 0,1 1 0,-1-1 0,1 0 0,0-1 0,0 0 0,0 1 0,-2 0 0,0 1 0,-1 1 0,1 0 0,0-2 0,1 0 0,0-1 0,1 0 0,0-1 0,1-1 0,1 0 0,1-1 0,0 0 0,-1 2 0,-1 0 0,-1-1 0,3 0 0,3-2 0,-1 1 0,0 2 0,-3 1 0,3-1 0,4 0 0,2-2 0,1 1 0,-1 3 0,-1-3 0,3 1 0,3-4 0,4-1 0,2 1 0,-3 2 0,-4 2 0,-6 4 0,-4 2 0,-3 3 0,-1 1 0,0 1 0,-1 0 0,2 0 0,1 0 0,-1 0 0,3 0 0,1 0 0,-1 0 0,0 0 0,-3 0 0,-4 1 0,-2 0 0,-3 2 0,-2 1 0,1 1 0,0 2 0,0 0 0,0 0 0,0-2 0,-1 1 0,0 1 0,1 2 0,-1 6 0,0 3 0,0 0 0,-1-1 0,-1-5 0,0-2 0,0-3 0,0-1 0,0 1 0,0 3 0,0 3 0,0 1 0,-1-2 0,-1-5 0,0-3 0,-2 1 0,0 1 0,-1 1 0,0 0 0,-1 1 0,-1 2 0,0-1 0,0-1 0,1-1 0,0-2 0,-2 2 0,-2 0 0,-3 1 0,1-1 0,4-3 0,4-2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4:53:47.645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3310 913 24575,'-4'1'0,"-1"4"0,-5 5 0,-2 6 0,-5 1 0,1 1 0,4-4 0,2-3 0,1 1 0,0-1 0,-4 5 0,-5 3 0,-4 3 0,-4 5 0,-2 4 0,4-1 0,5-5 0,6-5 0,-2-3 0,-7 4 0,-7 9 0,-8 7 0,-3 3 0,0-1 0,5-7 0,5-5 0,2-2 0,-8 1 0,-11 8 0,-10 8 0,0 5 0,8-4 0,12-9 0,12-9 0,8-9 0,2-1 0,-4 1 0,-13 9 0,-18 12 0,-12 13 0,-3 5 0,2 0 0,5-3 0,6-4 0,1-3 0,4-2 0,3-2 0,0 0 0,0 2 0,-2 3 0,-3 1 0,0 1 0,3-1 0,3-2 0,3-2 0,-1 1 0,-2-3 0,2 0 0,1-4 0,3-3 0,2 2 0,-3 2 0,0 0 0,1-1 0,2-3 0,1-1 0,0 1 0,0 0 0,-2 0 0,-4 3 0,-4 3 0,-3-2 0,0-3 0,2-8 0,-2-6 0,-1-3 0,0-5 0,-1-3 0,5 0 0,0-3 0,-3 1 0,-1-3 0,0-1 0,4-2 0,8-2 0,7 0 0,4 0 0,-1 0 0,-3-3 0,-5-9 0,0-6 0,6-5 0,5-3 0,10-1 0,3-3 0,2-6 0,2-1 0,0-3 0,4 1 0,2 4 0,0 0 0,0 3 0,0 3 0,0 3 0,0 3 0,0 2 0,3 3 0,2 1 0,2-1 0,5-2 0,3-8 0,4-6 0,3 2 0,-2 3 0,0 5 0,1-1 0,4-5 0,6-4 0,0-1 0,0 4 0,-7 6 0,-7 8 0,-3 7 0,1-4 0,5-10 0,12-14 0,7-11 0,-1 4 0,-6 9 0,-10 14 0,-7 6 0,0-6 0,2-10 0,10-13 0,10-10 0,3 2 0,-2 8 0,-10 15 0,-11 12 0,-5 4 0,-2-3 0,2-5 0,6-10 0,5-5 0,2 4 0,-4 6 0,-9 10 0,-3 7 0,-3 0 0,3-2 0,4-5 0,4-5 0,1-2 0,3-2 0,9-6 0,11-7 0,15-11 0,9-10 0,-4 2 0,-8 7 0,-13 15 0,-10 7 0,1 0 0,5-6 0,4-5 0,1 2 0,-6 4 0,-4 2 0,0-2 0,3-4 0,1 0 0,-4 2 0,-5 6 0,-9 5 0,-3 5 0,-5 6 0,-3 3 0,1 2 0,1-5 0,6-8 0,3-4 0,3 0 0,0 3 0,-1 3 0,-2 0 0,0 1 0,0-2 0,1-2 0,3-3 0,-1-1 0,0 3 0,0 1 0,-2 5 0,-1 3 0,0 1 0,17-8 0,29-16 0,-19 12 0,4 0 0,3-2 0,1 0 0,35-18 0,-29 19 0,-28 13 0,-12 8 0,-6 1 0,0-2 0,2-1 0,1-2 0,2 1 0,0-4 0,1-2 0,2-3 0,-3 0 0,-2 2 0,-1 5 0,1 3 0,5 3 0,6 2 0,1 1 0,-1 2 0,-4 0 0,-2 0 0,-3 0 0,-1 0 0,4 0 0,11-2 0,17-1 0,9-1 0,-1 1 0,-12 2 0,-15 1 0,-12 0 0,-5 1 0,-3 4 0,0 3 0,0 1 0,1 2 0,1 0 0,3 1 0,-2 0 0,-1-1 0,-3-1 0,-1-2 0,-1-1 0,-1 2 0,3 3 0,1 3 0,-1-1 0,0-1 0,-2 0 0,1 1 0,0 2 0,-1 2 0,0 4 0,-2 1 0,-1 0 0,-3 0 0,0-4 0,0 1 0,0-4 0,0 1 0,0-3 0,0 0 0,0 2 0,0-1 0,0 1 0,0-1 0,0-1 0,0 0 0,0 0 0,-2 0 0,0-1 0,0 1 0,-3 0 0,0 4 0,0 1 0,-1-1 0,2-1 0,-1-2 0,-3-3 0,-2 0 0,-2 3 0,0 1 0,2-4 0,4-2 0,0-2 0,0 0 0,-2 1 0,-1 0 0,2 1 0,0-3 0,2-1 0,2-4 0,1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2T14:54:04.728"/>
    </inkml:context>
    <inkml:brush xml:id="br0">
      <inkml:brushProperty name="width" value="0.035" units="cm"/>
      <inkml:brushProperty name="height" value="0.035" units="cm"/>
      <inkml:brushProperty name="color" value="#FF0066"/>
    </inkml:brush>
  </inkml:definitions>
  <inkml:trace contextRef="#ctx0" brushRef="#br0">45 522 24575,'15'0'0,"10"6"0,17 9 0,7 9 0,3 4 0,-11-3 0,-6 1 0,11 15 0,19 22 0,-24-24 0,0 2 0,3 1 0,-2 0 0,-4-6 0,-3-2 0,19 17 0,-15-12 0,2-1 0,7 9 0,12 17 0,-26-27 0,-1 2 0,25 37 0,-11-7 0,-12-10 0,-5-5 0,0 2 0,4 10 0,-1 12 0,3 3 0,-2 1 0,-1-7 0,0-12 0,-3-11 0,1-9 0,0 1 0,10 3 0,18 10 0,16 7 0,-35-34 0,1-1 0,32 21 0,-17-16 0,-15-14 0,-7-8 0,-5-7 0,3-4 0,8-1 0,18 0 0,22 0 0,13 0 0,3-4 0,-10-7 0,-16-9 0,-15-5 0,-11-1 0,-10 3 0,-8 2 0,-7 1 0,-6 0 0,-5 3 0,-2 2 0,-1 1 0,-3 2 0,0-5 0,-1-5 0,-1-2 0,0-2 0,0 1 0,0-8 0,0-14 0,-11-13 0,-11-12 0,-10 2 0,-8 10 0,2 5 0,-8-4 0,-14-16 0,26 33 0,-1 0 0,-1-1 0,0 0 0,-27-28 0,10 17 0,3 9 0,0 4 0,-2-7 0,2-4 0,4 3 0,5 7 0,3 8 0,-1 2 0,-1-1 0,1-4 0,-2 0 0,0-1 0,2-1 0,-2-3 0,1-6 0,0-1 0,2 1 0,2 7 0,3 4 0,0 6 0,2 1 0,0 3 0,-4 1 0,0-2 0,-5-2 0,-1-2 0,0 3 0,1 0 0,-1 2 0,-2 1 0,-1-3 0,0 3 0,1 0 0,-4 0 0,-1 2 0,-1 1 0,7 2 0,8 4 0,1 3 0,-4 2 0,-6 0 0,-3 1 0,-1 1 0,1 2 0,1 2 0,1 3 0,1 0 0,6 3 0,7 0 0,11 0 0,5 0 0,-3 0 0,-7 2 0,-3 5 0,1 5 0,6 5 0,5 2 0,3 0 0,3-1 0,2-3 0,0 0 0,3 0 0,1 2 0,2 9 0,1 10 0,0 5 0,0 2 0,0-8 0,0-9 0,1-6 0,4-3 0,3-1 0,3-1 0,1-1 0,0-2 0,2-2 0,3-2 0,2 0 0,-1 1 0,-7-6 0,-4 3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6BB0F-545E-7FC8-7748-F2F9E3A5B3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AD1D3-85CC-E1EE-A1C1-D168817479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BF507-B2A9-D5DD-46FD-B5C0F81C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AA1B0-F92E-2372-8DBA-38B54206E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31BE85-5DCB-301F-F0C9-B1EAC4469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0536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44A88-2906-9DAC-D7D2-9F691CEE6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B6043-E6CD-8029-66B0-E42E4785D3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A8019-6313-57E3-4DE1-F7800D97B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3695E8-F19B-AAD9-4B61-843B55008A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A21F02-C6C6-ED30-AD66-D6B17D4C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456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5404-DED4-6086-2763-BBA1B8801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F41140-5C49-AEEC-4249-C4B16E3640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4DBB85-B86A-D45E-BAAD-EFC0F2A360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195757-EAFE-0FF5-F4C1-E14B7EADD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D3736-DCEB-1A0A-9F5E-50D341CF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430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2CA09-5469-6FB5-990C-4BC98602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AC38C5-CB7A-1D9D-A9A5-C8BBA1A690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3165CD-EF01-8DBA-BC66-81BEA389B4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8E51A6-CE62-1838-5D15-88445DBB6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1AC3B0-2AC4-6DF8-B352-62B4253EB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940A96-90F8-214A-8EE0-8F653B316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2994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886F-F6C5-AD0C-F6E3-498296767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F1DF5-C309-9C1A-980A-60AD823223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907A52-91FA-FFAC-4466-FD0C69F52E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ED79FF-1A31-EFEC-D1F2-82090AF634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A84432-3621-CA37-004F-685D19F7A0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B21C0E-FEDF-C849-78DC-70A172582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40CB73C-2927-9528-E250-DA33D232C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EC5852-A65D-5B71-34ED-F55CBC4E1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027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73A55-22FC-C70F-6D5E-EA5EE142D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CD0576-8211-1899-BF11-2E8985592C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F2D5A4-DF00-BC97-FF0E-E88D1605F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E89218-3F36-E534-71E4-49E849985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8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9E356-194A-FEEB-0CA3-9982FED00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083020-389E-98B0-9301-FA2DF2B65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3E288-845F-56E6-5FA6-C7E2E939B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06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D2C21-4AB1-88DF-760C-D889CEF43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14F0C-7374-D5C5-545F-EE736179F5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1D1BFF-DBFF-2906-30C7-9F2482690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5874E0-096E-0EE4-DBA9-C24EBBB1A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31A51-B756-FDD4-9C4C-82BD6F3D1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1C3776-201C-1713-205F-634B94EF5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137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89109-B2EA-365B-0411-9F0823EDC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A6AD78F-FC2F-2125-0E09-AA0F1F31F3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0DC7D4-CEF4-2F6C-0186-A25330E388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E0E88A-DD3F-A561-2E39-C3974B39D5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0F6C12-A2FE-7B80-4C03-CB48BB66B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112E77-ECDC-B16F-C272-677AF085F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658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362F4-3E97-2227-2663-05F815CE1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AFB2C7-E426-169A-7BA6-300EB7CD07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CD2E8-57D6-9369-5D25-1CD2C7C76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CAFC97-C111-F86E-038F-FC2C6E385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D39BAD-E836-4153-E403-A0ADACDC9D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093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C07BC8-8368-40D5-EA8F-F24F24A243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B64AA0F-585D-07EB-8F1D-6F7ED347A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115997-1AA3-F915-117E-80AD0B9C4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D1D867-9420-B2F5-93DB-1B70D08BF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370DD7-FA18-3D49-D5A6-40C92B4B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15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EA9AEB-C9FE-2B00-0A32-A68940982F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86F5E2-6E9E-6FA5-5E88-EC0F115733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8C497-5311-BCFE-1A0D-AED831E9F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FF58C-C749-DF40-ACD1-AE83D2B1FC27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027BBC-3416-54A9-0B58-38140453E6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BF3BFC-B843-B16D-C93A-98C5A915E8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552AD5-0FED-374F-86B8-673F2039A6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3342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0.png"/><Relationship Id="rId4" Type="http://schemas.openxmlformats.org/officeDocument/2006/relationships/customXml" Target="../ink/ink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customXml" Target="../ink/ink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s.stackexchange.com/questions/369637/determining-power-of-statistical-test-through-bootstrapping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0.png"/><Relationship Id="rId4" Type="http://schemas.openxmlformats.org/officeDocument/2006/relationships/customXml" Target="../ink/ink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505A7-6B43-543C-B80D-8B91AE099D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Diagonals and Bootstrapping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6296A9-2612-F775-B629-3BC679DD6AC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22 - 29 April 2026</a:t>
            </a:r>
          </a:p>
        </p:txBody>
      </p:sp>
    </p:spTree>
    <p:extLst>
      <p:ext uri="{BB962C8B-B14F-4D97-AF65-F5344CB8AC3E}">
        <p14:creationId xmlns:p14="http://schemas.microsoft.com/office/powerpoint/2010/main" val="499745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0DB74A2-B3EB-1BDC-A80F-87F55E6BBB96}"/>
              </a:ext>
            </a:extLst>
          </p:cNvPr>
          <p:cNvGrpSpPr/>
          <p:nvPr/>
        </p:nvGrpSpPr>
        <p:grpSpPr>
          <a:xfrm>
            <a:off x="8617414" y="393490"/>
            <a:ext cx="2893712" cy="3035509"/>
            <a:chOff x="8655724" y="712031"/>
            <a:chExt cx="2657929" cy="27881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9551752-B820-1218-E258-E9A2E979B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55724" y="712031"/>
              <a:ext cx="2657929" cy="2788172"/>
            </a:xfrm>
            <a:prstGeom prst="rect">
              <a:avLst/>
            </a:prstGeom>
          </p:spPr>
        </p:pic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EDDB6C-BA67-3FD4-00D0-E280F50EADE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216" y="831953"/>
              <a:ext cx="2499437" cy="2480873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89F9EC-F3A4-95B8-5383-A4ABD1138A03}"/>
              </a:ext>
            </a:extLst>
          </p:cNvPr>
          <p:cNvGrpSpPr/>
          <p:nvPr/>
        </p:nvGrpSpPr>
        <p:grpSpPr>
          <a:xfrm>
            <a:off x="8611588" y="3559559"/>
            <a:ext cx="3077915" cy="3088158"/>
            <a:chOff x="8689364" y="3972393"/>
            <a:chExt cx="3077915" cy="308815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975DF10-DEEF-A04B-D88E-D47BB59EA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89364" y="3972393"/>
              <a:ext cx="3077915" cy="3088158"/>
            </a:xfrm>
            <a:prstGeom prst="rect">
              <a:avLst/>
            </a:prstGeom>
          </p:spPr>
        </p:pic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7AFE2CF-F901-A83E-D895-48262971D0C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9148" y="4161402"/>
              <a:ext cx="2683239" cy="2681608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79B2EB48-EA6A-6715-183F-CE613819E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590" y="393491"/>
            <a:ext cx="6450093" cy="5838669"/>
          </a:xfrm>
          <a:prstGeom prst="rect">
            <a:avLst/>
          </a:prstGeom>
        </p:spPr>
      </p:pic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16AB98D-4B03-D4A4-B3BF-A0BEF2EE052B}"/>
              </a:ext>
            </a:extLst>
          </p:cNvPr>
          <p:cNvCxnSpPr>
            <a:cxnSpLocks/>
          </p:cNvCxnSpPr>
          <p:nvPr/>
        </p:nvCxnSpPr>
        <p:spPr>
          <a:xfrm flipH="1" flipV="1">
            <a:off x="2983042" y="1664663"/>
            <a:ext cx="5471410" cy="38898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95BE2EF-9D8A-C1FF-F84A-8CFB6895A60D}"/>
              </a:ext>
            </a:extLst>
          </p:cNvPr>
          <p:cNvCxnSpPr>
            <a:cxnSpLocks/>
          </p:cNvCxnSpPr>
          <p:nvPr/>
        </p:nvCxnSpPr>
        <p:spPr>
          <a:xfrm flipH="1">
            <a:off x="4691921" y="2300233"/>
            <a:ext cx="3839217" cy="186703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Picture 29">
            <a:extLst>
              <a:ext uri="{FF2B5EF4-FFF2-40B4-BE49-F238E27FC236}">
                <a16:creationId xmlns:a16="http://schemas.microsoft.com/office/drawing/2014/main" id="{E3074EE9-68E0-A998-D256-CD6AB2EC005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6403" y="393490"/>
            <a:ext cx="2280601" cy="228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3574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80FB-761F-D05D-A886-A2409647B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628" y="101202"/>
            <a:ext cx="10515600" cy="1325563"/>
          </a:xfrm>
        </p:spPr>
        <p:txBody>
          <a:bodyPr/>
          <a:lstStyle/>
          <a:p>
            <a:r>
              <a:rPr lang="en-US" dirty="0"/>
              <a:t>Bootstrap logic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B2A25-0E81-35C9-E874-1CD905087D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64390" y="1426765"/>
            <a:ext cx="4008620" cy="4351338"/>
          </a:xfrm>
        </p:spPr>
        <p:txBody>
          <a:bodyPr/>
          <a:lstStyle/>
          <a:p>
            <a:r>
              <a:rPr lang="en-US" dirty="0"/>
              <a:t>Inherits threshold and direction </a:t>
            </a:r>
            <a:r>
              <a:rPr lang="en-US" dirty="0" err="1"/>
              <a:t>args</a:t>
            </a:r>
            <a:r>
              <a:rPr lang="en-US" dirty="0"/>
              <a:t> from diagonal scoring function, probably need to make a class so that we don’t need to keep specifying the same </a:t>
            </a:r>
            <a:r>
              <a:rPr lang="en-US" dirty="0" err="1"/>
              <a:t>args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FEFC8B-C6BE-96EB-AFF8-A3D7B5B77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95" y="1426765"/>
            <a:ext cx="6607628" cy="5057177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3E34FA-FEEE-2F3A-5082-523DB9820DF7}"/>
              </a:ext>
            </a:extLst>
          </p:cNvPr>
          <p:cNvCxnSpPr>
            <a:cxnSpLocks/>
          </p:cNvCxnSpPr>
          <p:nvPr/>
        </p:nvCxnSpPr>
        <p:spPr>
          <a:xfrm flipH="1">
            <a:off x="6265889" y="1858780"/>
            <a:ext cx="1334124" cy="8394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023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052D4-4755-F030-432B-4079CDCDE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11" y="73964"/>
            <a:ext cx="10515600" cy="1325563"/>
          </a:xfrm>
        </p:spPr>
        <p:txBody>
          <a:bodyPr/>
          <a:lstStyle/>
          <a:p>
            <a:r>
              <a:rPr lang="en-US" dirty="0"/>
              <a:t>Ex3 Motif 6 - 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2F5D07-DF21-4199-DF63-8CF22C18C5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04" y="2725090"/>
            <a:ext cx="5624320" cy="3837045"/>
          </a:xfrm>
        </p:spPr>
        <p:txBody>
          <a:bodyPr/>
          <a:lstStyle/>
          <a:p>
            <a:r>
              <a:rPr lang="en-US" dirty="0"/>
              <a:t>TTCC...GGAA</a:t>
            </a:r>
          </a:p>
          <a:p>
            <a:r>
              <a:rPr lang="en-US" dirty="0"/>
              <a:t>[(22, 11), (23, 10), (24, 9), (25, 8)]	</a:t>
            </a:r>
          </a:p>
          <a:p>
            <a:r>
              <a:rPr lang="en-US" dirty="0"/>
              <a:t>Sum IC-JSD: 6.845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9957A6-D8EC-0427-B8F1-ADC19E2EB1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956" t="8090" r="23860" b="4729"/>
          <a:stretch>
            <a:fillRect/>
          </a:stretch>
        </p:blipFill>
        <p:spPr>
          <a:xfrm>
            <a:off x="5776511" y="73964"/>
            <a:ext cx="6632154" cy="6784036"/>
          </a:xfrm>
          <a:prstGeom prst="rect">
            <a:avLst/>
          </a:prstGeom>
        </p:spPr>
      </p:pic>
      <p:pic>
        <p:nvPicPr>
          <p:cNvPr id="9" name="Picture 8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A2436DD5-2BF6-933A-B15A-00E61CDCB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4" y="1008905"/>
            <a:ext cx="5920910" cy="157741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6200709B-4E6B-A846-BF80-E7503E052B7D}"/>
                  </a:ext>
                </a:extLst>
              </p14:cNvPr>
              <p14:cNvContentPartPr/>
              <p14:nvPr/>
            </p14:nvContentPartPr>
            <p14:xfrm>
              <a:off x="8081760" y="5434029"/>
              <a:ext cx="971280" cy="9360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6200709B-4E6B-A846-BF80-E7503E052B7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75640" y="5427909"/>
                <a:ext cx="983520" cy="948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067440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22F35-878E-ABC7-435F-A49ABA5D0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-81417"/>
            <a:ext cx="10515600" cy="1325563"/>
          </a:xfrm>
        </p:spPr>
        <p:txBody>
          <a:bodyPr/>
          <a:lstStyle/>
          <a:p>
            <a:r>
              <a:rPr lang="en-US" dirty="0"/>
              <a:t>Bootstrap Distribution (n=1000)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759EF96-3106-0779-011F-83DFF63EB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6422" y="1244146"/>
            <a:ext cx="7699295" cy="5248729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0A74327-656D-75FE-7719-0C3BF5D19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4543" y="1669175"/>
            <a:ext cx="3453066" cy="3837045"/>
          </a:xfrm>
        </p:spPr>
        <p:txBody>
          <a:bodyPr/>
          <a:lstStyle/>
          <a:p>
            <a:r>
              <a:rPr lang="en-US" dirty="0"/>
              <a:t>Possible binomial fit</a:t>
            </a:r>
          </a:p>
          <a:p>
            <a:r>
              <a:rPr lang="en-US" dirty="0"/>
              <a:t>This was already a relatively weak signal, so result makes sense</a:t>
            </a:r>
          </a:p>
        </p:txBody>
      </p:sp>
    </p:spTree>
    <p:extLst>
      <p:ext uri="{BB962C8B-B14F-4D97-AF65-F5344CB8AC3E}">
        <p14:creationId xmlns:p14="http://schemas.microsoft.com/office/powerpoint/2010/main" val="2729002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C5157-9462-FF6D-599A-46C21F976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A5CE9-C708-F5FC-CF87-281EAA0AD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11" y="73964"/>
            <a:ext cx="10515600" cy="1325563"/>
          </a:xfrm>
        </p:spPr>
        <p:txBody>
          <a:bodyPr/>
          <a:lstStyle/>
          <a:p>
            <a:r>
              <a:rPr lang="en-US" dirty="0"/>
              <a:t>Ex3 Motif 4 - 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FE17FE-E768-23D7-AE4F-70A1F9E2BD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04" y="2725090"/>
            <a:ext cx="5624320" cy="3837045"/>
          </a:xfrm>
        </p:spPr>
        <p:txBody>
          <a:bodyPr/>
          <a:lstStyle/>
          <a:p>
            <a:r>
              <a:rPr lang="en-US" dirty="0"/>
              <a:t>GCACCA…TGGTGC</a:t>
            </a:r>
          </a:p>
          <a:p>
            <a:r>
              <a:rPr lang="en-US" dirty="0"/>
              <a:t>[(14, 6), (15, 5), (16, 4), (17, 3)]</a:t>
            </a:r>
          </a:p>
          <a:p>
            <a:r>
              <a:rPr lang="en-US" dirty="0"/>
              <a:t>Sum IC-JSD: 5.79</a:t>
            </a:r>
          </a:p>
          <a:p>
            <a:endParaRPr lang="en-US" dirty="0"/>
          </a:p>
        </p:txBody>
      </p:sp>
      <p:pic>
        <p:nvPicPr>
          <p:cNvPr id="6" name="Picture 5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84E8170A-A5B8-33AF-8A4B-B491320255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6" y="643061"/>
            <a:ext cx="5861258" cy="20820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F7F282B-2E0B-720A-8D90-6B123B2D99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596"/>
          <a:stretch>
            <a:fillRect/>
          </a:stretch>
        </p:blipFill>
        <p:spPr>
          <a:xfrm>
            <a:off x="5924124" y="295865"/>
            <a:ext cx="6054979" cy="62662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51164F29-87BF-3DC8-EED6-65CFA7131CE9}"/>
                  </a:ext>
                </a:extLst>
              </p14:cNvPr>
              <p14:cNvContentPartPr/>
              <p14:nvPr/>
            </p14:nvContentPartPr>
            <p14:xfrm>
              <a:off x="7196351" y="4630262"/>
              <a:ext cx="1230480" cy="121860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51164F29-87BF-3DC8-EED6-65CFA7131CE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90231" y="4624142"/>
                <a:ext cx="1242720" cy="1230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383814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2AB6D-E35E-3DC7-35C9-31368E8E9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5ECB3-DD05-B053-5A8B-017329DDA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-81417"/>
            <a:ext cx="10515600" cy="1325563"/>
          </a:xfrm>
        </p:spPr>
        <p:txBody>
          <a:bodyPr/>
          <a:lstStyle/>
          <a:p>
            <a:r>
              <a:rPr lang="en-US" dirty="0"/>
              <a:t>Bootstrap Distribution (n=1000)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D670A17-8F88-DE9D-C260-2B2D09E816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44543" y="1669175"/>
            <a:ext cx="3453066" cy="3837045"/>
          </a:xfrm>
        </p:spPr>
        <p:txBody>
          <a:bodyPr/>
          <a:lstStyle/>
          <a:p>
            <a:r>
              <a:rPr lang="en-US" dirty="0"/>
              <a:t>Binomial shape more obvious</a:t>
            </a:r>
          </a:p>
          <a:p>
            <a:r>
              <a:rPr lang="en-US" dirty="0"/>
              <a:t>Stronger RC signal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134B31A-F93A-E735-7CEF-2A3A78038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832" y="1037265"/>
            <a:ext cx="7507252" cy="510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01909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DAAF6-E24E-15A2-1676-3ECA5AC7B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97E687-60AA-02E2-FC9D-7723F44BBF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on more examples – now that we have pipeline it should be easier to run </a:t>
            </a:r>
            <a:r>
              <a:rPr lang="en-US" dirty="0" err="1"/>
              <a:t>en</a:t>
            </a:r>
            <a:r>
              <a:rPr lang="en-US" dirty="0"/>
              <a:t> masse</a:t>
            </a:r>
          </a:p>
          <a:p>
            <a:r>
              <a:rPr lang="en-US" dirty="0"/>
              <a:t>Power analysis </a:t>
            </a:r>
            <a:r>
              <a:rPr lang="en-US" dirty="0">
                <a:hlinkClick r:id="rId2"/>
              </a:rPr>
              <a:t>https://stats.stackexchange.com/questions/369637/determining-power-of-statistical-test-through-bootstrapping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1175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B204A22-393E-09C6-62D7-C9E93686C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38CA3-AD92-DA54-DA65-B42FE369D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11" y="73964"/>
            <a:ext cx="10515600" cy="1325563"/>
          </a:xfrm>
        </p:spPr>
        <p:txBody>
          <a:bodyPr/>
          <a:lstStyle/>
          <a:p>
            <a:r>
              <a:rPr lang="en-US" dirty="0"/>
              <a:t>Ex3 Motif 4 - Direct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2FE38-F86B-21FD-8FCD-7A0377132C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04" y="2725091"/>
            <a:ext cx="5624320" cy="204732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AAAA</a:t>
            </a:r>
          </a:p>
          <a:p>
            <a:r>
              <a:rPr lang="en-US" dirty="0"/>
              <a:t>[(14, 4), (15, 5), (16, 6)]</a:t>
            </a:r>
          </a:p>
          <a:p>
            <a:r>
              <a:rPr lang="en-US" dirty="0"/>
              <a:t>8.065600973930767</a:t>
            </a:r>
          </a:p>
        </p:txBody>
      </p:sp>
      <p:pic>
        <p:nvPicPr>
          <p:cNvPr id="6" name="Picture 5" descr="A colorful text on a black background&#10;&#10;AI-generated content may be incorrect.">
            <a:extLst>
              <a:ext uri="{FF2B5EF4-FFF2-40B4-BE49-F238E27FC236}">
                <a16:creationId xmlns:a16="http://schemas.microsoft.com/office/drawing/2014/main" id="{5FEA4018-CD2C-CD7C-D902-4F17182B0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6" y="834758"/>
            <a:ext cx="5861258" cy="20820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A5F7F1-E09F-8E74-7469-FA79585D43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4596"/>
          <a:stretch>
            <a:fillRect/>
          </a:stretch>
        </p:blipFill>
        <p:spPr>
          <a:xfrm>
            <a:off x="5924124" y="295865"/>
            <a:ext cx="6054979" cy="626627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8E70F423-179E-E237-C143-CC2B7B30A245}"/>
                  </a:ext>
                </a:extLst>
              </p14:cNvPr>
              <p14:cNvContentPartPr/>
              <p14:nvPr/>
            </p14:nvContentPartPr>
            <p14:xfrm>
              <a:off x="7539071" y="4647182"/>
              <a:ext cx="978840" cy="9169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8E70F423-179E-E237-C143-CC2B7B30A24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32951" y="4641062"/>
                <a:ext cx="991080" cy="929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58113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1970</TotalTime>
  <Words>195</Words>
  <Application>Microsoft Macintosh PowerPoint</Application>
  <PresentationFormat>Widescreen</PresentationFormat>
  <Paragraphs>26</Paragraphs>
  <Slides>9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Diagonals and Bootstrapping</vt:lpstr>
      <vt:lpstr>PowerPoint Presentation</vt:lpstr>
      <vt:lpstr>Bootstrap logic</vt:lpstr>
      <vt:lpstr>Ex3 Motif 6 - RC</vt:lpstr>
      <vt:lpstr>Bootstrap Distribution (n=1000) </vt:lpstr>
      <vt:lpstr>Ex3 Motif 4 - RC</vt:lpstr>
      <vt:lpstr>Bootstrap Distribution (n=1000) </vt:lpstr>
      <vt:lpstr>Next steps</vt:lpstr>
      <vt:lpstr>Ex3 Motif 4 - Direct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Enoch Shin</dc:creator>
  <cp:lastModifiedBy>Enoch Shin</cp:lastModifiedBy>
  <cp:revision>30</cp:revision>
  <dcterms:created xsi:type="dcterms:W3CDTF">2026-04-21T19:18:29Z</dcterms:created>
  <dcterms:modified xsi:type="dcterms:W3CDTF">2026-04-29T11:06:34Z</dcterms:modified>
</cp:coreProperties>
</file>